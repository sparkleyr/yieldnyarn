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d449f5aa1f4406" /><Relationship Type="http://schemas.openxmlformats.org/officeDocument/2006/relationships/extended-properties" Target="/docProps/app.xml" Id="Rc16e181038574f28" /><Relationship Type="http://schemas.openxmlformats.org/officeDocument/2006/relationships/officeDocument" Target="/ppt/presentation.xml" Id="R95e5cc96fab04726" /></Relationships>
</file>

<file path=ppt/presentation.xml><?xml version="1.0" encoding="utf-8"?>
<p:presentation xmlns:p="http://schemas.openxmlformats.org/presentationml/2006/main">
  <p:sldMasterIdLst>
    <p:sldMasterId xmlns:r="http://schemas.openxmlformats.org/officeDocument/2006/relationships" id="2147483648" r:id="Rbd0b692906054862"/>
  </p:sldMasterIdLst>
  <p:notesMasterIdLst>
    <p:notesMasterId xmlns:r="http://schemas.openxmlformats.org/officeDocument/2006/relationships" r:id="Rccae88b7222344df"/>
  </p:notesMasterIdLst>
  <p:sldIdLst>
    <p:sldId xmlns:r="http://schemas.openxmlformats.org/officeDocument/2006/relationships" id="256" r:id="R7ddcd86df34244fb"/>
    <p:sldId xmlns:r="http://schemas.openxmlformats.org/officeDocument/2006/relationships" id="257" r:id="R81b1438613bd416f"/>
    <p:sldId xmlns:r="http://schemas.openxmlformats.org/officeDocument/2006/relationships" id="258" r:id="R9bde19a387ba4cfd"/>
    <p:sldId xmlns:r="http://schemas.openxmlformats.org/officeDocument/2006/relationships" id="259" r:id="Raf73734e1eba47c7"/>
    <p:sldId xmlns:r="http://schemas.openxmlformats.org/officeDocument/2006/relationships" id="260" r:id="Rbad76340a2354f22"/>
    <p:sldId xmlns:r="http://schemas.openxmlformats.org/officeDocument/2006/relationships" id="261" r:id="R0604fca98a7748c3"/>
    <p:sldId xmlns:r="http://schemas.openxmlformats.org/officeDocument/2006/relationships" id="262" r:id="Rd80a3941b7194c4e"/>
    <p:sldId xmlns:r="http://schemas.openxmlformats.org/officeDocument/2006/relationships" id="263" r:id="R593392097f564f29"/>
    <p:sldId xmlns:r="http://schemas.openxmlformats.org/officeDocument/2006/relationships" id="264" r:id="R79672fa358b94207"/>
    <p:sldId xmlns:r="http://schemas.openxmlformats.org/officeDocument/2006/relationships" id="265" r:id="R45e572f9f40b45b4"/>
    <p:sldId xmlns:r="http://schemas.openxmlformats.org/officeDocument/2006/relationships" id="266" r:id="R347a537bab5b4de1"/>
    <p:sldId xmlns:r="http://schemas.openxmlformats.org/officeDocument/2006/relationships" id="267" r:id="R86883b4015fa4e2f"/>
    <p:sldId xmlns:r="http://schemas.openxmlformats.org/officeDocument/2006/relationships" id="268" r:id="Ra009c7491f794c5c"/>
    <p:sldId xmlns:r="http://schemas.openxmlformats.org/officeDocument/2006/relationships" id="269" r:id="R8dfbe5b413674d2b"/>
    <p:sldId xmlns:r="http://schemas.openxmlformats.org/officeDocument/2006/relationships" id="270" r:id="R89dfb8a594cd495d"/>
    <p:sldId xmlns:r="http://schemas.openxmlformats.org/officeDocument/2006/relationships" id="271" r:id="R96e86ad65cc346b5"/>
    <p:sldId xmlns:r="http://schemas.openxmlformats.org/officeDocument/2006/relationships" id="272" r:id="Re55f10dcb71841ed"/>
    <p:sldId xmlns:r="http://schemas.openxmlformats.org/officeDocument/2006/relationships" id="273" r:id="R4f920b95be2442dd"/>
    <p:sldId xmlns:r="http://schemas.openxmlformats.org/officeDocument/2006/relationships" id="274" r:id="R1412cc75fced4dea"/>
    <p:sldId xmlns:r="http://schemas.openxmlformats.org/officeDocument/2006/relationships" id="275" r:id="Rc549eff518374d5d"/>
    <p:sldId xmlns:r="http://schemas.openxmlformats.org/officeDocument/2006/relationships" id="276" r:id="R128e42222df24b0e"/>
    <p:sldId xmlns:r="http://schemas.openxmlformats.org/officeDocument/2006/relationships" id="277" r:id="R826b5c4f25884ba9"/>
    <p:sldId xmlns:r="http://schemas.openxmlformats.org/officeDocument/2006/relationships" id="278" r:id="Rf7c6ec2275af48fe"/>
    <p:sldId xmlns:r="http://schemas.openxmlformats.org/officeDocument/2006/relationships" id="279" r:id="R10356203aa764a6b"/>
    <p:sldId xmlns:r="http://schemas.openxmlformats.org/officeDocument/2006/relationships" id="280" r:id="Ra11ef65b0f2244bf"/>
    <p:sldId xmlns:r="http://schemas.openxmlformats.org/officeDocument/2006/relationships" id="281" r:id="R2ae912fb3fef4e86"/>
    <p:sldId xmlns:r="http://schemas.openxmlformats.org/officeDocument/2006/relationships" id="282" r:id="Ra32c95eb854c4f6e"/>
    <p:sldId xmlns:r="http://schemas.openxmlformats.org/officeDocument/2006/relationships" id="283" r:id="Rbe35738a07c54b6f"/>
    <p:sldId xmlns:r="http://schemas.openxmlformats.org/officeDocument/2006/relationships" id="284" r:id="Rc1d10103619b4cca"/>
    <p:sldId xmlns:r="http://schemas.openxmlformats.org/officeDocument/2006/relationships" id="285" r:id="Rc971b52914844bb0"/>
    <p:sldId xmlns:r="http://schemas.openxmlformats.org/officeDocument/2006/relationships" id="286" r:id="R74da81bacaeb4aa7"/>
    <p:sldId xmlns:r="http://schemas.openxmlformats.org/officeDocument/2006/relationships" id="287" r:id="R7c0db732e3644b67"/>
    <p:sldId xmlns:r="http://schemas.openxmlformats.org/officeDocument/2006/relationships" id="288" r:id="R3d5a7fa29d0c43e2"/>
    <p:sldId xmlns:r="http://schemas.openxmlformats.org/officeDocument/2006/relationships" id="289" r:id="R4df003e5000044fa"/>
    <p:sldId xmlns:r="http://schemas.openxmlformats.org/officeDocument/2006/relationships" id="290" r:id="R176d67fefd914613"/>
    <p:sldId xmlns:r="http://schemas.openxmlformats.org/officeDocument/2006/relationships" id="291" r:id="R36cada180b6e4e1b"/>
    <p:sldId xmlns:r="http://schemas.openxmlformats.org/officeDocument/2006/relationships" id="292" r:id="R302f8fbbad9a4e1e"/>
    <p:sldId xmlns:r="http://schemas.openxmlformats.org/officeDocument/2006/relationships" id="293" r:id="Re675c753d20d4058"/>
    <p:sldId xmlns:r="http://schemas.openxmlformats.org/officeDocument/2006/relationships" id="294" r:id="R975e7ec3c4ef4cd0"/>
    <p:sldId xmlns:r="http://schemas.openxmlformats.org/officeDocument/2006/relationships" id="295" r:id="R3a63d1a03fe240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05aba32af746f2" /><Relationship Type="http://schemas.openxmlformats.org/officeDocument/2006/relationships/slideMaster" Target="/ppt/slideMasters/slideMaster1.xml" Id="Rbd0b692906054862" /><Relationship Type="http://schemas.openxmlformats.org/officeDocument/2006/relationships/notesMaster" Target="/ppt/notesMasters/notesMaster1.xml" Id="Rccae88b7222344df" /><Relationship Type="http://schemas.openxmlformats.org/officeDocument/2006/relationships/presProps" Target="/ppt/presProps.xml" Id="R3f9bb5ecf3784654" /><Relationship Type="http://schemas.openxmlformats.org/officeDocument/2006/relationships/tableStyles" Target="/ppt/tableStyles.xml" Id="R03666d8e3cc14623" /><Relationship Type="http://schemas.openxmlformats.org/officeDocument/2006/relationships/slide" Target="/ppt/slides/slide1.xml" Id="R7ddcd86df34244fb" /><Relationship Type="http://schemas.openxmlformats.org/officeDocument/2006/relationships/slide" Target="/ppt/slides/slide2.xml" Id="R81b1438613bd416f" /><Relationship Type="http://schemas.openxmlformats.org/officeDocument/2006/relationships/slide" Target="/ppt/slides/slide3.xml" Id="R9bde19a387ba4cfd" /><Relationship Type="http://schemas.openxmlformats.org/officeDocument/2006/relationships/slide" Target="/ppt/slides/slide4.xml" Id="Raf73734e1eba47c7" /><Relationship Type="http://schemas.openxmlformats.org/officeDocument/2006/relationships/slide" Target="/ppt/slides/slide5.xml" Id="Rbad76340a2354f22" /><Relationship Type="http://schemas.openxmlformats.org/officeDocument/2006/relationships/slide" Target="/ppt/slides/slide6.xml" Id="R0604fca98a7748c3" /><Relationship Type="http://schemas.openxmlformats.org/officeDocument/2006/relationships/slide" Target="/ppt/slides/slide7.xml" Id="Rd80a3941b7194c4e" /><Relationship Type="http://schemas.openxmlformats.org/officeDocument/2006/relationships/slide" Target="/ppt/slides/slide8.xml" Id="R593392097f564f29" /><Relationship Type="http://schemas.openxmlformats.org/officeDocument/2006/relationships/slide" Target="/ppt/slides/slide9.xml" Id="R79672fa358b94207" /><Relationship Type="http://schemas.openxmlformats.org/officeDocument/2006/relationships/slide" Target="/ppt/slides/slide10.xml" Id="R45e572f9f40b45b4" /><Relationship Type="http://schemas.openxmlformats.org/officeDocument/2006/relationships/slide" Target="/ppt/slides/slide11.xml" Id="R347a537bab5b4de1" /><Relationship Type="http://schemas.openxmlformats.org/officeDocument/2006/relationships/slide" Target="/ppt/slides/slide12.xml" Id="R86883b4015fa4e2f" /><Relationship Type="http://schemas.openxmlformats.org/officeDocument/2006/relationships/slide" Target="/ppt/slides/slide13.xml" Id="Ra009c7491f794c5c" /><Relationship Type="http://schemas.openxmlformats.org/officeDocument/2006/relationships/slide" Target="/ppt/slides/slide14.xml" Id="R8dfbe5b413674d2b" /><Relationship Type="http://schemas.openxmlformats.org/officeDocument/2006/relationships/slide" Target="/ppt/slides/slide15.xml" Id="R89dfb8a594cd495d" /><Relationship Type="http://schemas.openxmlformats.org/officeDocument/2006/relationships/slide" Target="/ppt/slides/slide16.xml" Id="R96e86ad65cc346b5" /><Relationship Type="http://schemas.openxmlformats.org/officeDocument/2006/relationships/slide" Target="/ppt/slides/slide17.xml" Id="Re55f10dcb71841ed" /><Relationship Type="http://schemas.openxmlformats.org/officeDocument/2006/relationships/slide" Target="/ppt/slides/slide18.xml" Id="R4f920b95be2442dd" /><Relationship Type="http://schemas.openxmlformats.org/officeDocument/2006/relationships/slide" Target="/ppt/slides/slide19.xml" Id="R1412cc75fced4dea" /><Relationship Type="http://schemas.openxmlformats.org/officeDocument/2006/relationships/slide" Target="/ppt/slides/slide20.xml" Id="Rc549eff518374d5d" /><Relationship Type="http://schemas.openxmlformats.org/officeDocument/2006/relationships/slide" Target="/ppt/slides/slide21.xml" Id="R128e42222df24b0e" /><Relationship Type="http://schemas.openxmlformats.org/officeDocument/2006/relationships/slide" Target="/ppt/slides/slide22.xml" Id="R826b5c4f25884ba9" /><Relationship Type="http://schemas.openxmlformats.org/officeDocument/2006/relationships/slide" Target="/ppt/slides/slide23.xml" Id="Rf7c6ec2275af48fe" /><Relationship Type="http://schemas.openxmlformats.org/officeDocument/2006/relationships/slide" Target="/ppt/slides/slide24.xml" Id="R10356203aa764a6b" /><Relationship Type="http://schemas.openxmlformats.org/officeDocument/2006/relationships/slide" Target="/ppt/slides/slide25.xml" Id="Ra11ef65b0f2244bf" /><Relationship Type="http://schemas.openxmlformats.org/officeDocument/2006/relationships/slide" Target="/ppt/slides/slide26.xml" Id="R2ae912fb3fef4e86" /><Relationship Type="http://schemas.openxmlformats.org/officeDocument/2006/relationships/slide" Target="/ppt/slides/slide27.xml" Id="Ra32c95eb854c4f6e" /><Relationship Type="http://schemas.openxmlformats.org/officeDocument/2006/relationships/slide" Target="/ppt/slides/slide28.xml" Id="Rbe35738a07c54b6f" /><Relationship Type="http://schemas.openxmlformats.org/officeDocument/2006/relationships/slide" Target="/ppt/slides/slide29.xml" Id="Rc1d10103619b4cca" /><Relationship Type="http://schemas.openxmlformats.org/officeDocument/2006/relationships/slide" Target="/ppt/slides/slide30.xml" Id="Rc971b52914844bb0" /><Relationship Type="http://schemas.openxmlformats.org/officeDocument/2006/relationships/slide" Target="/ppt/slides/slide31.xml" Id="R74da81bacaeb4aa7" /><Relationship Type="http://schemas.openxmlformats.org/officeDocument/2006/relationships/slide" Target="/ppt/slides/slide32.xml" Id="R7c0db732e3644b67" /><Relationship Type="http://schemas.openxmlformats.org/officeDocument/2006/relationships/slide" Target="/ppt/slides/slide33.xml" Id="R3d5a7fa29d0c43e2" /><Relationship Type="http://schemas.openxmlformats.org/officeDocument/2006/relationships/slide" Target="/ppt/slides/slide34.xml" Id="R4df003e5000044fa" /><Relationship Type="http://schemas.openxmlformats.org/officeDocument/2006/relationships/slide" Target="/ppt/slides/slide35.xml" Id="R176d67fefd914613" /><Relationship Type="http://schemas.openxmlformats.org/officeDocument/2006/relationships/slide" Target="/ppt/slides/slide36.xml" Id="R36cada180b6e4e1b" /><Relationship Type="http://schemas.openxmlformats.org/officeDocument/2006/relationships/slide" Target="/ppt/slides/slide37.xml" Id="R302f8fbbad9a4e1e" /><Relationship Type="http://schemas.openxmlformats.org/officeDocument/2006/relationships/slide" Target="/ppt/slides/slide38.xml" Id="Re675c753d20d4058" /><Relationship Type="http://schemas.openxmlformats.org/officeDocument/2006/relationships/slide" Target="/ppt/slides/slide39.xml" Id="R975e7ec3c4ef4cd0" /><Relationship Type="http://schemas.openxmlformats.org/officeDocument/2006/relationships/slide" Target="/ppt/slides/slide40.xml" Id="R3a63d1a03fe240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d061d81d4f4e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b5419bd24f4532" /><Relationship Type="http://schemas.openxmlformats.org/officeDocument/2006/relationships/notesMaster" Target="/ppt/notesMasters/notesMaster1.xml" Id="R55e932f3be704e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39d3c499424ce0" /><Relationship Type="http://schemas.openxmlformats.org/officeDocument/2006/relationships/notesMaster" Target="/ppt/notesMasters/notesMaster1.xml" Id="R4616cadab15846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00308eb2154eb4" /><Relationship Type="http://schemas.openxmlformats.org/officeDocument/2006/relationships/notesMaster" Target="/ppt/notesMasters/notesMaster1.xml" Id="Recb30fafa5e046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c4f8bf279c4420" /><Relationship Type="http://schemas.openxmlformats.org/officeDocument/2006/relationships/notesMaster" Target="/ppt/notesMasters/notesMaster1.xml" Id="R6110771a8caf48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c6d5c08e6f42f6" /><Relationship Type="http://schemas.openxmlformats.org/officeDocument/2006/relationships/notesMaster" Target="/ppt/notesMasters/notesMaster1.xml" Id="Rac8ca387bc1242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0074a7f81a4758" /><Relationship Type="http://schemas.openxmlformats.org/officeDocument/2006/relationships/notesMaster" Target="/ppt/notesMasters/notesMaster1.xml" Id="R605c6caae28947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aae4d443214f91" /><Relationship Type="http://schemas.openxmlformats.org/officeDocument/2006/relationships/notesMaster" Target="/ppt/notesMasters/notesMaster1.xml" Id="R3456975bae8c48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49b77796734540" /><Relationship Type="http://schemas.openxmlformats.org/officeDocument/2006/relationships/notesMaster" Target="/ppt/notesMasters/notesMaster1.xml" Id="R782048dda71249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bdda94aa1e4d04" /><Relationship Type="http://schemas.openxmlformats.org/officeDocument/2006/relationships/notesMaster" Target="/ppt/notesMasters/notesMaster1.xml" Id="R9f1fd2db5a4448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fee1a2b7dd444e" /><Relationship Type="http://schemas.openxmlformats.org/officeDocument/2006/relationships/notesMaster" Target="/ppt/notesMasters/notesMaster1.xml" Id="R7ce4296691df46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1d6c12b9f64c78" /><Relationship Type="http://schemas.openxmlformats.org/officeDocument/2006/relationships/notesMaster" Target="/ppt/notesMasters/notesMaster1.xml" Id="R0bb63b7069bc45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b64557aa884ac9" /><Relationship Type="http://schemas.openxmlformats.org/officeDocument/2006/relationships/notesMaster" Target="/ppt/notesMasters/notesMaster1.xml" Id="R435074269e1a45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10c5b045614cf1" /><Relationship Type="http://schemas.openxmlformats.org/officeDocument/2006/relationships/notesMaster" Target="/ppt/notesMasters/notesMaster1.xml" Id="R8879d7d62c1a47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2e9677cc5a403a" /><Relationship Type="http://schemas.openxmlformats.org/officeDocument/2006/relationships/notesMaster" Target="/ppt/notesMasters/notesMaster1.xml" Id="R7b9f3bc8017e49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b389846070432e" /><Relationship Type="http://schemas.openxmlformats.org/officeDocument/2006/relationships/notesMaster" Target="/ppt/notesMasters/notesMaster1.xml" Id="Rabd066248e964a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1917d68d804952" /><Relationship Type="http://schemas.openxmlformats.org/officeDocument/2006/relationships/notesMaster" Target="/ppt/notesMasters/notesMaster1.xml" Id="R3d5c634c6aa64c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64d28be15364be8" /><Relationship Type="http://schemas.openxmlformats.org/officeDocument/2006/relationships/notesMaster" Target="/ppt/notesMasters/notesMaster1.xml" Id="R514cf4fda6e745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829ce4e4d34b69" /><Relationship Type="http://schemas.openxmlformats.org/officeDocument/2006/relationships/notesMaster" Target="/ppt/notesMasters/notesMaster1.xml" Id="R957020c98f1f49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44c73532b6431a" /><Relationship Type="http://schemas.openxmlformats.org/officeDocument/2006/relationships/notesMaster" Target="/ppt/notesMasters/notesMaster1.xml" Id="Rd7af578ae3a84d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a9acaf88ee4c39" /><Relationship Type="http://schemas.openxmlformats.org/officeDocument/2006/relationships/notesMaster" Target="/ppt/notesMasters/notesMaster1.xml" Id="R4fa003b8bac04e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96ced8b1c454f41" /><Relationship Type="http://schemas.openxmlformats.org/officeDocument/2006/relationships/notesMaster" Target="/ppt/notesMasters/notesMaster1.xml" Id="R38c64c0fb60a4cd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e67406828243d7" /><Relationship Type="http://schemas.openxmlformats.org/officeDocument/2006/relationships/notesMaster" Target="/ppt/notesMasters/notesMaster1.xml" Id="R53b4cafe9eeb4ba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a785d41c47a48be" /><Relationship Type="http://schemas.openxmlformats.org/officeDocument/2006/relationships/notesMaster" Target="/ppt/notesMasters/notesMaster1.xml" Id="R93e5879b858743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b980a2fd7be4eae" /><Relationship Type="http://schemas.openxmlformats.org/officeDocument/2006/relationships/notesMaster" Target="/ppt/notesMasters/notesMaster1.xml" Id="R67f4349fbe0f41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1849565bcb4c6c" /><Relationship Type="http://schemas.openxmlformats.org/officeDocument/2006/relationships/notesMaster" Target="/ppt/notesMasters/notesMaster1.xml" Id="R003e934eae5a444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224f8f47d14ecd" /><Relationship Type="http://schemas.openxmlformats.org/officeDocument/2006/relationships/notesMaster" Target="/ppt/notesMasters/notesMaster1.xml" Id="R00a1ba9153b647b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94845e89d84714" /><Relationship Type="http://schemas.openxmlformats.org/officeDocument/2006/relationships/notesMaster" Target="/ppt/notesMasters/notesMaster1.xml" Id="Re02c6e6c041d41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65fedb9a0984207" /><Relationship Type="http://schemas.openxmlformats.org/officeDocument/2006/relationships/notesMaster" Target="/ppt/notesMasters/notesMaster1.xml" Id="R4e468c50410d4a2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b92e66587a43be" /><Relationship Type="http://schemas.openxmlformats.org/officeDocument/2006/relationships/notesMaster" Target="/ppt/notesMasters/notesMaster1.xml" Id="R7dba1858c855422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dbb983337ac4011" /><Relationship Type="http://schemas.openxmlformats.org/officeDocument/2006/relationships/notesMaster" Target="/ppt/notesMasters/notesMaster1.xml" Id="Rba72f0539b754eb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f83bacc2d6433c" /><Relationship Type="http://schemas.openxmlformats.org/officeDocument/2006/relationships/notesMaster" Target="/ppt/notesMasters/notesMaster1.xml" Id="Rdcfa11c2600640b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49044a1ba7a4312" /><Relationship Type="http://schemas.openxmlformats.org/officeDocument/2006/relationships/notesMaster" Target="/ppt/notesMasters/notesMaster1.xml" Id="Rcdc18fcfe0894e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98b9806dd234074" /><Relationship Type="http://schemas.openxmlformats.org/officeDocument/2006/relationships/notesMaster" Target="/ppt/notesMasters/notesMaster1.xml" Id="Rcfbe5cceafe447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2218bed2a4740d8" /><Relationship Type="http://schemas.openxmlformats.org/officeDocument/2006/relationships/notesMaster" Target="/ppt/notesMasters/notesMaster1.xml" Id="Rafbda593d7c6402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eaa527e5ef049db" /><Relationship Type="http://schemas.openxmlformats.org/officeDocument/2006/relationships/notesMaster" Target="/ppt/notesMasters/notesMaster1.xml" Id="Rbfef3018a3ec433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8817138546d47e4" /><Relationship Type="http://schemas.openxmlformats.org/officeDocument/2006/relationships/notesMaster" Target="/ppt/notesMasters/notesMaster1.xml" Id="R383809a7c09844d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733d1b71a91492a" /><Relationship Type="http://schemas.openxmlformats.org/officeDocument/2006/relationships/notesMaster" Target="/ppt/notesMasters/notesMaster1.xml" Id="R63b82569e6644ab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acb200476b9469c" /><Relationship Type="http://schemas.openxmlformats.org/officeDocument/2006/relationships/notesMaster" Target="/ppt/notesMasters/notesMaster1.xml" Id="R181d5af5b75242c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63189a660c9465c" /><Relationship Type="http://schemas.openxmlformats.org/officeDocument/2006/relationships/notesMaster" Target="/ppt/notesMasters/notesMaster1.xml" Id="R6d78379e853945e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1de6a64b5264725" /><Relationship Type="http://schemas.openxmlformats.org/officeDocument/2006/relationships/notesMaster" Target="/ppt/notesMasters/notesMaster1.xml" Id="R61b30a46241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locally running academic marketplace for agricultural produce and textiles. Sellers use the Android app; buyers, verifiers and administrators use the website. The contribution is connecting photo evidence, a reviewable quality decision, configurable pricing and recorded transactions. Explain that inference runs on the laptop, and that the review demonstrates an implemented prototype rather than production readiness. The cover uses original dataset photographs, not generated illustrations.</a:t>
            </a:r>
          </a:p>
          <a:p xmlns:a="http://schemas.openxmlformats.org/drawingml/2006/main">
            <a:r>
              <a:t/>
            </a:r>
          </a:p>
          <a:p xmlns:a="http://schemas.openxmlformats.org/drawingml/2006/main">
            <a:r>
              <a:t>Sources and evidence:</a:t>
            </a:r>
          </a:p>
          <a:p xmlns:a="http://schemas.openxmlformats.org/drawingml/2006/main">
            <a:r>
              <a:t>https://huggingface.co/datasets/SamWithAi/Wheat_Grading_Dataset</a:t>
            </a:r>
          </a:p>
          <a:p xmlns:a="http://schemas.openxmlformats.org/drawingml/2006/main">
            <a:r>
              <a:t>https://huggingface.co/datasets/DefectSpectrum/Defect_Spectrum/tree/main/DS-Cotton-Fabric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just displaying products. A buyer needs comparable quality evidence, an understandable price and enough quantity; a small seller needs a practical way to publish stock and respond to demand. In this project, agriculture and textiles share a workflow but have different units and quality rules. Photos alone cannot establish every physical quality attribute, so the quality decision must remain reviewable. Avoid claiming that all existing markets lack verification or negotiation; this is the practical problem addressed by this prototype.</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eNAM provides an established agricultural trading context in which online bidding and quality assaying support transactions. MobileNetV3 provides an efficient image-classification backbone; the project uses its Small variant, but the paper’s benchmark results are not this project’s results. GrainSpace demonstrates the importance of fine-grained cereal recognition and changes between devices and domains. It is cited as related work, not as a training dataset used here. These sources establish separate marketplace and computer-vision foundations.</a:t>
            </a:r>
          </a:p>
          <a:p xmlns:a="http://schemas.openxmlformats.org/drawingml/2006/main">
            <a:r>
              <a:t/>
            </a:r>
          </a:p>
          <a:p xmlns:a="http://schemas.openxmlformats.org/drawingml/2006/main">
            <a:r>
              <a:t>Sources and evidence:</a:t>
            </a:r>
          </a:p>
          <a:p xmlns:a="http://schemas.openxmlformats.org/drawingml/2006/main">
            <a:r>
              <a:t>https://enam.gov.in/stakeholders-Involved/traders</a:t>
            </a:r>
          </a:p>
          <a:p xmlns:a="http://schemas.openxmlformats.org/drawingml/2006/main">
            <a:r>
              <a:t>https://openaccess.thecvf.com/content_ICCV_2019/html/Howard_Searching_for_MobileNetV3_ICCV_2019_paper.html</a:t>
            </a:r>
          </a:p>
          <a:p xmlns:a="http://schemas.openxmlformats.org/drawingml/2006/main">
            <a:r>
              <a:t>https://openaccess.thecvf.com/content/CVPR2022/html/Fan_GrainSpace_A_Large-Scale_Dataset_for_Fine-Grained_and_Domain-Adaptive_Recognition_of_CVPR_2022_paper.html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MVTec AD is an industrial anomaly-detection benchmark with object and texture images and pixel-level ground truth. Defect Spectrum provides a richer defect dataset and detailed semantics. The project’s independent fabric rehearsal uses original DS-Cotton-Fabric images distributed with Defect Spectrum, whereas the implemented fabric model was trained with TILDA-derived patches. Explain the distinction between literature, training source and demonstration input. Do not imply this project trained on MVTec AD or reproduced either paper’s benchmark.</a:t>
            </a:r>
          </a:p>
          <a:p xmlns:a="http://schemas.openxmlformats.org/drawingml/2006/main">
            <a:r>
              <a:t/>
            </a:r>
          </a:p>
          <a:p xmlns:a="http://schemas.openxmlformats.org/drawingml/2006/main">
            <a:r>
              <a:t>Sources and evidence:</a:t>
            </a:r>
          </a:p>
          <a:p xmlns:a="http://schemas.openxmlformats.org/drawingml/2006/main">
            <a:r>
              <a:t>https://openaccess.thecvf.com/content_CVPR_2019/html/Bergmann_MVTec_AD_--_A_Comprehensive_Real-World_Dataset_for_Unsupervised_Anomaly_CVPR_2019_paper.html</a:t>
            </a:r>
          </a:p>
          <a:p xmlns:a="http://schemas.openxmlformats.org/drawingml/2006/main">
            <a:r>
              <a:t>https://www.ecva.net/papers/eccv_2024/papers_ECCV/papers/01105.pdf</a:t>
            </a:r>
          </a:p>
          <a:p xmlns:a="http://schemas.openxmlformats.org/drawingml/2006/main">
            <a:r>
              <a:t>https://huggingface.co/datasets/DefectSpectrum/Defect_Spectrum/tree/main/DS-Cotton-Fabric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an integration gap within the surveyed work, not a claim of globally unique research. The reviewed vision papers primarily establish recognition or anomaly-detection methods. eNAM establishes a different, agricultural trading and physical-assaying context. The prototype connects two product verticals, mobile capture, uncertain model outputs, a human review decision, a transparent price calculation and allocation or negotiation. The novel value claimed here is an implemented workflow in one local system; the project does not propose a new CNN architecture.</a:t>
            </a:r>
          </a:p>
          <a:p xmlns:a="http://schemas.openxmlformats.org/drawingml/2006/main">
            <a:r>
              <a:t/>
            </a:r>
          </a:p>
          <a:p xmlns:a="http://schemas.openxmlformats.org/drawingml/2006/main">
            <a:r>
              <a:t>Sources and evidence:</a:t>
            </a:r>
          </a:p>
          <a:p xmlns:a="http://schemas.openxmlformats.org/drawingml/2006/main">
            <a:r>
              <a:t>https://enam.gov.in/stakeholders-Involved/traders</a:t>
            </a:r>
          </a:p>
          <a:p xmlns:a="http://schemas.openxmlformats.org/drawingml/2006/main">
            <a:r>
              <a:t>https://openaccess.thecvf.com/content/CVPR2022/html/Fan_GrainSpace_A_Large-Scale_Dataset_for_Fine-Grained_and_Domain-Adaptive_Recognition_of_CVPR_2022_paper.html</a:t>
            </a:r>
          </a:p>
          <a:p xmlns:a="http://schemas.openxmlformats.org/drawingml/2006/main">
            <a:r>
              <a:t>https://openaccess.thecvf.com/content_CVPR_2019/html/Bergmann_MVTec_AD_--_A_Comprehensive_Real-World_Dataset_for_Unsupervised_Anomaly_CVPR_2019_paper.html</a:t>
            </a:r>
          </a:p>
          <a:p xmlns:a="http://schemas.openxmlformats.org/drawingml/2006/main">
            <a:r>
              <a:t>Repository implementation: backend-django, backend-fastapi, seller-app, web-app. Detailed faculty walkthrough: 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each objective as a deliverable with evidence. Mobile capture is represented by the installed seller app and its local persistence and synchronization implementation. Quality estimation is represented by two saved model checkpoints, persisted grading outputs and verifier decisions. Pricing is represented by configurable rules and the visible estimate. Trading is represented by bids, counter-offers, order allocations and stock reduction. Validation is represented by saved software-test receipts and original-photo rehearsals. These are prototype objectives, not promises of agronomic certification or commercial deployment.</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.demo/readiness.json</a:t>
            </a:r>
          </a:p>
          <a:p xmlns:a="http://schemas.openxmlformats.org/drawingml/2006/main">
            <a:r>
              <a:t>.demo/presentation-build/workflow-proof.json — role-authenticated local API rehearsal, 8–9 October 2026; screenshot from the running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Android application is the seller interface. The website implements buyer, verifier and administrator workflows. A seller can publish stock, inspect grades and respond to offers. A buyer can browse, estimate prices, post a requirement, make offers, follow orders and report complaints. A verifier checks photos and can correct quality scores with a note. Administrators control vertical rules, market price entries, complaints and account status. Agriculture quantities use quintals and textile quantities use metres; attributes are not interchangeable.</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diagram elements are manually authored, editable PowerPoint shapes and connectors. Android stores work with Room and schedules synchronization using WorkManager. The Next.js website provides buyer and staff interfaces. Django owns marketplace APIs and persistent transaction records. FastAPI handles computational grading, pricing and matching against the shared data model. PostgreSQL persists structured records; the laptop media store retains uploaded photos. MobileNetV3 checkpoints are loaded by the laptop’s compute service. The phone does not perform the model inference.</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docker-compose.yml</a:t>
            </a:r>
          </a:p>
          <a:p xmlns:a="http://schemas.openxmlformats.org/drawingml/2006/main">
            <a:r>
              <a:t>start-demo.ps1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actual physical-phone screenshot to introduce the seller entry point. Explain the form sequence: choose the vertical, crop or cloth, quantity, asking price and region; attach photos; save and synchronize. Room supports retained local records, WorkManager retries scheduled upload, and client UUIDs support idempotent listing submission. Do not demonstrate airplane mode during the faculty review unless the full retry path has been rehearsed on the connected phone. This screenshot is from the installed OPPO app; fresh presentation order proof was performed through role-authenticated APIs.</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.demo/phone-yieldnyarn.png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model pipeline uses timm MobileNetV3 Small with ImageNet initialization. For wheat, AgroAI source images are segmented into 7,139 labeled crops; labels include sound, damaged, foreign and covered grains. Deduplication and splitting by source photo reduce leakage between related crops. For fabric, 400 TILDA-format photographs and defect boxes provide good and defective patches. These are saved implementation facts and reports, not a training run performed during this review preparation. Shared training and serving utilities keep preprocessing and score definitions aligned.</a:t>
            </a:r>
          </a:p>
          <a:p xmlns:a="http://schemas.openxmlformats.org/drawingml/2006/main">
            <a:r>
              <a:t/>
            </a:r>
          </a:p>
          <a:p xmlns:a="http://schemas.openxmlformats.org/drawingml/2006/main">
            <a:r>
              <a:t>Sources and evidence:</a:t>
            </a:r>
          </a:p>
          <a:p xmlns:a="http://schemas.openxmlformats.org/drawingml/2006/main">
            <a:r>
              <a:t>https://github.com/sachin235/AgroAI</a:t>
            </a:r>
          </a:p>
          <a:p xmlns:a="http://schemas.openxmlformats.org/drawingml/2006/main">
            <a:r>
              <a:t>https://github.com/sivasgitt/AI-Fabric-Defect-Detection</a:t>
            </a:r>
          </a:p>
          <a:p xmlns:a="http://schemas.openxmlformats.org/drawingml/2006/main">
            <a:r>
              <a:t>ml-training/README.md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full wheat photos, the serving pipeline reduces the maximum image side to 1,600 pixels and uses red-channel Otsu thresholding to isolate particles. Each retained particle is classified using the wheat MobileNetV3 Small checkpoint. Predicted foreign and covered material contribute to the foreign share. Predicted damaged material is assessed among sound and damaged grains. The application converts these shares into quality scores; it does not directly predict a laboratory certificate. This slide uses an original external dataset photograph to illustrate the input, not a fabricated segmentation overlay.</a:t>
            </a:r>
          </a:p>
          <a:p xmlns:a="http://schemas.openxmlformats.org/drawingml/2006/main">
            <a:r>
              <a:t/>
            </a:r>
          </a:p>
          <a:p xmlns:a="http://schemas.openxmlformats.org/drawingml/2006/main">
            <a:r>
              <a:t>Sources and evidence:</a:t>
            </a:r>
          </a:p>
          <a:p xmlns:a="http://schemas.openxmlformats.org/drawingml/2006/main">
            <a:r>
              <a:t>https://huggingface.co/datasets/SamWithAi/Wheat_Grading_Dataset</a:t>
            </a:r>
          </a:p>
          <a:p xmlns:a="http://schemas.openxmlformats.org/drawingml/2006/main">
            <a:r>
              <a:t>backend-fastapi/grading</a:t>
            </a:r>
          </a:p>
          <a:p xmlns:a="http://schemas.openxmlformats.org/drawingml/2006/main">
            <a:r>
              <a:t>ml-training/README.md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Fabric inference resizes the long side to 768 pixels and divides the image into non-overlapping 64 by 64 patches. Each patch is classified as good, hole, object, oil spot or thread error. The defective-patch share produces the visual-defect quality score. A 2% noise floor is subtracted before a 10% scoring tolerance is applied, so the quality reaches zero at 12% predicted bad patches. This is a fraction of classified patches, not a measured pixel area of physical damage. Moisture, GSM and thread count cannot be measured by this photo workflow.</a:t>
            </a:r>
          </a:p>
          <a:p xmlns:a="http://schemas.openxmlformats.org/drawingml/2006/main">
            <a:r>
              <a:t/>
            </a:r>
          </a:p>
          <a:p xmlns:a="http://schemas.openxmlformats.org/drawingml/2006/main">
            <a:r>
              <a:t>Sources and evidence:</a:t>
            </a:r>
          </a:p>
          <a:p xmlns:a="http://schemas.openxmlformats.org/drawingml/2006/main">
            <a:r>
              <a:t>https://huggingface.co/datasets/DefectSpectrum/Defect_Spectrum/tree/main/DS-Cotton-Fabric</a:t>
            </a:r>
          </a:p>
          <a:p xmlns:a="http://schemas.openxmlformats.org/drawingml/2006/main">
            <a:r>
              <a:t>backend-fastapi/grading</a:t>
            </a:r>
          </a:p>
          <a:p xmlns:a="http://schemas.openxmlformats.org/drawingml/2006/main">
            <a:r>
              <a:t>ml-training/README.md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 and confidence are different quantities. The stored quality scores are combined using configured attribute weights. Agriculture currently uses 50% cleanliness and 50% whole-grain quality; moisture has zero weight. A weighted score of at least 0.85 maps to Grade A, at least 0.65 maps to Grade B, and lower scores map to Grade C. Separately, the implementation caps inference confidence at saved validation balanced accuracy. Both saved caps are below the 80% auto-approval threshold, so current AI outputs go to human review. Manual review confidence is a decision marker, not evidence of perfect model accuracy.</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ml-training/reports/agriculture_grader_eval.json</a:t>
            </a:r>
          </a:p>
          <a:p xmlns:a="http://schemas.openxmlformats.org/drawingml/2006/main">
            <a:r>
              <a:t>ml-training/reports/textiles_grader_eval.json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an actual review form for independent wheat listing 77. The automatic cleanliness score is 0% while whole-grain quality rounds to 98%, and displayed confidence is 58%. A verifier can inspect each original photo, enter corrected percentages where they disagree, and add a note for the seller. The UI requires a note for corrections or sending an item back. Approval updates the listing’s quality decision; it does not retrain the model. Listing 77 remains pending so its automatic result can be demonstrated. A separate listing, number 85, was used for the approved transaction proof.</a:t>
            </a:r>
          </a:p>
          <a:p xmlns:a="http://schemas.openxmlformats.org/drawingml/2006/main">
            <a:r>
              <a:t/>
            </a:r>
          </a:p>
          <a:p xmlns:a="http://schemas.openxmlformats.org/drawingml/2006/main">
            <a:r>
              <a:t>Sources and evidence:</a:t>
            </a:r>
          </a:p>
          <a:p xmlns:a="http://schemas.openxmlformats.org/drawingml/2006/main">
            <a:r>
              <a:t>http://localhost:3000/verifier/queue/77</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price estimate uses a market base value multiplied by a quality adjustment and a quantity adjustment. The current agriculture rules add 10% for Grade A, 0% for Grade B and subtract 12% for Grade C. Bulk discounts are tiered: 0% from zero, 2% at 50 units and 5% at 200 units. Only the highest reached quantity tier applies; discounts are not added together. The website can configure different rules for textiles. This is an estimate, separate from a seller’s asking price or a negotiated transaction price.</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WEBSITE_DEMO.md: price rules and calculation 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filled demonstration form, not proof of a submitted new requirement. The intended faculty input is Agriculture, Wheat, 100 quintals, Grade B, maximum price 3,000 per unit and Madhya Pradesh. Saving starts the buyer requirement workflow and finds eligible stock. The detailed guide lists existing prepared stock and explains what an allocation means. A requirement asks for quantity and acceptable conditions; it differs from bidding on one selected listing. State whether a result is fully fulfilled or has a shortfall instead of promising that every request will match.</a:t>
            </a:r>
          </a:p>
          <a:p xmlns:a="http://schemas.openxmlformats.org/drawingml/2006/main">
            <a:r>
              <a:t/>
            </a:r>
          </a:p>
          <a:p xmlns:a="http://schemas.openxmlformats.org/drawingml/2006/main">
            <a:r>
              <a:t>Sources and evidence:</a:t>
            </a:r>
          </a:p>
          <a:p xmlns:a="http://schemas.openxmlformats.org/drawingml/2006/main">
            <a:r>
              <a:t>http://localhost:3000/buyer/requirements</a:t>
            </a:r>
          </a:p>
          <a:p xmlns:a="http://schemas.openxmlformats.org/drawingml/2006/main">
            <a:r>
              <a:t>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compute service uses a deterministic greedy allocation algorithm. It filters listings against the requested grade and applicable price and location constraints, then sorts eligible candidates by unit price ascending. Seller reputation is a tie-break when prices are equal. It allocates the lesser of available stock and the remaining demand, continuing until fulfilled or candidates are exhausted. The response includes allocations, total price, fulfillment and shortfall. Call this a implemented greedy strategy, not a globally optimal supply-chain optimizer or learned matching model.</a:t>
            </a:r>
          </a:p>
          <a:p xmlns:a="http://schemas.openxmlformats.org/drawingml/2006/main">
            <a:r>
              <a:t/>
            </a:r>
          </a:p>
          <a:p xmlns:a="http://schemas.openxmlformats.org/drawingml/2006/main">
            <a:r>
              <a:t>Sources and evidence:</a:t>
            </a:r>
          </a:p>
          <a:p xmlns:a="http://schemas.openxmlformats.org/drawingml/2006/main">
            <a:r>
              <a:t>backend-fastapi/matching/allocation.py</a:t>
            </a:r>
          </a:p>
          <a:p xmlns:a="http://schemas.openxmlformats.org/drawingml/2006/main">
            <a:r>
              <a:t>backend-fastapi/matching/router.py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existing prepared soybean offer for 25 quintals at a seller counter price of 4,520, totaling 113,000. It shows that the buyer can accept or reject the counter. The buyer’s original bid and the seller’s response are recorded as negotiation states. Accepting the applicable offer or counter creates a transaction record according to the workflow. Use this slide to explain the control flow, then show the newly captured wheat order proof later. Do not accidentally accept the seeded soybean counter just to illustrate the buttons.</a:t>
            </a:r>
          </a:p>
          <a:p xmlns:a="http://schemas.openxmlformats.org/drawingml/2006/main">
            <a:r>
              <a:t/>
            </a:r>
          </a:p>
          <a:p xmlns:a="http://schemas.openxmlformats.org/drawingml/2006/main">
            <a:r>
              <a:t>Sources and evidence:</a:t>
            </a:r>
          </a:p>
          <a:p xmlns:a="http://schemas.openxmlformats.org/drawingml/2006/main">
            <a:r>
              <a:t>http://localhost:3000/buyer/bids</a:t>
            </a:r>
          </a:p>
          <a:p xmlns:a="http://schemas.openxmlformats.org/drawingml/2006/main">
            <a:r>
              <a:t>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actual local seeded complaint records: an open quantity-shortage case on order 1, an under-review fabric case on order 4 and a resolved fabric case on order 3. Buyers can report grade mismatch, quantity shortage, quality defects or another issue and provide a description. Administrators inspect the record and close it with a note. This evidence demonstrates the prepared workflow states and UI; it is not a fresh complaint on presentation order 20. No payment settlement, physical logistics or automatic refund is claimed.</a:t>
            </a:r>
          </a:p>
          <a:p xmlns:a="http://schemas.openxmlformats.org/drawingml/2006/main">
            <a:r>
              <a:t/>
            </a:r>
          </a:p>
          <a:p xmlns:a="http://schemas.openxmlformats.org/drawingml/2006/main">
            <a:r>
              <a:t>Sources and evidence:</a:t>
            </a:r>
          </a:p>
          <a:p xmlns:a="http://schemas.openxmlformats.org/drawingml/2006/main">
            <a:r>
              <a:t>http://localhost:3000/admin/disputes</a:t>
            </a:r>
          </a:p>
          <a:p xmlns:a="http://schemas.openxmlformats.org/drawingml/2006/main">
            <a:r>
              <a:t>backend-django/disputes/models.py</a:t>
            </a:r>
          </a:p>
          <a:p xmlns:a="http://schemas.openxmlformats.org/drawingml/2006/main">
            <a:r>
              <a:t>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agriculture configuration screenshot shows three attributes. Foreign matter and damaged kernels each have 50% importance and are enabled for photo analysis. Moisture is configured as a non-photo attribute with zero weight in the current grade. Attribute labels, type, allowed range and importance can be edited, added, reordered or removed using the category editor. Do not imply enabling a switch teaches the model a new visual attribute; model capability depends on the trained pipeline. Administrators can preview and save configuration, while the current screenshot is a read-only capture of saved rules.</a:t>
            </a:r>
          </a:p>
          <a:p xmlns:a="http://schemas.openxmlformats.org/drawingml/2006/main">
            <a:r>
              <a:t/>
            </a:r>
          </a:p>
          <a:p xmlns:a="http://schemas.openxmlformats.org/drawingml/2006/main">
            <a:r>
              <a:t>Sources and evidence:</a:t>
            </a:r>
          </a:p>
          <a:p xmlns:a="http://schemas.openxmlformats.org/drawingml/2006/main">
            <a:r>
              <a:t>http://localhost:3000/admin/verticals/1</a:t>
            </a:r>
          </a:p>
          <a:p xmlns:a="http://schemas.openxmlformats.org/drawingml/2006/main">
            <a:r>
              <a:t>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shows the saved grade adjustments and agriculture quantity tiers. A separate Market prices page supports manually entered records and identifies feed-sourced records. The local demonstration database includes prepared price history to make trends visible, so the review does not depend on a live external feed. Administrative configuration changes are reflected in the buyer estimate after saving. The appendix gives a reversible before-and-after demonstration using a distinct Faculty Demo Wheat price entry. An estimate is explanatory and does not automatically force the seller’s transaction price.</a:t>
            </a:r>
          </a:p>
          <a:p xmlns:a="http://schemas.openxmlformats.org/drawingml/2006/main">
            <a:r>
              <a:t/>
            </a:r>
          </a:p>
          <a:p xmlns:a="http://schemas.openxmlformats.org/drawingml/2006/main">
            <a:r>
              <a:t>Sources and evidence:</a:t>
            </a:r>
          </a:p>
          <a:p xmlns:a="http://schemas.openxmlformats.org/drawingml/2006/main">
            <a:r>
              <a:t>http://localhost:3000/admin/verticals/1</a:t>
            </a:r>
          </a:p>
          <a:p xmlns:a="http://schemas.openxmlformats.org/drawingml/2006/main">
            <a:r>
              <a:t>http://localhost:3000/admin/pricing</a:t>
            </a:r>
          </a:p>
          <a:p xmlns:a="http://schemas.openxmlformats.org/drawingml/2006/main">
            <a:r>
              <a:t>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counters as software evidence, not model-accuracy evidence. The saved readiness run records 34 checks passing. The Android core receipt contains 35 test cases, zero failures and errors, and one skipped case: 34 cases executed successfully. A separate live-backend Android test passed. Eight real-photo grading cases and original-file receipts provide additional integration evidence. The browser run receipt records a passed status but does not persist a count, so no browser test count is claimed here. This review preparation did not rerun the complete training or all historical suites.</a:t>
            </a:r>
          </a:p>
          <a:p xmlns:a="http://schemas.openxmlformats.org/drawingml/2006/main">
            <a:r>
              <a:t/>
            </a:r>
          </a:p>
          <a:p xmlns:a="http://schemas.openxmlformats.org/drawingml/2006/main">
            <a:r>
              <a:t>Sources and evidence:</a:t>
            </a:r>
          </a:p>
          <a:p xmlns:a="http://schemas.openxmlformats.org/drawingml/2006/main">
            <a:r>
              <a:t>.demo/readiness.json</a:t>
            </a:r>
          </a:p>
          <a:p xmlns:a="http://schemas.openxmlformats.org/drawingml/2006/main">
            <a:r>
              <a:t>.demo/android-core-tests.json</a:t>
            </a:r>
          </a:p>
          <a:p xmlns:a="http://schemas.openxmlformats.org/drawingml/2006/main">
            <a:r>
              <a:t>.demo/android-live-test.json</a:t>
            </a:r>
          </a:p>
          <a:p xmlns:a="http://schemas.openxmlformats.org/drawingml/2006/main">
            <a:r>
              <a:t>.demo/playwright-results/.last-run.json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independent inputs were transferred to the physical phone album Pictures/YieldnYarnReal. The transfer receipt verifies 15 original files by SHA-256. The backend integrity receipt verifies the same 15 originals in storage and over their HTTP media URLs. This guards against a demonstration accidentally using thumbnails or generated substitute images. The grading rehearsal contains eight cases: three independent wheat pairs, four independent fabric pairs and one green-sheet reference. The reference overlaps a documented training-source collection and therefore is not an independent accuracy test.</a:t>
            </a:r>
          </a:p>
          <a:p xmlns:a="http://schemas.openxmlformats.org/drawingml/2006/main">
            <a:r>
              <a:t/>
            </a:r>
          </a:p>
          <a:p xmlns:a="http://schemas.openxmlformats.org/drawingml/2006/main">
            <a:r>
              <a:t>Sources and evidence:</a:t>
            </a:r>
          </a:p>
          <a:p xmlns:a="http://schemas.openxmlformats.org/drawingml/2006/main">
            <a:r>
              <a:t>.demo/real-images/phone-transfer.json</a:t>
            </a:r>
          </a:p>
          <a:p xmlns:a="http://schemas.openxmlformats.org/drawingml/2006/main">
            <a:r>
              <a:t>.demo/real-images/backend-image-integrity.json</a:t>
            </a:r>
          </a:p>
          <a:p xmlns:a="http://schemas.openxmlformats.org/drawingml/2006/main">
            <a:r>
              <a:t>.demo/real-images/manifest.json</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these are genuine source photographs with backgrounds and visible fabric structures unlike the project’s training-source examples. Three wheat pairs come from Wheat_Grading_Dataset, and four fabric pairs come from the original Defect Spectrum cotton collection. The eighth case is the AgroAI green-sheet reference and is deliberately labeled as overlapping the documented training source. The number eight describes workflow exercises, not a representative or statistically valid accuracy benchmark. The saved raw response for each case records scores, confidence, grade and required verification.</a:t>
            </a:r>
          </a:p>
          <a:p xmlns:a="http://schemas.openxmlformats.org/drawingml/2006/main">
            <a:r>
              <a:t/>
            </a:r>
          </a:p>
          <a:p xmlns:a="http://schemas.openxmlformats.org/drawingml/2006/main">
            <a:r>
              <a:t>Sources and evidence:</a:t>
            </a:r>
          </a:p>
          <a:p xmlns:a="http://schemas.openxmlformats.org/drawingml/2006/main">
            <a:r>
              <a:t>https://huggingface.co/datasets/SamWithAi/Wheat_Grading_Dataset</a:t>
            </a:r>
          </a:p>
          <a:p xmlns:a="http://schemas.openxmlformats.org/drawingml/2006/main">
            <a:r>
              <a:t>https://huggingface.co/datasets/DefectSpectrum/Defect_Spectrum/tree/main/DS-Cotton-Fabric</a:t>
            </a:r>
          </a:p>
          <a:p xmlns:a="http://schemas.openxmlformats.org/drawingml/2006/main">
            <a:r>
              <a:t>https://github.com/sachin235/AgroAI</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native chart reports item-level balanced accuracy from the saved validation JSON: 57.92% for the wheat model and 57.03% for the fabric model. Balanced accuracy is the metric used for the current confidence caps. Item accuracy is 71.09% and 70.07%, respectively; those figures should not be described as full-photo grading accuracy. Wheat sample evaluation includes 40 synthetic whole-sample images made from held-out kernels, while fabric validation includes 40 photos. No fresh retraining or benchmark reproduction was performed for this deck.</a:t>
            </a:r>
          </a:p>
          <a:p xmlns:a="http://schemas.openxmlformats.org/drawingml/2006/main">
            <a:r>
              <a:t/>
            </a:r>
          </a:p>
          <a:p xmlns:a="http://schemas.openxmlformats.org/drawingml/2006/main">
            <a:r>
              <a:t>Sources and evidence:</a:t>
            </a:r>
          </a:p>
          <a:p xmlns:a="http://schemas.openxmlformats.org/drawingml/2006/main">
            <a:r>
              <a:t>ml-training/reports/agriculture_grader_eval.json</a:t>
            </a:r>
          </a:p>
          <a:p xmlns:a="http://schemas.openxmlformats.org/drawingml/2006/main">
            <a:r>
              <a:t>ml-training/reports/textiles_grader_eval.json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fabric validation reports 84.8% defective-patch precision, 40.2% defective-patch recall and 1.87% false alarms among good patches. All defect-containing photos in this particular 40-photo held-out set were flagged, but that photo-level fact does not imply all defective patches were found or that performance generalizes to other sources. Explain precision as how often a predicted defective patch is actually defective, and recall as how much of the labeled defect material is detected. The observed low recall is a material limitation.</a:t>
            </a:r>
          </a:p>
          <a:p xmlns:a="http://schemas.openxmlformats.org/drawingml/2006/main">
            <a:r>
              <a:t/>
            </a:r>
          </a:p>
          <a:p xmlns:a="http://schemas.openxmlformats.org/drawingml/2006/main">
            <a:r>
              <a:t>Sources and evidence:</a:t>
            </a:r>
          </a:p>
          <a:p xmlns:a="http://schemas.openxmlformats.org/drawingml/2006/main">
            <a:r>
              <a:t>ml-training/reports/textiles_grader_eval.json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original source-A photo produced a predicted foreign share of 48.9% despite the grain sample’s apparent cleanliness. The response converted that into 0% cleanliness quality; whole-grain quality was 97.5%. With equal weights, the combined quality is 48.75%, Grade C. Confidence was capped at 57.92% and the case was correctly routed for review. Do not equate the source dataset’s letter label directly with the app’s Grade A/B/C thresholds, or claim a causal diagnosis from a visual inspection. Background or domain differences are plausible contributors, not an established cause.</a:t>
            </a:r>
          </a:p>
          <a:p xmlns:a="http://schemas.openxmlformats.org/drawingml/2006/main">
            <a:r>
              <a:t/>
            </a:r>
          </a:p>
          <a:p xmlns:a="http://schemas.openxmlformats.org/drawingml/2006/main">
            <a:r>
              <a:t>Sources and evidence:</a:t>
            </a:r>
          </a:p>
          <a:p xmlns:a="http://schemas.openxmlformats.org/drawingml/2006/main">
            <a:r>
              <a:t>https://huggingface.co/datasets/SamWithAi/Wheat_Grading_Dataset</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hole example yields a 6.2% predicted bad-patch share and 57.5% visual-defect quality, leading to Grade C. The oil example yields a 14.9% predicted bad-patch share and zero visual-defect quality. Confidence is low, including 50.83% on the oil case, so these cases also remain in the review queue. These values are predictions rather than annotated defect-area measurements. Only a small set of external source photos was exercised; avoid ranking the model’s general ability to detect holes versus oil from one example of each.</a:t>
            </a:r>
          </a:p>
          <a:p xmlns:a="http://schemas.openxmlformats.org/drawingml/2006/main">
            <a:r>
              <a:t/>
            </a:r>
          </a:p>
          <a:p xmlns:a="http://schemas.openxmlformats.org/drawingml/2006/main">
            <a:r>
              <a:t>Sources and evidence:</a:t>
            </a:r>
          </a:p>
          <a:p xmlns:a="http://schemas.openxmlformats.org/drawingml/2006/main">
            <a:r>
              <a:t>https://huggingface.co/datasets/DefectSpectrum/Defect_Spectrum/tree/main/DS-Cotton-Fabric</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new presentation-evidence listing 85 was created with two original source-A wheat photos and two quintals of stock. Its automatic output was Grade C at 57.92% confidence and it entered the verification queue. A role-authenticated verifier API call supplied illustrative corrected quality scores of 95% for each attribute, producing Grade A and an active listing. This demonstrates persistence of a human decision, not an accuracy improvement or an independently measured 95% ground truth. The response’s confidence value of one is a manual-review marker, not 100% AI accuracy.</a:t>
            </a:r>
          </a:p>
          <a:p xmlns:a="http://schemas.openxmlformats.org/drawingml/2006/main">
            <a:r>
              <a:t/>
            </a:r>
          </a:p>
          <a:p xmlns:a="http://schemas.openxmlformats.org/drawingml/2006/main">
            <a:r>
              <a:t>Sources and evidence:</a:t>
            </a:r>
          </a:p>
          <a:p xmlns:a="http://schemas.openxmlformats.org/drawingml/2006/main">
            <a:r>
              <a:t>.demo/presentation-build/workflow-proof.json — role-authenticated local API rehearsal, 8–9 October 2026; screenshot from the running website.</a:t>
            </a:r>
          </a:p>
          <a:p xmlns:a="http://schemas.openxmlformats.org/drawingml/2006/main">
            <a:r>
              <a:t>http://localhost:3000/buyer/catalog/85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fresh transaction proof in the local presentation rehearsal. The buyer offered 2,300 for one quintal from listing 85. The seller countered at 2,400. The buyer accepted the counter, creating order 20 with CONFIRMED status and total 2,400. The same listing’s stock decreased from two quintals to one. These steps were performed through separately role-authenticated API calls, then the website was used to inspect the persisted order. This proves integrated application behavior; it does not demonstrate physical delivery, payment settlement or the complete phone UI negotiation sequence.</a:t>
            </a:r>
          </a:p>
          <a:p xmlns:a="http://schemas.openxmlformats.org/drawingml/2006/main">
            <a:r>
              <a:t/>
            </a:r>
          </a:p>
          <a:p xmlns:a="http://schemas.openxmlformats.org/drawingml/2006/main">
            <a:r>
              <a:t>Sources and evidence:</a:t>
            </a:r>
          </a:p>
          <a:p xmlns:a="http://schemas.openxmlformats.org/drawingml/2006/main">
            <a:r>
              <a:t>.demo/presentation-build/workflow-proof.json — role-authenticated local API rehearsal, 8–9 October 2026; screenshot from the running website.</a:t>
            </a:r>
          </a:p>
          <a:p xmlns:a="http://schemas.openxmlformats.org/drawingml/2006/main">
            <a:r>
              <a:t>http://localhost:3000/buyer/orders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earlier integration receipt shows a requirement fulfilled by two listings. Listing 72 supplied 40 quintals and listing 73 supplied 20 quintals, both at 2,000 per unit, yielding a 60-quintal total and 120,000 total price. The receipt explicitly records fully_fulfilled true and zero shortfall. Those temporary records were later cleaned from the prepared database; therefore this is a retained integration receipt rather than a current website order screenshot. The allocation table is editable and displays the arithmetic directly.</a:t>
            </a:r>
          </a:p>
          <a:p xmlns:a="http://schemas.openxmlformats.org/drawingml/2006/main">
            <a:r>
              <a:t/>
            </a:r>
          </a:p>
          <a:p xmlns:a="http://schemas.openxmlformats.org/drawingml/2006/main">
            <a:r>
              <a:t>Sources and evidence:</a:t>
            </a:r>
          </a:p>
          <a:p xmlns:a="http://schemas.openxmlformats.org/drawingml/2006/main">
            <a:r>
              <a:t>.demo/photo-and-matching.json — saved multi_seller_match integration response; temporary sample records later cleaned.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buyer estimate screenshot was captured after selecting Wheat, 100 units and Grade A. The displayed base is 2,489.27, the Grade A multiplier is 1.10 and the reached bulk tier is 2% off. Multiplying gives 2,683.43306, rounded to 2,683.43 per unit. The total is the rounded unit value times 100, or 268,343. The screen also displays prepared 30-day Wheat history. The UI calls the baseline seller’s asking price, while the compute estimate uses the selected base and configured adjustments; explain the actual calculation without claiming a fresh external market-feed measurement.</a:t>
            </a:r>
          </a:p>
          <a:p xmlns:a="http://schemas.openxmlformats.org/drawingml/2006/main">
            <a:r>
              <a:t/>
            </a:r>
          </a:p>
          <a:p xmlns:a="http://schemas.openxmlformats.org/drawingml/2006/main">
            <a:r>
              <a:t>Sources and evidence:</a:t>
            </a:r>
          </a:p>
          <a:p xmlns:a="http://schemas.openxmlformats.org/drawingml/2006/main">
            <a:r>
              <a:t>http://localhost:3000/buyer/estimate</a:t>
            </a:r>
          </a:p>
          <a:p xmlns:a="http://schemas.openxmlformats.org/drawingml/2006/main">
            <a:r>
              <a:t>.demo/presentation-build/assets/estimate-full.jpg</a:t>
            </a:r>
          </a:p>
          <a:p xmlns:a="http://schemas.openxmlformats.org/drawingml/2006/main">
            <a:r>
              <a:t>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administrator dashboard now shows 23 listings across statuses, six orders and eight people. It also surfaces pending quality checks and open complaints. These are local database records for a faculty demonstration, including seeded examples and the fresh presentation listing and order. The dashboard’s rounded money-in-orders value is not used as a performance metric. A healthy local demo means the user can trace records across the interfaces, not that all listings are approved or every seeded case is a new verified transaction.</a:t>
            </a:r>
          </a:p>
          <a:p xmlns:a="http://schemas.openxmlformats.org/drawingml/2006/main">
            <a:r>
              <a:t/>
            </a:r>
          </a:p>
          <a:p xmlns:a="http://schemas.openxmlformats.org/drawingml/2006/main">
            <a:r>
              <a:t>Sources and evidence:</a:t>
            </a:r>
          </a:p>
          <a:p xmlns:a="http://schemas.openxmlformats.org/drawingml/2006/main">
            <a:r>
              <a:t>http://localhost:3000/admin/dashboard — captured during presentation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inference caps mean automatic approval is unavailable: a verifier is needed even for Grade A outputs. Saved balanced accuracy is modest, damaged-grain recall is weak and the fabric model misses many defective patches. Independent inputs expose transfer problems; the photo rehearsal is too small to establish general accuracy. Moisture and GSM require other measurements. The demo uses prepared prices and in-app notification records; Firebase push is not configured. Payment settlement, delivery logistics and commercial scale are outside the demonstrated scope. Present these boundaries candidly, without shifting the review into new development or security work.</a:t>
            </a:r>
          </a:p>
          <a:p xmlns:a="http://schemas.openxmlformats.org/drawingml/2006/main">
            <a:r>
              <a:t/>
            </a:r>
          </a:p>
          <a:p xmlns:a="http://schemas.openxmlformats.org/drawingml/2006/main">
            <a:r>
              <a:t>Sources and evidence:</a:t>
            </a:r>
          </a:p>
          <a:p xmlns:a="http://schemas.openxmlformats.org/drawingml/2006/main">
            <a:r>
              <a:t>.demo/real-images/grading-results.json; REAL_IMAGE_RESULTS.md; original dataset photo manifest and SHA-256 receipts.</a:t>
            </a:r>
          </a:p>
          <a:p xmlns:a="http://schemas.openxmlformats.org/drawingml/2006/main">
            <a:r>
              <a:t>ml-training/reports</a:t>
            </a:r>
          </a:p>
          <a:p xmlns:a="http://schemas.openxmlformats.org/drawingml/2006/main">
            <a:r>
              <a:t>DEMO_GUIDE.md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achieves an inspectable local workflow across seller capture, quality analysis, human verification, price calculation, requirements, negotiation and persistent order records. The strongest fresh evidence is listing 85 and order 20, because both the decision and stock movement can be inspected. The strongest scientific conclusion is more limited: successful integration does not make the grader reliable under changing inputs. The project’s human-review path is therefore essential to the current demonstration. Do not describe the prototype as a replacement for laboratory quality certification.</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.demo/presentation-build/workflow-proof.json — role-authenticated local API rehearsal, 8–9 October 2026; screenshot from the running website.</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slide as the live demonstration agenda; WEBSITE_DEMO.md provides all field values, optional edits and recovery steps. First run start-demo.ps1 and confirm the phone reaches the laptop. On the phone use the existing seller account and show the real-photo album. On the staff website open verifier listing 77 without changing it to illustrate the failure case, then show already approved listing 85 and order 20 as persisted proof. Use separate browser windows for buyer and staff roles if possible so sessions do not replace one another. The planned 100-quintal requirement may reserve real demo stock; do not submit it repeatedly.</a:t>
            </a:r>
          </a:p>
          <a:p xmlns:a="http://schemas.openxmlformats.org/drawingml/2006/main">
            <a:r>
              <a:t/>
            </a:r>
          </a:p>
          <a:p xmlns:a="http://schemas.openxmlformats.org/drawingml/2006/main">
            <a:r>
              <a:t>Sources and evidence:</a:t>
            </a:r>
          </a:p>
          <a:p xmlns:a="http://schemas.openxmlformats.org/drawingml/2006/main">
            <a:r>
              <a:t>start-demo.ps1</a:t>
            </a:r>
          </a:p>
          <a:p xmlns:a="http://schemas.openxmlformats.org/drawingml/2006/main">
            <a:r>
              <a:t>WEBSITE_DEMO.md</a:t>
            </a:r>
          </a:p>
          <a:p xmlns:a="http://schemas.openxmlformats.org/drawingml/2006/main">
            <a:r>
              <a:t>FACULTY_DEMO.md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survey uses primary papers and official platform material. eNAM is cited for quality-assayed online agricultural trading. Howard and colleagues introduce MobileNetV3, used as the existing backbone. Fan and colleagues introduce GrainSpace and grain-recognition domain concerns. Bergmann and colleagues introduce MVTec AD. Yang and colleagues introduce Defect Spectrum at ECCV 2024. The project does not borrow these papers’ benchmark metrics as its own results. Full verified links are recorded below and in the relevant slide notes.</a:t>
            </a:r>
          </a:p>
          <a:p xmlns:a="http://schemas.openxmlformats.org/drawingml/2006/main">
            <a:r>
              <a:t/>
            </a:r>
          </a:p>
          <a:p xmlns:a="http://schemas.openxmlformats.org/drawingml/2006/main">
            <a:r>
              <a:t>Sources and evidence:</a:t>
            </a:r>
          </a:p>
          <a:p xmlns:a="http://schemas.openxmlformats.org/drawingml/2006/main">
            <a:r>
              <a:t>https://enam.gov.in/stakeholders-Involved/traders</a:t>
            </a:r>
          </a:p>
          <a:p xmlns:a="http://schemas.openxmlformats.org/drawingml/2006/main">
            <a:r>
              <a:t>https://openaccess.thecvf.com/content_ICCV_2019/html/Howard_Searching_for_MobileNetV3_ICCV_2019_paper.html</a:t>
            </a:r>
          </a:p>
          <a:p xmlns:a="http://schemas.openxmlformats.org/drawingml/2006/main">
            <a:r>
              <a:t>https://openaccess.thecvf.com/content/CVPR2022/html/Fan_GrainSpace_A_Large-Scale_Dataset_for_Fine-Grained_and_Domain-Adaptive_Recognition_of_CVPR_2022_paper.html</a:t>
            </a:r>
          </a:p>
          <a:p xmlns:a="http://schemas.openxmlformats.org/drawingml/2006/main">
            <a:r>
              <a:t>https://openaccess.thecvf.com/content_CVPR_2019/html/Bergmann_MVTec_AD_--_A_Comprehensive_Real-World_Dataset_for_Unsupervised_Anomaly_CVPR_2019_paper.html</a:t>
            </a:r>
          </a:p>
          <a:p xmlns:a="http://schemas.openxmlformats.org/drawingml/2006/main">
            <a:r>
              <a:t>https://www.ecva.net/papers/eccv_2024/papers_ECCV/papers/01105.pdf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source manifest to trace original photos. Wheat demonstration inputs come from the public Wheat_Grading_Dataset distribution. Fabric inputs come from original Defect Spectrum cotton images. AgroAI and the TILDA-format repository are the documented training-source collections. Local JSON receipts are the evidence for file integrity, software checks, photo grades and transaction behavior. WEBSITE_DEMO.md is the companion faculty walkthrough. These references make the presentation reproducible without inventing a test dataset, a new training run or unsupported accuracy.</a:t>
            </a:r>
          </a:p>
          <a:p xmlns:a="http://schemas.openxmlformats.org/drawingml/2006/main">
            <a:r>
              <a:t/>
            </a:r>
          </a:p>
          <a:p xmlns:a="http://schemas.openxmlformats.org/drawingml/2006/main">
            <a:r>
              <a:t>Sources and evidence:</a:t>
            </a:r>
          </a:p>
          <a:p xmlns:a="http://schemas.openxmlformats.org/drawingml/2006/main">
            <a:r>
              <a:t>https://huggingface.co/datasets/SamWithAi/Wheat_Grading_Dataset</a:t>
            </a:r>
          </a:p>
          <a:p xmlns:a="http://schemas.openxmlformats.org/drawingml/2006/main">
            <a:r>
              <a:t>https://huggingface.co/datasets/DefectSpectrum/Defect_Spectrum/tree/main/DS-Cotton-Fabric</a:t>
            </a:r>
          </a:p>
          <a:p xmlns:a="http://schemas.openxmlformats.org/drawingml/2006/main">
            <a:r>
              <a:t>https://github.com/sachin235/AgroAI</a:t>
            </a:r>
          </a:p>
          <a:p xmlns:a="http://schemas.openxmlformats.org/drawingml/2006/main">
            <a:r>
              <a:t>https://github.com/sivasgitt/AI-Fabric-Defect-Detection</a:t>
            </a:r>
          </a:p>
          <a:p xmlns:a="http://schemas.openxmlformats.org/drawingml/2006/main">
            <a:r>
              <a:t>.demo/real-images/grading-results.json; REAL_IMAGE_RESULTS.md; original dataset photo manifest and SHA-256 receipts.</a:t>
            </a:r>
          </a:p>
          <a:p xmlns:a="http://schemas.openxmlformats.org/drawingml/2006/main">
            <a:r>
              <a:t>.demo/presentation-build/workflow-proof.json — role-authenticated local API rehearsal, 8–9 October 2026; screenshot from the running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conceptual relationship diagram manually built from native PowerPoint shapes. A user publishes listings. Photos and grading results are associated with listings, and verifier decisions update their quality state. A buyer requirement can be fulfilled through order allocations referencing multiple listings. Bids are related to one listing and can lead to an order after acceptance. An order has allocation lines and can receive a dispute record. The drawing emphasizes what to trace during a viva; it is not a complete database schema or a claim that every relationship has the same cardinality.</a:t>
            </a:r>
          </a:p>
          <a:p xmlns:a="http://schemas.openxmlformats.org/drawingml/2006/main">
            <a:r>
              <a:t/>
            </a:r>
          </a:p>
          <a:p xmlns:a="http://schemas.openxmlformats.org/drawingml/2006/main">
            <a:r>
              <a:t>Sources and evidence:</a:t>
            </a:r>
          </a:p>
          <a:p xmlns:a="http://schemas.openxmlformats.org/drawingml/2006/main">
            <a:r>
              <a:t>backend-django/*/models.py</a:t>
            </a:r>
          </a:p>
          <a:p xmlns:a="http://schemas.openxmlformats.org/drawingml/2006/main">
            <a:r>
              <a:t>backend-fastapi/db.py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planned reversible faculty exercise, not a fresh result captured in this deck. Use the separately prepared Faculty Demo Wheat base price of 2,500. On the buyer estimate form enter Agriculture, Faculty Demo Wheat, 100 and Grade B. Baseline is 2,450 per unit and 245,000 total because the 50-unit tier gives 2% off. As administrator, open Agriculture Price rules and change only the Grade B percentage from zero to five, then save. Recalculate the same buyer inputs: expected 2,572.50 per unit and 257,250 total. Restore Grade B to zero and save after the demonstration.</a:t>
            </a:r>
          </a:p>
          <a:p xmlns:a="http://schemas.openxmlformats.org/drawingml/2006/main">
            <a:r>
              <a:t/>
            </a:r>
          </a:p>
          <a:p xmlns:a="http://schemas.openxmlformats.org/drawingml/2006/main">
            <a:r>
              <a:t>Sources and evidence:</a:t>
            </a:r>
          </a:p>
          <a:p xmlns:a="http://schemas.openxmlformats.org/drawingml/2006/main">
            <a:r>
              <a:t>WEBSITE_DEMO.md — Before, change, observe, restore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f14f19c8ed4a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517aec961f43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165ad775a740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5b8b7243ba4d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7ee9527c394d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1422d9b7044c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BC5480-C9F5-45F3-9A1B-E4618255DB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260D26-8822-425C-9F95-2E38BAD55F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FAD696-7234-47EF-8067-C22DCB0701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CC0A18-3EEC-43CE-9DF3-16EA3C3BDB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26BD1F-7A6F-45D1-8F3B-F2F0A127E3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86E0D6-F2AA-4A2D-823A-5CD1ECE6D0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CBA98D-2B39-4826-9171-C18897D9C3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42498D-225D-4293-994E-9BB4B8D24B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7905C3-4810-404A-A05A-3411A9ED90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E26D77-0728-4B75-8475-FEB78ABCE5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4f98bd52194615" /><Relationship Type="http://schemas.openxmlformats.org/officeDocument/2006/relationships/slideLayout" Target="/ppt/slideLayouts/slideLayout1.xml" Id="R381592ee700544a9" /><Relationship Type="http://schemas.openxmlformats.org/officeDocument/2006/relationships/slideLayout" Target="/ppt/slideLayouts/slideLayout2.xml" Id="R04192c64d9f44945" /><Relationship Type="http://schemas.openxmlformats.org/officeDocument/2006/relationships/slideLayout" Target="/ppt/slideLayouts/slideLayout3.xml" Id="Rb61ef74f2baa4c8f" /><Relationship Type="http://schemas.openxmlformats.org/officeDocument/2006/relationships/slideLayout" Target="/ppt/slideLayouts/slideLayout4.xml" Id="R49cd88c29f264631" /><Relationship Type="http://schemas.openxmlformats.org/officeDocument/2006/relationships/slideLayout" Target="/ppt/slideLayouts/slideLayout5.xml" Id="Rc04f7e8b05b940df" /><Relationship Type="http://schemas.openxmlformats.org/officeDocument/2006/relationships/slideLayout" Target="/ppt/slideLayouts/slideLayout6.xml" Id="R8553778af96045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1592ee700544a9"/>
    <p:sldLayoutId xmlns:r="http://schemas.openxmlformats.org/officeDocument/2006/relationships" id="2147483650" r:id="R04192c64d9f44945"/>
    <p:sldLayoutId xmlns:r="http://schemas.openxmlformats.org/officeDocument/2006/relationships" id="2147483651" r:id="Rb61ef74f2baa4c8f"/>
    <p:sldLayoutId xmlns:r="http://schemas.openxmlformats.org/officeDocument/2006/relationships" id="2147483652" r:id="R49cd88c29f264631"/>
    <p:sldLayoutId xmlns:r="http://schemas.openxmlformats.org/officeDocument/2006/relationships" id="2147483653" r:id="Rc04f7e8b05b940df"/>
    <p:sldLayoutId xmlns:r="http://schemas.openxmlformats.org/officeDocument/2006/relationships" id="2147483654" r:id="R8553778af96045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decbb8ebbf4a62" /><Relationship Type="http://schemas.openxmlformats.org/officeDocument/2006/relationships/image" Target="/ppt/media/image.jpeg" Id="R17b33d54ee584da4" /><Relationship Type="http://schemas.openxmlformats.org/officeDocument/2006/relationships/image" Target="/ppt/media/image2.jpeg" Id="Rb1554a97dbb649f5" /><Relationship Type="http://schemas.openxmlformats.org/officeDocument/2006/relationships/notesSlide" Target="/ppt/notesSlides/notesSlide1.xml" Id="Re2d2bbe1532943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92fe83d2df4fbc" /><Relationship Type="http://schemas.openxmlformats.org/officeDocument/2006/relationships/notesSlide" Target="/ppt/notesSlides/notesSlide2.xml" Id="R5ff4ab90fab647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048da75e0a4462" /><Relationship Type="http://schemas.openxmlformats.org/officeDocument/2006/relationships/notesSlide" Target="/ppt/notesSlides/notesSlide3.xml" Id="R3d5b2dfe5db54c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8d1d02c9d346c2" /><Relationship Type="http://schemas.openxmlformats.org/officeDocument/2006/relationships/notesSlide" Target="/ppt/notesSlides/notesSlide4.xml" Id="R5d4b10110f1743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ab8d8fbdd7f4f46" /><Relationship Type="http://schemas.openxmlformats.org/officeDocument/2006/relationships/notesSlide" Target="/ppt/notesSlides/notesSlide5.xml" Id="R02e63850268043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9a752d34e64f6e" /><Relationship Type="http://schemas.openxmlformats.org/officeDocument/2006/relationships/notesSlide" Target="/ppt/notesSlides/notesSlide6.xml" Id="Ra3a180764f7b4d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4b9b9d47b74beb" /><Relationship Type="http://schemas.openxmlformats.org/officeDocument/2006/relationships/notesSlide" Target="/ppt/notesSlides/notesSlide7.xml" Id="R86e9c51a273c46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820204eae148d0" /><Relationship Type="http://schemas.openxmlformats.org/officeDocument/2006/relationships/notesSlide" Target="/ppt/notesSlides/notesSlide8.xml" Id="R9a23b669adf745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2da2e630ca42e2" /><Relationship Type="http://schemas.openxmlformats.org/officeDocument/2006/relationships/image" Target="/ppt/media/image.png" Id="R492dc26e60914740" /><Relationship Type="http://schemas.openxmlformats.org/officeDocument/2006/relationships/notesSlide" Target="/ppt/notesSlides/notesSlide9.xml" Id="Rf15c4cd390694f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a5059748c4843b8" /><Relationship Type="http://schemas.openxmlformats.org/officeDocument/2006/relationships/notesSlide" Target="/ppt/notesSlides/notesSlide10.xml" Id="Rcd4be87124db42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7c3b565e88d46f9" /><Relationship Type="http://schemas.openxmlformats.org/officeDocument/2006/relationships/image" Target="/ppt/media/image3.jpeg" Id="R8d8b199528934c5c" /><Relationship Type="http://schemas.openxmlformats.org/officeDocument/2006/relationships/notesSlide" Target="/ppt/notesSlides/notesSlide11.xml" Id="R8dcb688e9da24a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9bf158861dd42dd" /><Relationship Type="http://schemas.openxmlformats.org/officeDocument/2006/relationships/image" Target="/ppt/media/image4.jpeg" Id="R5143664ba63a45c6" /><Relationship Type="http://schemas.openxmlformats.org/officeDocument/2006/relationships/notesSlide" Target="/ppt/notesSlides/notesSlide12.xml" Id="R5e8a2f343f344b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4f77cdbedb44c60" /><Relationship Type="http://schemas.openxmlformats.org/officeDocument/2006/relationships/notesSlide" Target="/ppt/notesSlides/notesSlide13.xml" Id="Rbd49c332c5334f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4aabd26ab2b4966" /><Relationship Type="http://schemas.openxmlformats.org/officeDocument/2006/relationships/image" Target="/ppt/media/image5.jpeg" Id="Rf7df8d45b70447e8" /><Relationship Type="http://schemas.openxmlformats.org/officeDocument/2006/relationships/notesSlide" Target="/ppt/notesSlides/notesSlide14.xml" Id="R09284f6f35914fc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2801dfab59d4c48" /><Relationship Type="http://schemas.openxmlformats.org/officeDocument/2006/relationships/notesSlide" Target="/ppt/notesSlides/notesSlide15.xml" Id="R56b3b0ff699045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99e579dd2e4d1e" /><Relationship Type="http://schemas.openxmlformats.org/officeDocument/2006/relationships/image" Target="/ppt/media/image6.jpeg" Id="R1b625354054b47ff" /><Relationship Type="http://schemas.openxmlformats.org/officeDocument/2006/relationships/notesSlide" Target="/ppt/notesSlides/notesSlide16.xml" Id="Rf169a106e9f44d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80c8d61158547bf" /><Relationship Type="http://schemas.openxmlformats.org/officeDocument/2006/relationships/notesSlide" Target="/ppt/notesSlides/notesSlide17.xml" Id="Rac739c703a2748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cdf0c8d4c36422d" /><Relationship Type="http://schemas.openxmlformats.org/officeDocument/2006/relationships/image" Target="/ppt/media/image7.jpeg" Id="R276f0306f91c4f6e" /><Relationship Type="http://schemas.openxmlformats.org/officeDocument/2006/relationships/notesSlide" Target="/ppt/notesSlides/notesSlide18.xml" Id="R6f0cd015035c4f9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62d5a4f94104074" /><Relationship Type="http://schemas.openxmlformats.org/officeDocument/2006/relationships/image" Target="/ppt/media/image8.jpeg" Id="Ra197f2cf4e144f78" /><Relationship Type="http://schemas.openxmlformats.org/officeDocument/2006/relationships/notesSlide" Target="/ppt/notesSlides/notesSlide19.xml" Id="R70d360f36aa8497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62bbd16899e49c2" /><Relationship Type="http://schemas.openxmlformats.org/officeDocument/2006/relationships/image" Target="/ppt/media/image9.jpeg" Id="R059e573a0f694ca5" /><Relationship Type="http://schemas.openxmlformats.org/officeDocument/2006/relationships/notesSlide" Target="/ppt/notesSlides/notesSlide20.xml" Id="Re529431f59e547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3d2556e2a0444df" /><Relationship Type="http://schemas.openxmlformats.org/officeDocument/2006/relationships/image" Target="/ppt/media/image10.jpeg" Id="R00ec87560dfc4ac1" /><Relationship Type="http://schemas.openxmlformats.org/officeDocument/2006/relationships/notesSlide" Target="/ppt/notesSlides/notesSlide21.xml" Id="R1b066c49ef334e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9337ac8b276474b" /><Relationship Type="http://schemas.openxmlformats.org/officeDocument/2006/relationships/notesSlide" Target="/ppt/notesSlides/notesSlide22.xml" Id="Rebaa4234b007427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a06a33d53d04f96" /><Relationship Type="http://schemas.openxmlformats.org/officeDocument/2006/relationships/notesSlide" Target="/ppt/notesSlides/notesSlide23.xml" Id="Rd6397583035940c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70fea3623bb40f3" /><Relationship Type="http://schemas.openxmlformats.org/officeDocument/2006/relationships/image" Target="/ppt/media/image11.jpeg" Id="R7dd24ffda5184f5f" /><Relationship Type="http://schemas.openxmlformats.org/officeDocument/2006/relationships/image" Target="/ppt/media/image12.jpeg" Id="Rd599d51f73c94a63" /><Relationship Type="http://schemas.openxmlformats.org/officeDocument/2006/relationships/notesSlide" Target="/ppt/notesSlides/notesSlide24.xml" Id="R1f8f8f9c12c1401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757b0f5b96c449f" /><Relationship Type="http://schemas.openxmlformats.org/officeDocument/2006/relationships/chart" Target="/ppt/slides/charts/chart1.xml" Id="R903b484ed19244f5" /><Relationship Type="http://schemas.openxmlformats.org/officeDocument/2006/relationships/notesSlide" Target="/ppt/notesSlides/notesSlide25.xml" Id="Rcab1bed8b4194a5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98c33c09f28421b" /><Relationship Type="http://schemas.openxmlformats.org/officeDocument/2006/relationships/chart" Target="/ppt/slides/charts/chart2.xml" Id="R5a00d4a8bc4d4ad3" /><Relationship Type="http://schemas.openxmlformats.org/officeDocument/2006/relationships/notesSlide" Target="/ppt/notesSlides/notesSlide26.xml" Id="R66b5e41c71eb451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d8bd3b724614376" /><Relationship Type="http://schemas.openxmlformats.org/officeDocument/2006/relationships/image" Target="/ppt/media/image13.jpeg" Id="R7b22d50fff904348" /><Relationship Type="http://schemas.openxmlformats.org/officeDocument/2006/relationships/notesSlide" Target="/ppt/notesSlides/notesSlide27.xml" Id="R248ecc6475e14d0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0686807c0d84876" /><Relationship Type="http://schemas.openxmlformats.org/officeDocument/2006/relationships/image" Target="/ppt/media/image14.jpeg" Id="Ra8cccf73c0cd4cce" /><Relationship Type="http://schemas.openxmlformats.org/officeDocument/2006/relationships/image" Target="/ppt/media/image15.jpeg" Id="Raf7859dda9ff4466" /><Relationship Type="http://schemas.openxmlformats.org/officeDocument/2006/relationships/notesSlide" Target="/ppt/notesSlides/notesSlide28.xml" Id="R5b4d17ee6090426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77a6e1e5bb04c64" /><Relationship Type="http://schemas.openxmlformats.org/officeDocument/2006/relationships/image" Target="/ppt/media/image16.jpeg" Id="R4f91a5feaf264b46" /><Relationship Type="http://schemas.openxmlformats.org/officeDocument/2006/relationships/notesSlide" Target="/ppt/notesSlides/notesSlide29.xml" Id="Rabd8144cf24e48e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47d0837aea64c4b" /><Relationship Type="http://schemas.openxmlformats.org/officeDocument/2006/relationships/image" Target="/ppt/media/image17.jpeg" Id="R32475b24de6f42b6" /><Relationship Type="http://schemas.openxmlformats.org/officeDocument/2006/relationships/notesSlide" Target="/ppt/notesSlides/notesSlide30.xml" Id="Rc82af1dcbc4c48a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c35b1aa10d84d05" /><Relationship Type="http://schemas.openxmlformats.org/officeDocument/2006/relationships/notesSlide" Target="/ppt/notesSlides/notesSlide31.xml" Id="Rca06710609a64a5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830c89054494c2f" /><Relationship Type="http://schemas.openxmlformats.org/officeDocument/2006/relationships/image" Target="/ppt/media/image18.jpeg" Id="Rddc5384088694a43" /><Relationship Type="http://schemas.openxmlformats.org/officeDocument/2006/relationships/notesSlide" Target="/ppt/notesSlides/notesSlide32.xml" Id="R2462fa6af5554a3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7446f3f09bc4a0c" /><Relationship Type="http://schemas.openxmlformats.org/officeDocument/2006/relationships/image" Target="/ppt/media/image19.jpeg" Id="Redf3c5d624e54d01" /><Relationship Type="http://schemas.openxmlformats.org/officeDocument/2006/relationships/notesSlide" Target="/ppt/notesSlides/notesSlide33.xml" Id="R8152e4674ba14b3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507cd018e394000" /><Relationship Type="http://schemas.openxmlformats.org/officeDocument/2006/relationships/notesSlide" Target="/ppt/notesSlides/notesSlide34.xml" Id="R1fa4d3dcea05488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b3c8ee2f1264909" /><Relationship Type="http://schemas.openxmlformats.org/officeDocument/2006/relationships/notesSlide" Target="/ppt/notesSlides/notesSlide35.xml" Id="Rc028d3671b614c0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99d987b39ab4eb6" /><Relationship Type="http://schemas.openxmlformats.org/officeDocument/2006/relationships/notesSlide" Target="/ppt/notesSlides/notesSlide36.xml" Id="Rfb1e37a143c34aa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b39b480257144c1" /><Relationship Type="http://schemas.openxmlformats.org/officeDocument/2006/relationships/notesSlide" Target="/ppt/notesSlides/notesSlide37.xml" Id="R9f696797882a4a4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5aff168f9ef4c80" /><Relationship Type="http://schemas.openxmlformats.org/officeDocument/2006/relationships/notesSlide" Target="/ppt/notesSlides/notesSlide38.xml" Id="Rc4d1418b53304c9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c3b1ed2b0aa450b" /><Relationship Type="http://schemas.openxmlformats.org/officeDocument/2006/relationships/notesSlide" Target="/ppt/notesSlides/notesSlide39.xml" Id="R1eb714ffb46d441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505be6162074b6c" /><Relationship Type="http://schemas.openxmlformats.org/officeDocument/2006/relationships/notesSlide" Target="/ppt/notesSlides/notesSlide40.xml" Id="R4e92f613419c46ba" /></Relationships>
</file>

<file path=ppt/slides/charts/chart1.xml><?xml version="1.0" encoding="utf-8"?>
<c:chartSpace xmlns:c="http://schemas.openxmlformats.org/drawingml/2006/chart">
  <c:lang val="en-US"/>
  <c:chart>
    <c:plotArea>
      <c:barChart>
        <c:barDir val="col"/>
        <c:grouping val="clustered"/>
        <c:varyColors val="0"/>
        <c:ser>
          <c:idx val="0"/>
          <c:order val="0"/>
          <c:tx>
            <c:v>Item balanced accuracy</c:v>
          </c:tx>
          <c:spPr>
            <a:solidFill xmlns:a="http://schemas.openxmlformats.org/drawingml/2006/main">
              <a:srgbClr val="173E33"/>
            </a:solidFill>
          </c:spPr>
          <c:cat>
            <c:strLit>
              <c:ptCount val="2"/>
              <c:pt idx="0">
                <c:v>Wheat</c:v>
              </c:pt>
              <c:pt idx="1">
                <c:v>Fabric</c:v>
              </c:pt>
            </c:strLit>
          </c:cat>
          <c:val>
            <c:numLit>
              <c:formatCode>0"%"</c:formatCode>
              <c:ptCount val="2"/>
              <c:pt idx="0">
                <c:v>57.92148</c:v>
              </c:pt>
              <c:pt idx="1">
                <c:v>57.02899</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73E33"/>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4763">
              <a:solidFill>
                <a:srgbClr val="D7DED6"/>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5B"/>
                </a:solidFill>
                <a:latin typeface="Arial"/>
                <a:ea typeface="Arial"/>
                <a:cs typeface="Arial"/>
              </a:defRPr>
            </a:pPr>
          </a:p>
        </c:txPr>
        <c:crossAx val="48650112"/>
        <c:crossBetween val="between"/>
        <c:majorUnit val="20"/>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Fabric patch metric (%)</c:v>
          </c:tx>
          <c:spPr>
            <a:solidFill xmlns:a="http://schemas.openxmlformats.org/drawingml/2006/main">
              <a:srgbClr val="B67D22"/>
            </a:solidFill>
          </c:spPr>
          <c:cat>
            <c:strLit>
              <c:ptCount val="3"/>
              <c:pt idx="0">
                <c:v>Precision</c:v>
              </c:pt>
              <c:pt idx="1">
                <c:v>Recall</c:v>
              </c:pt>
              <c:pt idx="2">
                <c:v>Good-patch
false alarms</c:v>
              </c:pt>
            </c:strLit>
          </c:cat>
          <c:val>
            <c:numLit>
              <c:formatCode>0"%"</c:formatCode>
              <c:ptCount val="3"/>
              <c:pt idx="0">
                <c:v>84.8</c:v>
              </c:pt>
              <c:pt idx="1">
                <c:v>40.2</c:v>
              </c:pt>
              <c:pt idx="2">
                <c:v>1.87</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73E33"/>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4763">
              <a:solidFill>
                <a:srgbClr val="D7DED6"/>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5B"/>
                </a:solidFill>
                <a:latin typeface="Arial"/>
                <a:ea typeface="Arial"/>
                <a:cs typeface="Arial"/>
              </a:defRPr>
            </a:pPr>
          </a:p>
        </c:txPr>
        <c:crossAx val="48650112"/>
        <c:crossBetween val="between"/>
        <c:majorUnit val="20"/>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73E33"/>
        </a:solidFill>
      </p:bgPr>
    </p:bg>
    <p:spTree>
      <p:nvGrpSpPr>
        <p:cNvPr id="1" name=""/>
        <p:cNvGrpSpPr/>
        <p:nvPr/>
      </p:nvGrpSpPr>
      <p:grpSpPr>
        <a:xfrm xmlns:a="http://schemas.openxmlformats.org/drawingml/2006/main"/>
      </p:grpSpPr>
      <p:sp>
        <p:nvSpPr>
          <p:cNvPr id="8" name="YieldnYarn">
            <a:extLst xmlns:a="http://schemas.openxmlformats.org/drawingml/2006/main">
              <a:ext uri="{FF2B5EF4-FFF2-40B4-BE49-F238E27FC236}">
                <a16:creationId xmlns:a16="http://schemas.microsoft.com/office/drawing/2014/main" id="{22C15F39-F24F-4C67-8A34-9C8DFD42089C}"/>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F7F5EF"/>
                </a:solidFill>
                <a:latin typeface="Arial"/>
                <a:ea typeface="Arial"/>
                <a:cs typeface="Arial"/>
              </a:defRPr>
            </a:defPPr>
          </a:lstStyle>
          <a:p xmlns:a="http://schemas.openxmlformats.org/drawingml/2006/main">
            <a:pPr algn="l">
              <a:defRPr sz="3300" b="1">
                <a:solidFill>
                  <a:srgbClr val="F7F5EF"/>
                </a:solidFill>
                <a:latin typeface="Arial"/>
                <a:ea typeface="Arial"/>
                <a:cs typeface="Arial"/>
              </a:defRPr>
            </a:pPr>
            <a:r>
              <a:rPr sz="3300" b="1">
                <a:solidFill>
                  <a:srgbClr val="F7F5EF"/>
                </a:solidFill>
                <a:latin typeface="Arial"/>
                <a:ea typeface="Arial"/>
                <a:cs typeface="Arial"/>
              </a:rPr>
              <a:t>YieldnYarn</a:t>
            </a:r>
          </a:p>
        </p:txBody>
      </p:sp>
      <p:sp>
        <p:nvSpPr>
          <p:cNvPr id="2" name="01">
            <a:extLst xmlns:a="http://schemas.openxmlformats.org/drawingml/2006/main">
              <a:ext uri="{FF2B5EF4-FFF2-40B4-BE49-F238E27FC236}">
                <a16:creationId xmlns:a16="http://schemas.microsoft.com/office/drawing/2014/main" id="{98144BBC-D804-42B3-8F1C-C44C0195325A}"/>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B9C7BE"/>
                </a:solidFill>
                <a:latin typeface="Arial"/>
                <a:ea typeface="Arial"/>
                <a:cs typeface="Arial"/>
              </a:defRPr>
            </a:defPPr>
          </a:lstStyle>
          <a:p xmlns:a="http://schemas.openxmlformats.org/drawingml/2006/main">
            <a:pPr algn="r">
              <a:defRPr sz="1125" b="0">
                <a:solidFill>
                  <a:srgbClr val="B9C7BE"/>
                </a:solidFill>
                <a:latin typeface="Arial"/>
                <a:ea typeface="Arial"/>
                <a:cs typeface="Arial"/>
              </a:defRPr>
            </a:pPr>
            <a:r>
              <a:rPr sz="1125" b="0">
                <a:solidFill>
                  <a:srgbClr val="B9C7BE"/>
                </a:solidFill>
                <a:latin typeface="Arial"/>
                <a:ea typeface="Arial"/>
                <a:cs typeface="Arial"/>
              </a:rPr>
              <a:t>01</a:t>
            </a:r>
          </a:p>
        </p:txBody>
      </p:sp>
      <p:sp>
        <p:nvSpPr>
          <p:cNvPr id="3" name="From photo evidence&#10;to a recorded trade">
            <a:extLst xmlns:a="http://schemas.openxmlformats.org/drawingml/2006/main">
              <a:ext uri="{FF2B5EF4-FFF2-40B4-BE49-F238E27FC236}">
                <a16:creationId xmlns:a16="http://schemas.microsoft.com/office/drawing/2014/main" id="{4F249172-21F8-4B9D-8F4C-78044DA54F49}"/>
              </a:ext>
            </a:extLst>
          </p:cNvPr>
          <p:cNvSpPr>
            <a:spLocks xmlns:a="http://schemas.openxmlformats.org/drawingml/2006/main" noGrp="1"/>
          </p:cNvSpPr>
          <p:nvPr/>
        </p:nvSpPr>
        <p:spPr>
          <a:xfrm xmlns:a="http://schemas.openxmlformats.org/drawingml/2006/main">
            <a:off x="609600" y="1628775"/>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4200" b="1">
                <a:solidFill>
                  <a:srgbClr val="F7F5EF"/>
                </a:solidFill>
                <a:latin typeface="Arial"/>
                <a:ea typeface="Arial"/>
                <a:cs typeface="Arial"/>
              </a:defRPr>
            </a:defPPr>
          </a:lstStyle>
          <a:p xmlns:a="http://schemas.openxmlformats.org/drawingml/2006/main">
            <a:pPr algn="l">
              <a:defRPr sz="4200" b="1">
                <a:solidFill>
                  <a:srgbClr val="F7F5EF"/>
                </a:solidFill>
                <a:latin typeface="Arial"/>
                <a:ea typeface="Arial"/>
                <a:cs typeface="Arial"/>
              </a:defRPr>
            </a:pPr>
            <a:r>
              <a:rPr sz="4200" b="1">
                <a:solidFill>
                  <a:srgbClr val="F7F5EF"/>
                </a:solidFill>
                <a:latin typeface="Arial"/>
                <a:ea typeface="Arial"/>
                <a:cs typeface="Arial"/>
              </a:rPr>
              <a:t>From photo evidence</a:t>
            </a:r>
          </a:p>
          <a:p xmlns:a="http://schemas.openxmlformats.org/drawingml/2006/main">
            <a:pPr algn="l">
              <a:defRPr sz="4200" b="1">
                <a:solidFill>
                  <a:srgbClr val="F7F5EF"/>
                </a:solidFill>
                <a:latin typeface="Arial"/>
                <a:ea typeface="Arial"/>
                <a:cs typeface="Arial"/>
              </a:defRPr>
            </a:pPr>
            <a:r>
              <a:rPr sz="4200" b="1">
                <a:solidFill>
                  <a:srgbClr val="F7F5EF"/>
                </a:solidFill>
                <a:latin typeface="Arial"/>
                <a:ea typeface="Arial"/>
                <a:cs typeface="Arial"/>
              </a:rPr>
              <a:t>to a recorded trade</a:t>
            </a:r>
          </a:p>
        </p:txBody>
      </p:sp>
      <p:sp>
        <p:nvSpPr>
          <p:cNvPr id="4" name="Agriculture + textiles&#10;Android seller app · Web marketp">
            <a:extLst xmlns:a="http://schemas.openxmlformats.org/drawingml/2006/main">
              <a:ext uri="{FF2B5EF4-FFF2-40B4-BE49-F238E27FC236}">
                <a16:creationId xmlns:a16="http://schemas.microsoft.com/office/drawing/2014/main" id="{39132751-6402-4474-B306-0ED8FDD889E3}"/>
              </a:ext>
            </a:extLst>
          </p:cNvPr>
          <p:cNvSpPr>
            <a:spLocks xmlns:a="http://schemas.openxmlformats.org/drawingml/2006/main" noGrp="1"/>
          </p:cNvSpPr>
          <p:nvPr/>
        </p:nvSpPr>
        <p:spPr>
          <a:xfrm xmlns:a="http://schemas.openxmlformats.org/drawingml/2006/main">
            <a:off x="609600" y="3829050"/>
            <a:ext cx="600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0">
                <a:solidFill>
                  <a:srgbClr val="D7E0D9"/>
                </a:solidFill>
                <a:latin typeface="Arial"/>
                <a:ea typeface="Arial"/>
                <a:cs typeface="Arial"/>
              </a:defRPr>
            </a:defPPr>
          </a:lstStyle>
          <a:p xmlns:a="http://schemas.openxmlformats.org/drawingml/2006/main">
            <a:pPr algn="l">
              <a:defRPr sz="2175" b="0">
                <a:solidFill>
                  <a:srgbClr val="D7E0D9"/>
                </a:solidFill>
                <a:latin typeface="Arial"/>
                <a:ea typeface="Arial"/>
                <a:cs typeface="Arial"/>
              </a:defRPr>
            </a:pPr>
            <a:r>
              <a:rPr sz="2175" b="0">
                <a:solidFill>
                  <a:srgbClr val="D7E0D9"/>
                </a:solidFill>
                <a:latin typeface="Arial"/>
                <a:ea typeface="Arial"/>
                <a:cs typeface="Arial"/>
              </a:rPr>
              <a:t>Agriculture + textiles</a:t>
            </a:r>
          </a:p>
          <a:p xmlns:a="http://schemas.openxmlformats.org/drawingml/2006/main">
            <a:pPr algn="l">
              <a:defRPr sz="2175" b="0">
                <a:solidFill>
                  <a:srgbClr val="D7E0D9"/>
                </a:solidFill>
                <a:latin typeface="Arial"/>
                <a:ea typeface="Arial"/>
                <a:cs typeface="Arial"/>
              </a:defRPr>
            </a:pPr>
            <a:r>
              <a:rPr sz="2175" b="0">
                <a:solidFill>
                  <a:srgbClr val="D7E0D9"/>
                </a:solidFill>
                <a:latin typeface="Arial"/>
                <a:ea typeface="Arial"/>
                <a:cs typeface="Arial"/>
              </a:rPr>
              <a:t>Android seller app · Web marketplace</a:t>
            </a:r>
          </a:p>
        </p:txBody>
      </p:sp>
      <p:sp>
        <p:nvSpPr>
          <p:cNvPr id="5" name="FACULTY PROJECT REVIEW  /  OCTOBER 2026">
            <a:extLst xmlns:a="http://schemas.openxmlformats.org/drawingml/2006/main">
              <a:ext uri="{FF2B5EF4-FFF2-40B4-BE49-F238E27FC236}">
                <a16:creationId xmlns:a16="http://schemas.microsoft.com/office/drawing/2014/main" id="{987FCE9B-EE6C-4CD9-92FA-4FE879413DBB}"/>
              </a:ext>
            </a:extLst>
          </p:cNvPr>
          <p:cNvSpPr>
            <a:spLocks xmlns:a="http://schemas.openxmlformats.org/drawingml/2006/main" noGrp="1"/>
          </p:cNvSpPr>
          <p:nvPr/>
        </p:nvSpPr>
        <p:spPr>
          <a:xfrm xmlns:a="http://schemas.openxmlformats.org/drawingml/2006/main">
            <a:off x="609600" y="594360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425" b="0">
                <a:solidFill>
                  <a:srgbClr val="B9C7BE"/>
                </a:solidFill>
                <a:latin typeface="Arial"/>
                <a:ea typeface="Arial"/>
                <a:cs typeface="Arial"/>
              </a:defRPr>
            </a:defPPr>
          </a:lstStyle>
          <a:p xmlns:a="http://schemas.openxmlformats.org/drawingml/2006/main">
            <a:pPr algn="l">
              <a:defRPr sz="1425" b="0">
                <a:solidFill>
                  <a:srgbClr val="B9C7BE"/>
                </a:solidFill>
                <a:latin typeface="Arial"/>
                <a:ea typeface="Arial"/>
                <a:cs typeface="Arial"/>
              </a:defRPr>
            </a:pPr>
            <a:r>
              <a:rPr sz="1425" b="0">
                <a:solidFill>
                  <a:srgbClr val="B9C7BE"/>
                </a:solidFill>
                <a:latin typeface="Arial"/>
                <a:ea typeface="Arial"/>
                <a:cs typeface="Arial"/>
              </a:rPr>
              <a:t>FACULTY PROJECT REVIEW  /  OCTOBER 2026</a:t>
            </a:r>
          </a:p>
        </p:txBody>
      </p:sp>
      <p:pic>
        <p:nvPicPr>
          <p:cNvPr id="6" name="">
            <a:extLst xmlns:a="http://schemas.openxmlformats.org/drawingml/2006/main">
              <a:ext uri="{FF2B5EF4-FFF2-40B4-BE49-F238E27FC236}">
                <a16:creationId xmlns:a16="http://schemas.microsoft.com/office/drawing/2014/main" id="{41ED9EA5-CC22-456D-B7E6-E5F2E61AB009}"/>
              </a:ext>
            </a:extLst>
          </p:cNvPr>
          <p:cNvPicPr>
            <a:picLocks xmlns:a="http://schemas.openxmlformats.org/drawingml/2006/main" noChangeAspect="1"/>
          </p:cNvPicPr>
          <p:nvPr/>
        </p:nvPicPr>
        <p:blipFill>
          <a:blip xmlns:r="http://schemas.openxmlformats.org/officeDocument/2006/relationships" xmlns:a="http://schemas.openxmlformats.org/drawingml/2006/main" r:embed="R17b33d54ee584da4"/>
          <a:stretch xmlns:a="http://schemas.openxmlformats.org/drawingml/2006/main"/>
        </p:blipFill>
        <p:spPr>
          <a:xfrm xmlns:a="http://schemas.openxmlformats.org/drawingml/2006/main">
            <a:off x="8358188" y="1552575"/>
            <a:ext cx="2238375" cy="22383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5026DBB-8F2B-48B7-A6B9-C4957C2CB6A9}"/>
              </a:ext>
            </a:extLst>
          </p:cNvPr>
          <p:cNvPicPr>
            <a:picLocks xmlns:a="http://schemas.openxmlformats.org/drawingml/2006/main" noChangeAspect="1"/>
          </p:cNvPicPr>
          <p:nvPr/>
        </p:nvPicPr>
        <p:blipFill>
          <a:blip xmlns:r="http://schemas.openxmlformats.org/officeDocument/2006/relationships" xmlns:a="http://schemas.openxmlformats.org/drawingml/2006/main" r:embed="Rb1554a97dbb649f5"/>
          <a:stretch xmlns:a="http://schemas.openxmlformats.org/drawingml/2006/main"/>
        </p:blipFill>
        <p:spPr>
          <a:xfrm xmlns:a="http://schemas.openxmlformats.org/drawingml/2006/main">
            <a:off x="8539163" y="3952875"/>
            <a:ext cx="1876425" cy="1876425"/>
          </a:xfrm>
          <a:prstGeom xmlns:a="http://schemas.openxmlformats.org/drawingml/2006/main" prst="rect">
            <a:avLst/>
          </a:prstGeom>
        </p:spPr>
      </p:pic>
    </p:spTree>
    <p:extLst>
      <p:ext uri="{BB962C8B-B14F-4D97-AF65-F5344CB8AC3E}">
        <p14:creationId xmlns:p14="http://schemas.microsoft.com/office/powerpoint/2010/main" val="11793258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Problem statement">
            <a:extLst xmlns:a="http://schemas.openxmlformats.org/drawingml/2006/main">
              <a:ext uri="{FF2B5EF4-FFF2-40B4-BE49-F238E27FC236}">
                <a16:creationId xmlns:a16="http://schemas.microsoft.com/office/drawing/2014/main" id="{D024CAF9-601C-46B1-9449-AB547BD6849F}"/>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Problem statement</a:t>
            </a:r>
          </a:p>
        </p:txBody>
      </p:sp>
      <p:sp>
        <p:nvSpPr>
          <p:cNvPr id="2" name="02">
            <a:extLst xmlns:a="http://schemas.openxmlformats.org/drawingml/2006/main">
              <a:ext uri="{FF2B5EF4-FFF2-40B4-BE49-F238E27FC236}">
                <a16:creationId xmlns:a16="http://schemas.microsoft.com/office/drawing/2014/main" id="{0DE5D8C1-213F-4DBA-A085-EDE6A77D105D}"/>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02</a:t>
            </a:r>
          </a:p>
        </p:txBody>
      </p:sp>
      <p:sp>
        <p:nvSpPr>
          <p:cNvPr id="3" name="How can small sellers turn stock and photos into&#10;a trad">
            <a:extLst xmlns:a="http://schemas.openxmlformats.org/drawingml/2006/main">
              <a:ext uri="{FF2B5EF4-FFF2-40B4-BE49-F238E27FC236}">
                <a16:creationId xmlns:a16="http://schemas.microsoft.com/office/drawing/2014/main" id="{132A8362-3D36-4BD2-AC9A-40997C30D926}"/>
              </a:ext>
            </a:extLst>
          </p:cNvPr>
          <p:cNvSpPr>
            <a:spLocks xmlns:a="http://schemas.openxmlformats.org/drawingml/2006/main" noGrp="1"/>
          </p:cNvSpPr>
          <p:nvPr/>
        </p:nvSpPr>
        <p:spPr>
          <a:xfrm xmlns:a="http://schemas.openxmlformats.org/drawingml/2006/main">
            <a:off x="609600" y="1533525"/>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700" b="1">
                <a:solidFill>
                  <a:srgbClr val="173E33"/>
                </a:solidFill>
                <a:latin typeface="Arial"/>
                <a:ea typeface="Arial"/>
                <a:cs typeface="Arial"/>
              </a:defRPr>
            </a:defPPr>
          </a:lstStyle>
          <a:p xmlns:a="http://schemas.openxmlformats.org/drawingml/2006/main">
            <a:pPr algn="l">
              <a:defRPr sz="2700" b="1">
                <a:solidFill>
                  <a:srgbClr val="173E33"/>
                </a:solidFill>
                <a:latin typeface="Arial"/>
                <a:ea typeface="Arial"/>
                <a:cs typeface="Arial"/>
              </a:defRPr>
            </a:pPr>
            <a:r>
              <a:rPr sz="2700" b="1">
                <a:solidFill>
                  <a:srgbClr val="173E33"/>
                </a:solidFill>
                <a:latin typeface="Arial"/>
                <a:ea typeface="Arial"/>
                <a:cs typeface="Arial"/>
              </a:rPr>
              <a:t>How can small sellers turn stock and photos into</a:t>
            </a:r>
          </a:p>
          <a:p xmlns:a="http://schemas.openxmlformats.org/drawingml/2006/main">
            <a:pPr algn="l">
              <a:defRPr sz="2700" b="1">
                <a:solidFill>
                  <a:srgbClr val="173E33"/>
                </a:solidFill>
                <a:latin typeface="Arial"/>
                <a:ea typeface="Arial"/>
                <a:cs typeface="Arial"/>
              </a:defRPr>
            </a:pPr>
            <a:r>
              <a:rPr sz="2700" b="1">
                <a:solidFill>
                  <a:srgbClr val="173E33"/>
                </a:solidFill>
                <a:latin typeface="Arial"/>
                <a:ea typeface="Arial"/>
                <a:cs typeface="Arial"/>
              </a:rPr>
              <a:t>a trade a buyer can inspect and complete?</a:t>
            </a:r>
          </a:p>
        </p:txBody>
      </p:sp>
      <p:sp>
        <p:nvSpPr>
          <p:cNvPr id="4" name="Quality is difficult to compare">
            <a:extLst xmlns:a="http://schemas.openxmlformats.org/drawingml/2006/main">
              <a:ext uri="{FF2B5EF4-FFF2-40B4-BE49-F238E27FC236}">
                <a16:creationId xmlns:a16="http://schemas.microsoft.com/office/drawing/2014/main" id="{5D013BEB-ADDF-4A30-9239-6C7205B7B301}"/>
              </a:ext>
            </a:extLst>
          </p:cNvPr>
          <p:cNvSpPr>
            <a:spLocks xmlns:a="http://schemas.openxmlformats.org/drawingml/2006/main" noGrp="1"/>
          </p:cNvSpPr>
          <p:nvPr/>
        </p:nvSpPr>
        <p:spPr>
          <a:xfrm xmlns:a="http://schemas.openxmlformats.org/drawingml/2006/main">
            <a:off x="609600" y="2933700"/>
            <a:ext cx="1042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Quality is difficult to compare</a:t>
            </a:r>
          </a:p>
        </p:txBody>
      </p:sp>
      <p:sp>
        <p:nvSpPr>
          <p:cNvPr id="5" name="A photograph needs a structured quality report and a re">
            <a:extLst xmlns:a="http://schemas.openxmlformats.org/drawingml/2006/main">
              <a:ext uri="{FF2B5EF4-FFF2-40B4-BE49-F238E27FC236}">
                <a16:creationId xmlns:a16="http://schemas.microsoft.com/office/drawing/2014/main" id="{C8EB9F0D-E564-4649-BEAA-F14DF9F081DB}"/>
              </a:ext>
            </a:extLst>
          </p:cNvPr>
          <p:cNvSpPr>
            <a:spLocks xmlns:a="http://schemas.openxmlformats.org/drawingml/2006/main" noGrp="1"/>
          </p:cNvSpPr>
          <p:nvPr/>
        </p:nvSpPr>
        <p:spPr>
          <a:xfrm xmlns:a="http://schemas.openxmlformats.org/drawingml/2006/main">
            <a:off x="609600" y="3343275"/>
            <a:ext cx="10429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A photograph needs a structured quality report and a review path.</a:t>
            </a:r>
          </a:p>
        </p:txBody>
      </p:sp>
      <p:sp>
        <p:nvSpPr>
          <p:cNvPr id="6" name="Price needs an explanation">
            <a:extLst xmlns:a="http://schemas.openxmlformats.org/drawingml/2006/main">
              <a:ext uri="{FF2B5EF4-FFF2-40B4-BE49-F238E27FC236}">
                <a16:creationId xmlns:a16="http://schemas.microsoft.com/office/drawing/2014/main" id="{9426D557-7BB5-4BB7-BB52-A7088D09EF3B}"/>
              </a:ext>
            </a:extLst>
          </p:cNvPr>
          <p:cNvSpPr>
            <a:spLocks xmlns:a="http://schemas.openxmlformats.org/drawingml/2006/main" noGrp="1"/>
          </p:cNvSpPr>
          <p:nvPr/>
        </p:nvSpPr>
        <p:spPr>
          <a:xfrm xmlns:a="http://schemas.openxmlformats.org/drawingml/2006/main">
            <a:off x="609600" y="3914775"/>
            <a:ext cx="1042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Price needs an explanation</a:t>
            </a:r>
          </a:p>
        </p:txBody>
      </p:sp>
      <p:sp>
        <p:nvSpPr>
          <p:cNvPr id="7" name="Grade and order size should visibly change the estimate">
            <a:extLst xmlns:a="http://schemas.openxmlformats.org/drawingml/2006/main">
              <a:ext uri="{FF2B5EF4-FFF2-40B4-BE49-F238E27FC236}">
                <a16:creationId xmlns:a16="http://schemas.microsoft.com/office/drawing/2014/main" id="{FD326DD5-5173-48F2-9AB6-05DA66266CA3}"/>
              </a:ext>
            </a:extLst>
          </p:cNvPr>
          <p:cNvSpPr>
            <a:spLocks xmlns:a="http://schemas.openxmlformats.org/drawingml/2006/main" noGrp="1"/>
          </p:cNvSpPr>
          <p:nvPr/>
        </p:nvSpPr>
        <p:spPr>
          <a:xfrm xmlns:a="http://schemas.openxmlformats.org/drawingml/2006/main">
            <a:off x="609600" y="4324350"/>
            <a:ext cx="10429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Grade and order size should visibly change the estimate.</a:t>
            </a:r>
          </a:p>
        </p:txBody>
      </p:sp>
      <p:sp>
        <p:nvSpPr>
          <p:cNvPr id="8" name="Bulk demand exceeds one listing">
            <a:extLst xmlns:a="http://schemas.openxmlformats.org/drawingml/2006/main">
              <a:ext uri="{FF2B5EF4-FFF2-40B4-BE49-F238E27FC236}">
                <a16:creationId xmlns:a16="http://schemas.microsoft.com/office/drawing/2014/main" id="{6879FAC5-7068-4011-94BB-6EDF72B41846}"/>
              </a:ext>
            </a:extLst>
          </p:cNvPr>
          <p:cNvSpPr>
            <a:spLocks xmlns:a="http://schemas.openxmlformats.org/drawingml/2006/main" noGrp="1"/>
          </p:cNvSpPr>
          <p:nvPr/>
        </p:nvSpPr>
        <p:spPr>
          <a:xfrm xmlns:a="http://schemas.openxmlformats.org/drawingml/2006/main">
            <a:off x="609600" y="4895850"/>
            <a:ext cx="1042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Bulk demand exceeds one listing</a:t>
            </a:r>
          </a:p>
        </p:txBody>
      </p:sp>
      <p:sp>
        <p:nvSpPr>
          <p:cNvPr id="9" name="A requirement may need stock from several sellers.">
            <a:extLst xmlns:a="http://schemas.openxmlformats.org/drawingml/2006/main">
              <a:ext uri="{FF2B5EF4-FFF2-40B4-BE49-F238E27FC236}">
                <a16:creationId xmlns:a16="http://schemas.microsoft.com/office/drawing/2014/main" id="{C7E15C29-1F67-4798-9994-370A33C57B60}"/>
              </a:ext>
            </a:extLst>
          </p:cNvPr>
          <p:cNvSpPr>
            <a:spLocks xmlns:a="http://schemas.openxmlformats.org/drawingml/2006/main" noGrp="1"/>
          </p:cNvSpPr>
          <p:nvPr/>
        </p:nvSpPr>
        <p:spPr>
          <a:xfrm xmlns:a="http://schemas.openxmlformats.org/drawingml/2006/main">
            <a:off x="609600" y="5305425"/>
            <a:ext cx="10429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A requirement may need stock from several sellers.</a:t>
            </a:r>
          </a:p>
        </p:txBody>
      </p:sp>
    </p:spTree>
    <p:extLst>
      <p:ext uri="{BB962C8B-B14F-4D97-AF65-F5344CB8AC3E}">
        <p14:creationId xmlns:p14="http://schemas.microsoft.com/office/powerpoint/2010/main" val="1411860845"/>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Literature survey">
            <a:extLst xmlns:a="http://schemas.openxmlformats.org/drawingml/2006/main">
              <a:ext uri="{FF2B5EF4-FFF2-40B4-BE49-F238E27FC236}">
                <a16:creationId xmlns:a16="http://schemas.microsoft.com/office/drawing/2014/main" id="{72CA121B-BA8C-421A-8021-8407304F97DD}"/>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Literature survey</a:t>
            </a:r>
          </a:p>
        </p:txBody>
      </p:sp>
      <p:sp>
        <p:nvSpPr>
          <p:cNvPr id="2" name="03">
            <a:extLst xmlns:a="http://schemas.openxmlformats.org/drawingml/2006/main">
              <a:ext uri="{FF2B5EF4-FFF2-40B4-BE49-F238E27FC236}">
                <a16:creationId xmlns:a16="http://schemas.microsoft.com/office/drawing/2014/main" id="{A4E174B0-C01B-42B3-9BE9-4148D6B1681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6DA0FC1F-1B95-4773-A183-EF6E4D405B99}"/>
              </a:ext>
            </a:extLst>
          </p:cNvPr>
          <p:cNvGraphicFramePr/>
          <p:nvPr/>
        </p:nvGraphicFramePr>
        <p:xfrm>
          <a:off xmlns:a="http://schemas.openxmlformats.org/drawingml/2006/main" x="609600" y="1533525"/>
          <a:ext xmlns:a="http://schemas.openxmlformats.org/drawingml/2006/main" cx="10972800" cy="3905250"/>
        </p:xfrm>
        <a:graphic xmlns:a="http://schemas.openxmlformats.org/drawingml/2006/main">
          <a:graphicData uri="http://schemas.openxmlformats.org/drawingml/2006/table">
            <a:tbl>
              <a:tblPr/>
              <a:tblGrid>
                <a:gridCol w="2762250"/>
                <a:gridCol w="3714750"/>
                <a:gridCol w="4495800"/>
              </a:tblGrid>
              <a:tr h="976313">
                <a:tc>
                  <a:txBody>
                    <a:bodyPr/>
                    <a:lstStyle/>
                    <a:p>
                      <a:r>
                        <a:rPr sz="1800" b="1">
                          <a:solidFill>
                            <a:srgbClr val="F7F5EF"/>
                          </a:solidFill>
                          <a:latin typeface="Arial"/>
                          <a:ea typeface="Arial"/>
                          <a:cs typeface="Arial"/>
                        </a:rPr>
                        <a:t>Work / source</a:t>
                      </a:r>
                    </a:p>
                  </a:txBody>
                  <a:tcPr marL="133350" marR="133350" marT="76200" marB="66675" anchor="ctr">
                    <a:solidFill>
                      <a:srgbClr val="173E33"/>
                    </a:solidFill>
                  </a:tcPr>
                </a:tc>
                <a:tc>
                  <a:txBody>
                    <a:bodyPr/>
                    <a:lstStyle/>
                    <a:p>
                      <a:r>
                        <a:rPr sz="1800" b="1">
                          <a:solidFill>
                            <a:srgbClr val="F7F5EF"/>
                          </a:solidFill>
                          <a:latin typeface="Arial"/>
                          <a:ea typeface="Arial"/>
                          <a:cs typeface="Arial"/>
                        </a:rPr>
                        <a:t>Contribution</a:t>
                      </a:r>
                    </a:p>
                  </a:txBody>
                  <a:tcPr marL="133350" marR="133350" marT="76200" marB="66675" anchor="ctr">
                    <a:solidFill>
                      <a:srgbClr val="173E33"/>
                    </a:solidFill>
                  </a:tcPr>
                </a:tc>
                <a:tc>
                  <a:txBody>
                    <a:bodyPr/>
                    <a:lstStyle/>
                    <a:p>
                      <a:r>
                        <a:rPr sz="1800" b="1">
                          <a:solidFill>
                            <a:srgbClr val="F7F5EF"/>
                          </a:solidFill>
                          <a:latin typeface="Arial"/>
                          <a:ea typeface="Arial"/>
                          <a:cs typeface="Arial"/>
                        </a:rPr>
                        <a:t>Connection to this project</a:t>
                      </a:r>
                    </a:p>
                  </a:txBody>
                  <a:tcPr marL="133350" marR="133350" marT="76200" marB="66675" anchor="ctr">
                    <a:solidFill>
                      <a:srgbClr val="173E33"/>
                    </a:solidFill>
                  </a:tcPr>
                </a:tc>
              </a:tr>
              <a:tr h="976313">
                <a:tc>
                  <a:txBody>
                    <a:bodyPr/>
                    <a:lstStyle/>
                    <a:p>
                      <a:r>
                        <a:rPr sz="1800">
                          <a:solidFill>
                            <a:srgbClr val="173E33"/>
                          </a:solidFill>
                          <a:latin typeface="Arial"/>
                          <a:ea typeface="Arial"/>
                          <a:cs typeface="Arial"/>
                        </a:rPr>
                        <a:t>eNAM · official platform</a:t>
                      </a:r>
                    </a:p>
                  </a:txBody>
                  <a:tcPr marL="133350" marR="133350" marT="76200" marB="66675" anchor="ctr">
                    <a:solidFill>
                      <a:srgbClr val="F7F5EF"/>
                    </a:solidFill>
                  </a:tcPr>
                </a:tc>
                <a:tc>
                  <a:txBody>
                    <a:bodyPr/>
                    <a:lstStyle/>
                    <a:p>
                      <a:r>
                        <a:rPr sz="1800">
                          <a:solidFill>
                            <a:srgbClr val="173E33"/>
                          </a:solidFill>
                          <a:latin typeface="Arial"/>
                          <a:ea typeface="Arial"/>
                          <a:cs typeface="Arial"/>
                        </a:rPr>
                        <a:t>Online agricultural trading and assaying</a:t>
                      </a:r>
                    </a:p>
                  </a:txBody>
                  <a:tcPr marL="133350" marR="133350" marT="76200" marB="66675" anchor="ctr">
                    <a:solidFill>
                      <a:srgbClr val="F7F5EF"/>
                    </a:solidFill>
                  </a:tcPr>
                </a:tc>
                <a:tc>
                  <a:txBody>
                    <a:bodyPr/>
                    <a:lstStyle/>
                    <a:p>
                      <a:r>
                        <a:rPr sz="1800">
                          <a:solidFill>
                            <a:srgbClr val="173E33"/>
                          </a:solidFill>
                          <a:latin typeface="Arial"/>
                          <a:ea typeface="Arial"/>
                          <a:cs typeface="Arial"/>
                        </a:rPr>
                        <a:t>Quality evidence can inform a trading decision</a:t>
                      </a:r>
                    </a:p>
                  </a:txBody>
                  <a:tcPr marL="133350" marR="133350" marT="76200" marB="66675" anchor="ctr">
                    <a:solidFill>
                      <a:srgbClr val="F7F5EF"/>
                    </a:solidFill>
                  </a:tcPr>
                </a:tc>
              </a:tr>
              <a:tr h="976313">
                <a:tc>
                  <a:txBody>
                    <a:bodyPr/>
                    <a:lstStyle/>
                    <a:p>
                      <a:r>
                        <a:rPr sz="1800">
                          <a:solidFill>
                            <a:srgbClr val="173E33"/>
                          </a:solidFill>
                          <a:latin typeface="Arial"/>
                          <a:ea typeface="Arial"/>
                          <a:cs typeface="Arial"/>
                        </a:rPr>
                        <a:t>Howard et al. · ICCV 2019</a:t>
                      </a:r>
                    </a:p>
                  </a:txBody>
                  <a:tcPr marL="133350" marR="133350" marT="76200" marB="66675" anchor="ctr">
                    <a:solidFill>
                      <a:srgbClr val="F7F5EF"/>
                    </a:solidFill>
                  </a:tcPr>
                </a:tc>
                <a:tc>
                  <a:txBody>
                    <a:bodyPr/>
                    <a:lstStyle/>
                    <a:p>
                      <a:r>
                        <a:rPr sz="1800">
                          <a:solidFill>
                            <a:srgbClr val="173E33"/>
                          </a:solidFill>
                          <a:latin typeface="Arial"/>
                          <a:ea typeface="Arial"/>
                          <a:cs typeface="Arial"/>
                        </a:rPr>
                        <a:t>MobileNetV3 efficient classification</a:t>
                      </a:r>
                    </a:p>
                  </a:txBody>
                  <a:tcPr marL="133350" marR="133350" marT="76200" marB="66675" anchor="ctr">
                    <a:solidFill>
                      <a:srgbClr val="F7F5EF"/>
                    </a:solidFill>
                  </a:tcPr>
                </a:tc>
                <a:tc>
                  <a:txBody>
                    <a:bodyPr/>
                    <a:lstStyle/>
                    <a:p>
                      <a:r>
                        <a:rPr sz="1800">
                          <a:solidFill>
                            <a:srgbClr val="173E33"/>
                          </a:solidFill>
                          <a:latin typeface="Arial"/>
                          <a:ea typeface="Arial"/>
                          <a:cs typeface="Arial"/>
                        </a:rPr>
                        <a:t>Small backbone used for kernels and fabric patches</a:t>
                      </a:r>
                    </a:p>
                  </a:txBody>
                  <a:tcPr marL="133350" marR="133350" marT="76200" marB="66675" anchor="ctr">
                    <a:solidFill>
                      <a:srgbClr val="F7F5EF"/>
                    </a:solidFill>
                  </a:tcPr>
                </a:tc>
              </a:tr>
              <a:tr h="976313">
                <a:tc>
                  <a:txBody>
                    <a:bodyPr/>
                    <a:lstStyle/>
                    <a:p>
                      <a:r>
                        <a:rPr sz="1800">
                          <a:solidFill>
                            <a:srgbClr val="173E33"/>
                          </a:solidFill>
                          <a:latin typeface="Arial"/>
                          <a:ea typeface="Arial"/>
                          <a:cs typeface="Arial"/>
                        </a:rPr>
                        <a:t>Fan et al. · CVPR 2022</a:t>
                      </a:r>
                    </a:p>
                  </a:txBody>
                  <a:tcPr marL="133350" marR="133350" marT="76200" marB="66675" anchor="ctr">
                    <a:solidFill>
                      <a:srgbClr val="F7F5EF"/>
                    </a:solidFill>
                  </a:tcPr>
                </a:tc>
                <a:tc>
                  <a:txBody>
                    <a:bodyPr/>
                    <a:lstStyle/>
                    <a:p>
                      <a:r>
                        <a:rPr sz="1800">
                          <a:solidFill>
                            <a:srgbClr val="173E33"/>
                          </a:solidFill>
                          <a:latin typeface="Arial"/>
                          <a:ea typeface="Arial"/>
                          <a:cs typeface="Arial"/>
                        </a:rPr>
                        <a:t>GrainSpace: fine-grained cereal recognition</a:t>
                      </a:r>
                    </a:p>
                  </a:txBody>
                  <a:tcPr marL="133350" marR="133350" marT="76200" marB="66675" anchor="ctr">
                    <a:solidFill>
                      <a:srgbClr val="F7F5EF"/>
                    </a:solidFill>
                  </a:tcPr>
                </a:tc>
                <a:tc>
                  <a:txBody>
                    <a:bodyPr/>
                    <a:lstStyle/>
                    <a:p>
                      <a:r>
                        <a:rPr sz="1800">
                          <a:solidFill>
                            <a:srgbClr val="173E33"/>
                          </a:solidFill>
                          <a:latin typeface="Arial"/>
                          <a:ea typeface="Arial"/>
                          <a:cs typeface="Arial"/>
                        </a:rPr>
                        <a:t>Domain variation motivates independent photo checks</a:t>
                      </a:r>
                    </a:p>
                  </a:txBody>
                  <a:tcPr marL="133350" marR="133350" marT="76200" marB="66675" anchor="ctr">
                    <a:solidFill>
                      <a:srgbClr val="F7F5EF"/>
                    </a:solidFill>
                  </a:tcPr>
                </a:tc>
              </a:tr>
            </a:tbl>
          </a:graphicData>
        </a:graphic>
      </p:graphicFrame>
      <p:sp>
        <p:nvSpPr>
          <p:cNvPr id="4" name="Related work informs the design; published benchmark sc">
            <a:extLst xmlns:a="http://schemas.openxmlformats.org/drawingml/2006/main">
              <a:ext uri="{FF2B5EF4-FFF2-40B4-BE49-F238E27FC236}">
                <a16:creationId xmlns:a16="http://schemas.microsoft.com/office/drawing/2014/main" id="{A9E2171E-41FE-4F9C-BAB5-255A211DE16A}"/>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Related work informs the design; published benchmark scores are not reported as YieldnYarn results.</a:t>
            </a:r>
          </a:p>
        </p:txBody>
      </p:sp>
    </p:spTree>
    <p:extLst>
      <p:ext uri="{BB962C8B-B14F-4D97-AF65-F5344CB8AC3E}">
        <p14:creationId xmlns:p14="http://schemas.microsoft.com/office/powerpoint/2010/main" val="109877328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Literature survey — defect inspection">
            <a:extLst xmlns:a="http://schemas.openxmlformats.org/drawingml/2006/main">
              <a:ext uri="{FF2B5EF4-FFF2-40B4-BE49-F238E27FC236}">
                <a16:creationId xmlns:a16="http://schemas.microsoft.com/office/drawing/2014/main" id="{49A336AE-8010-4EBB-B26E-FA4AEFDADBA6}"/>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Literature survey — defect inspection</a:t>
            </a:r>
          </a:p>
        </p:txBody>
      </p:sp>
      <p:sp>
        <p:nvSpPr>
          <p:cNvPr id="2" name="04">
            <a:extLst xmlns:a="http://schemas.openxmlformats.org/drawingml/2006/main">
              <a:ext uri="{FF2B5EF4-FFF2-40B4-BE49-F238E27FC236}">
                <a16:creationId xmlns:a16="http://schemas.microsoft.com/office/drawing/2014/main" id="{AAC10BC2-D48E-47E9-8BD2-082354D890E7}"/>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2C40E2DC-E8BD-473E-95E6-A4C561D26673}"/>
              </a:ext>
            </a:extLst>
          </p:cNvPr>
          <p:cNvGraphicFramePr/>
          <p:nvPr/>
        </p:nvGraphicFramePr>
        <p:xfrm>
          <a:off xmlns:a="http://schemas.openxmlformats.org/drawingml/2006/main" x="609600" y="1619250"/>
          <a:ext xmlns:a="http://schemas.openxmlformats.org/drawingml/2006/main" cx="10972800" cy="3143250"/>
        </p:xfrm>
        <a:graphic xmlns:a="http://schemas.openxmlformats.org/drawingml/2006/main">
          <a:graphicData uri="http://schemas.openxmlformats.org/drawingml/2006/table">
            <a:tbl>
              <a:tblPr/>
              <a:tblGrid>
                <a:gridCol w="3048000"/>
                <a:gridCol w="4000500"/>
                <a:gridCol w="3924300"/>
              </a:tblGrid>
              <a:tr h="1047750">
                <a:tc>
                  <a:txBody>
                    <a:bodyPr/>
                    <a:lstStyle/>
                    <a:p>
                      <a:r>
                        <a:rPr sz="1875" b="1">
                          <a:solidFill>
                            <a:srgbClr val="F7F5EF"/>
                          </a:solidFill>
                          <a:latin typeface="Arial"/>
                          <a:ea typeface="Arial"/>
                          <a:cs typeface="Arial"/>
                        </a:rPr>
                        <a:t>Study</a:t>
                      </a:r>
                    </a:p>
                  </a:txBody>
                  <a:tcPr marL="133350" marR="133350" marT="76200" marB="66675" anchor="ctr">
                    <a:solidFill>
                      <a:srgbClr val="173E33"/>
                    </a:solidFill>
                  </a:tcPr>
                </a:tc>
                <a:tc>
                  <a:txBody>
                    <a:bodyPr/>
                    <a:lstStyle/>
                    <a:p>
                      <a:r>
                        <a:rPr sz="1875" b="1">
                          <a:solidFill>
                            <a:srgbClr val="F7F5EF"/>
                          </a:solidFill>
                          <a:latin typeface="Arial"/>
                          <a:ea typeface="Arial"/>
                          <a:cs typeface="Arial"/>
                        </a:rPr>
                        <a:t>What it contributes</a:t>
                      </a:r>
                    </a:p>
                  </a:txBody>
                  <a:tcPr marL="133350" marR="133350" marT="76200" marB="66675" anchor="ctr">
                    <a:solidFill>
                      <a:srgbClr val="173E33"/>
                    </a:solidFill>
                  </a:tcPr>
                </a:tc>
                <a:tc>
                  <a:txBody>
                    <a:bodyPr/>
                    <a:lstStyle/>
                    <a:p>
                      <a:r>
                        <a:rPr sz="1875" b="1">
                          <a:solidFill>
                            <a:srgbClr val="F7F5EF"/>
                          </a:solidFill>
                          <a:latin typeface="Arial"/>
                          <a:ea typeface="Arial"/>
                          <a:cs typeface="Arial"/>
                        </a:rPr>
                        <a:t>Use and boundary here</a:t>
                      </a:r>
                    </a:p>
                  </a:txBody>
                  <a:tcPr marL="133350" marR="133350" marT="76200" marB="66675" anchor="ctr">
                    <a:solidFill>
                      <a:srgbClr val="173E33"/>
                    </a:solidFill>
                  </a:tcPr>
                </a:tc>
              </a:tr>
              <a:tr h="1047750">
                <a:tc>
                  <a:txBody>
                    <a:bodyPr/>
                    <a:lstStyle/>
                    <a:p>
                      <a:r>
                        <a:rPr sz="1875">
                          <a:solidFill>
                            <a:srgbClr val="173E33"/>
                          </a:solidFill>
                          <a:latin typeface="Arial"/>
                          <a:ea typeface="Arial"/>
                          <a:cs typeface="Arial"/>
                        </a:rPr>
                        <a:t>Bergmann et al.</a:t>
                      </a:r>
                    </a:p>
                    <a:p>
                      <a:r>
                        <a:rPr sz="1875">
                          <a:solidFill>
                            <a:srgbClr val="173E33"/>
                          </a:solidFill>
                          <a:latin typeface="Arial"/>
                          <a:ea typeface="Arial"/>
                          <a:cs typeface="Arial"/>
                        </a:rPr>
                        <a:t>CVPR 2019 · MVTec AD</a:t>
                      </a:r>
                    </a:p>
                  </a:txBody>
                  <a:tcPr marL="133350" marR="133350" marT="76200" marB="66675" anchor="ctr">
                    <a:solidFill>
                      <a:srgbClr val="F7F5EF"/>
                    </a:solidFill>
                  </a:tcPr>
                </a:tc>
                <a:tc>
                  <a:txBody>
                    <a:bodyPr/>
                    <a:lstStyle/>
                    <a:p>
                      <a:r>
                        <a:rPr sz="1875">
                          <a:solidFill>
                            <a:srgbClr val="173E33"/>
                          </a:solidFill>
                          <a:latin typeface="Arial"/>
                          <a:ea typeface="Arial"/>
                          <a:cs typeface="Arial"/>
                        </a:rPr>
                        <a:t>Real industrial anomaly benchmark with detailed defect labels</a:t>
                      </a:r>
                    </a:p>
                  </a:txBody>
                  <a:tcPr marL="133350" marR="133350" marT="76200" marB="66675" anchor="ctr">
                    <a:solidFill>
                      <a:srgbClr val="F7F5EF"/>
                    </a:solidFill>
                  </a:tcPr>
                </a:tc>
                <a:tc>
                  <a:txBody>
                    <a:bodyPr/>
                    <a:lstStyle/>
                    <a:p>
                      <a:r>
                        <a:rPr sz="1875">
                          <a:solidFill>
                            <a:srgbClr val="173E33"/>
                          </a:solidFill>
                          <a:latin typeface="Arial"/>
                          <a:ea typeface="Arial"/>
                          <a:cs typeface="Arial"/>
                        </a:rPr>
                        <a:t>Literature reference; not the project training set</a:t>
                      </a:r>
                    </a:p>
                  </a:txBody>
                  <a:tcPr marL="133350" marR="133350" marT="76200" marB="66675" anchor="ctr">
                    <a:solidFill>
                      <a:srgbClr val="F7F5EF"/>
                    </a:solidFill>
                  </a:tcPr>
                </a:tc>
              </a:tr>
              <a:tr h="1047750">
                <a:tc>
                  <a:txBody>
                    <a:bodyPr/>
                    <a:lstStyle/>
                    <a:p>
                      <a:r>
                        <a:rPr sz="1875">
                          <a:solidFill>
                            <a:srgbClr val="173E33"/>
                          </a:solidFill>
                          <a:latin typeface="Arial"/>
                          <a:ea typeface="Arial"/>
                          <a:cs typeface="Arial"/>
                        </a:rPr>
                        <a:t>Yang et al.</a:t>
                      </a:r>
                    </a:p>
                    <a:p>
                      <a:r>
                        <a:rPr sz="1875">
                          <a:solidFill>
                            <a:srgbClr val="173E33"/>
                          </a:solidFill>
                          <a:latin typeface="Arial"/>
                          <a:ea typeface="Arial"/>
                          <a:cs typeface="Arial"/>
                        </a:rPr>
                        <a:t>ECCV 2024 · Defect Spectrum</a:t>
                      </a:r>
                    </a:p>
                  </a:txBody>
                  <a:tcPr marL="133350" marR="133350" marT="76200" marB="66675" anchor="ctr">
                    <a:solidFill>
                      <a:srgbClr val="F7F5EF"/>
                    </a:solidFill>
                  </a:tcPr>
                </a:tc>
                <a:tc>
                  <a:txBody>
                    <a:bodyPr/>
                    <a:lstStyle/>
                    <a:p>
                      <a:r>
                        <a:rPr sz="1875">
                          <a:solidFill>
                            <a:srgbClr val="173E33"/>
                          </a:solidFill>
                          <a:latin typeface="Arial"/>
                          <a:ea typeface="Arial"/>
                          <a:cs typeface="Arial"/>
                        </a:rPr>
                        <a:t>Defect datasets with richer semantic descriptions</a:t>
                      </a:r>
                    </a:p>
                  </a:txBody>
                  <a:tcPr marL="133350" marR="133350" marT="76200" marB="66675" anchor="ctr">
                    <a:solidFill>
                      <a:srgbClr val="F7F5EF"/>
                    </a:solidFill>
                  </a:tcPr>
                </a:tc>
                <a:tc>
                  <a:txBody>
                    <a:bodyPr/>
                    <a:lstStyle/>
                    <a:p>
                      <a:r>
                        <a:rPr sz="1875">
                          <a:solidFill>
                            <a:srgbClr val="173E33"/>
                          </a:solidFill>
                          <a:latin typeface="Arial"/>
                          <a:ea typeface="Arial"/>
                          <a:cs typeface="Arial"/>
                        </a:rPr>
                        <a:t>Original cotton images used for independent integration rehearsal</a:t>
                      </a:r>
                    </a:p>
                  </a:txBody>
                  <a:tcPr marL="133350" marR="133350" marT="76200" marB="66675" anchor="ctr">
                    <a:solidFill>
                      <a:srgbClr val="F7F5EF"/>
                    </a:solidFill>
                  </a:tcPr>
                </a:tc>
              </a:tr>
            </a:tbl>
          </a:graphicData>
        </a:graphic>
      </p:graphicFrame>
      <p:sp>
        <p:nvSpPr>
          <p:cNvPr id="4" name="Training source ≠ demonstration source">
            <a:extLst xmlns:a="http://schemas.openxmlformats.org/drawingml/2006/main">
              <a:ext uri="{FF2B5EF4-FFF2-40B4-BE49-F238E27FC236}">
                <a16:creationId xmlns:a16="http://schemas.microsoft.com/office/drawing/2014/main" id="{BF0E3288-7CB7-46FA-9AB5-A7EB352294E6}"/>
              </a:ext>
            </a:extLst>
          </p:cNvPr>
          <p:cNvSpPr>
            <a:spLocks xmlns:a="http://schemas.openxmlformats.org/drawingml/2006/main" noGrp="1"/>
          </p:cNvSpPr>
          <p:nvPr/>
        </p:nvSpPr>
        <p:spPr>
          <a:xfrm xmlns:a="http://schemas.openxmlformats.org/drawingml/2006/main">
            <a:off x="609600" y="52006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a:solidFill>
                  <a:srgbClr val="173E33"/>
                </a:solidFill>
                <a:latin typeface="Arial"/>
                <a:ea typeface="Arial"/>
                <a:cs typeface="Arial"/>
              </a:defRPr>
            </a:defPPr>
          </a:lstStyle>
          <a:p xmlns:a="http://schemas.openxmlformats.org/drawingml/2006/main">
            <a:pPr algn="l">
              <a:defRPr sz="2325" b="1">
                <a:solidFill>
                  <a:srgbClr val="173E33"/>
                </a:solidFill>
                <a:latin typeface="Arial"/>
                <a:ea typeface="Arial"/>
                <a:cs typeface="Arial"/>
              </a:defRPr>
            </a:pPr>
            <a:r>
              <a:rPr sz="2325" b="1">
                <a:solidFill>
                  <a:srgbClr val="173E33"/>
                </a:solidFill>
                <a:latin typeface="Arial"/>
                <a:ea typeface="Arial"/>
                <a:cs typeface="Arial"/>
              </a:rPr>
              <a:t>Training source ≠ demonstration source</a:t>
            </a:r>
          </a:p>
        </p:txBody>
      </p:sp>
      <p:sp>
        <p:nvSpPr>
          <p:cNvPr id="5" name="The implemented fabric grader uses TILDA-derived patche">
            <a:extLst xmlns:a="http://schemas.openxmlformats.org/drawingml/2006/main">
              <a:ext uri="{FF2B5EF4-FFF2-40B4-BE49-F238E27FC236}">
                <a16:creationId xmlns:a16="http://schemas.microsoft.com/office/drawing/2014/main" id="{02CBD619-13C7-4A8E-92D3-04EE52BC0647}"/>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The implemented fabric grader uses TILDA-derived patches; demonstration photos test a different source.</a:t>
            </a:r>
          </a:p>
        </p:txBody>
      </p:sp>
    </p:spTree>
    <p:extLst>
      <p:ext uri="{BB962C8B-B14F-4D97-AF65-F5344CB8AC3E}">
        <p14:creationId xmlns:p14="http://schemas.microsoft.com/office/powerpoint/2010/main" val="93130426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5F521B05-CBFE-485C-8378-D8CC189CEF48}"/>
              </a:ext>
            </a:extLst>
          </p:cNvPr>
          <p:cNvCxnSpPr>
            <a:stCxn xmlns:a="http://schemas.openxmlformats.org/drawingml/2006/main" id="5" idx="3"/>
            <a:endCxn xmlns:a="http://schemas.openxmlformats.org/drawingml/2006/main" id="6" idx="1"/>
          </p:cNvCxnSpPr>
          <p:nvPr/>
        </p:nvCxnSpPr>
        <p:spPr>
          <a:xfrm xmlns:a="http://schemas.openxmlformats.org/drawingml/2006/main">
            <a:off x="7705725" y="3810000"/>
            <a:ext cx="619125"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7" name="">
            <a:extLst xmlns:a="http://schemas.openxmlformats.org/drawingml/2006/main">
              <a:ext uri="{FF2B5EF4-FFF2-40B4-BE49-F238E27FC236}">
                <a16:creationId xmlns:a16="http://schemas.microsoft.com/office/drawing/2014/main" id="{B5F2BDDF-F505-45F2-8FEB-2A7C9B68B4EE}"/>
              </a:ext>
            </a:extLst>
          </p:cNvPr>
          <p:cNvCxnSpPr>
            <a:stCxn xmlns:a="http://schemas.openxmlformats.org/drawingml/2006/main" id="4" idx="3"/>
            <a:endCxn xmlns:a="http://schemas.openxmlformats.org/drawingml/2006/main" id="5" idx="1"/>
          </p:cNvCxnSpPr>
          <p:nvPr/>
        </p:nvCxnSpPr>
        <p:spPr>
          <a:xfrm xmlns:a="http://schemas.openxmlformats.org/drawingml/2006/main">
            <a:off x="3848100" y="3810000"/>
            <a:ext cx="619125" cy="0"/>
          </a:xfrm>
          <a:prstGeom xmlns:a="http://schemas.openxmlformats.org/drawingml/2006/main" prst="straightConnector1">
            <a:avLst/>
          </a:prstGeom>
          <a:ln xmlns:a="http://schemas.openxmlformats.org/drawingml/2006/main" w="19050">
            <a:solidFill>
              <a:srgbClr val="173E33"/>
            </a:solidFill>
            <a:tailEnd type="triangle" w="med" len="med"/>
          </a:ln>
        </p:spPr>
      </p:cxnSp>
      <p:sp>
        <p:nvSpPr>
          <p:cNvPr id="10" name="Research gap">
            <a:extLst xmlns:a="http://schemas.openxmlformats.org/drawingml/2006/main">
              <a:ext uri="{FF2B5EF4-FFF2-40B4-BE49-F238E27FC236}">
                <a16:creationId xmlns:a16="http://schemas.microsoft.com/office/drawing/2014/main" id="{844828B2-0928-4E67-AD59-6B2BCBD70F5B}"/>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Research gap</a:t>
            </a:r>
          </a:p>
        </p:txBody>
      </p:sp>
      <p:sp>
        <p:nvSpPr>
          <p:cNvPr id="2" name="05">
            <a:extLst xmlns:a="http://schemas.openxmlformats.org/drawingml/2006/main">
              <a:ext uri="{FF2B5EF4-FFF2-40B4-BE49-F238E27FC236}">
                <a16:creationId xmlns:a16="http://schemas.microsoft.com/office/drawing/2014/main" id="{57C9D259-3A1A-4A22-8CDF-335346F0F2E1}"/>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05</a:t>
            </a:r>
          </a:p>
        </p:txBody>
      </p:sp>
      <p:sp>
        <p:nvSpPr>
          <p:cNvPr id="3" name="Connect recognition evidence to the decisions&#10;that comp">
            <a:extLst xmlns:a="http://schemas.openxmlformats.org/drawingml/2006/main">
              <a:ext uri="{FF2B5EF4-FFF2-40B4-BE49-F238E27FC236}">
                <a16:creationId xmlns:a16="http://schemas.microsoft.com/office/drawing/2014/main" id="{DBD666D1-DF74-424A-9A78-8A7550FE47DF}"/>
              </a:ext>
            </a:extLst>
          </p:cNvPr>
          <p:cNvSpPr>
            <a:spLocks xmlns:a="http://schemas.openxmlformats.org/drawingml/2006/main" noGrp="1"/>
          </p:cNvSpPr>
          <p:nvPr/>
        </p:nvSpPr>
        <p:spPr>
          <a:xfrm xmlns:a="http://schemas.openxmlformats.org/drawingml/2006/main">
            <a:off x="609600" y="15240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850" b="1">
                <a:solidFill>
                  <a:srgbClr val="173E33"/>
                </a:solidFill>
                <a:latin typeface="Arial"/>
                <a:ea typeface="Arial"/>
                <a:cs typeface="Arial"/>
              </a:defRPr>
            </a:defPPr>
          </a:lstStyle>
          <a:p xmlns:a="http://schemas.openxmlformats.org/drawingml/2006/main">
            <a:pPr algn="l">
              <a:defRPr sz="2850" b="1">
                <a:solidFill>
                  <a:srgbClr val="173E33"/>
                </a:solidFill>
                <a:latin typeface="Arial"/>
                <a:ea typeface="Arial"/>
                <a:cs typeface="Arial"/>
              </a:defRPr>
            </a:pPr>
            <a:r>
              <a:rPr sz="2850" b="1">
                <a:solidFill>
                  <a:srgbClr val="173E33"/>
                </a:solidFill>
                <a:latin typeface="Arial"/>
                <a:ea typeface="Arial"/>
                <a:cs typeface="Arial"/>
              </a:rPr>
              <a:t>Connect recognition evidence to the decisions</a:t>
            </a:r>
          </a:p>
          <a:p xmlns:a="http://schemas.openxmlformats.org/drawingml/2006/main">
            <a:pPr algn="l">
              <a:defRPr sz="2850" b="1">
                <a:solidFill>
                  <a:srgbClr val="173E33"/>
                </a:solidFill>
                <a:latin typeface="Arial"/>
                <a:ea typeface="Arial"/>
                <a:cs typeface="Arial"/>
              </a:defRPr>
            </a:pPr>
            <a:r>
              <a:rPr sz="2850" b="1">
                <a:solidFill>
                  <a:srgbClr val="173E33"/>
                </a:solidFill>
                <a:latin typeface="Arial"/>
                <a:ea typeface="Arial"/>
                <a:cs typeface="Arial"/>
              </a:rPr>
              <a:t>that complete a marketplace workflow.</a:t>
            </a:r>
          </a:p>
        </p:txBody>
      </p:sp>
      <p:sp>
        <p:nvSpPr>
          <p:cNvPr id="4" name="Photo evidence">
            <a:extLst xmlns:a="http://schemas.openxmlformats.org/drawingml/2006/main">
              <a:ext uri="{FF2B5EF4-FFF2-40B4-BE49-F238E27FC236}">
                <a16:creationId xmlns:a16="http://schemas.microsoft.com/office/drawing/2014/main" id="{2DC8C42F-0A97-4EC5-AFF4-63B2685FA6C6}"/>
              </a:ext>
            </a:extLst>
          </p:cNvPr>
          <p:cNvSpPr>
            <a:spLocks xmlns:a="http://schemas.openxmlformats.org/drawingml/2006/main" noGrp="1"/>
          </p:cNvSpPr>
          <p:nvPr/>
        </p:nvSpPr>
        <p:spPr>
          <a:xfrm xmlns:a="http://schemas.openxmlformats.org/drawingml/2006/main">
            <a:off x="609600" y="3095625"/>
            <a:ext cx="3238500" cy="1428750"/>
          </a:xfrm>
          <a:prstGeom xmlns:a="http://schemas.openxmlformats.org/drawingml/2006/main" prst="roundRect">
            <a:avLst>
              <a:gd name="adj" fmla="val 800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Photo evidence</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Original files + quality scores</a:t>
            </a:r>
          </a:p>
        </p:txBody>
      </p:sp>
      <p:sp>
        <p:nvSpPr>
          <p:cNvPr id="5" name="Reviewable decision">
            <a:extLst xmlns:a="http://schemas.openxmlformats.org/drawingml/2006/main">
              <a:ext uri="{FF2B5EF4-FFF2-40B4-BE49-F238E27FC236}">
                <a16:creationId xmlns:a16="http://schemas.microsoft.com/office/drawing/2014/main" id="{D25B800E-2E7F-4EA2-98D9-EE00DF53DCA2}"/>
              </a:ext>
            </a:extLst>
          </p:cNvPr>
          <p:cNvSpPr>
            <a:spLocks xmlns:a="http://schemas.openxmlformats.org/drawingml/2006/main" noGrp="1"/>
          </p:cNvSpPr>
          <p:nvPr/>
        </p:nvSpPr>
        <p:spPr>
          <a:xfrm xmlns:a="http://schemas.openxmlformats.org/drawingml/2006/main">
            <a:off x="4467225" y="3095625"/>
            <a:ext cx="3238500" cy="1428750"/>
          </a:xfrm>
          <a:prstGeom xmlns:a="http://schemas.openxmlformats.org/drawingml/2006/main" prst="roundRect">
            <a:avLst>
              <a:gd name="adj" fmla="val 800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Reviewable decision</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Uncertainty → human verifier</a:t>
            </a:r>
          </a:p>
        </p:txBody>
      </p:sp>
      <p:sp>
        <p:nvSpPr>
          <p:cNvPr id="6" name="Recorded transaction">
            <a:extLst xmlns:a="http://schemas.openxmlformats.org/drawingml/2006/main">
              <a:ext uri="{FF2B5EF4-FFF2-40B4-BE49-F238E27FC236}">
                <a16:creationId xmlns:a16="http://schemas.microsoft.com/office/drawing/2014/main" id="{C410CAFD-CA11-4116-A3BE-186B44AAD8B5}"/>
              </a:ext>
            </a:extLst>
          </p:cNvPr>
          <p:cNvSpPr>
            <a:spLocks xmlns:a="http://schemas.openxmlformats.org/drawingml/2006/main" noGrp="1"/>
          </p:cNvSpPr>
          <p:nvPr/>
        </p:nvSpPr>
        <p:spPr>
          <a:xfrm xmlns:a="http://schemas.openxmlformats.org/drawingml/2006/main">
            <a:off x="8324850" y="3095625"/>
            <a:ext cx="3238500" cy="1428750"/>
          </a:xfrm>
          <a:prstGeom xmlns:a="http://schemas.openxmlformats.org/drawingml/2006/main" prst="roundRect">
            <a:avLst>
              <a:gd name="adj" fmla="val 800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Recorded transaction</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Price → stock → order</a:t>
            </a:r>
          </a:p>
        </p:txBody>
      </p:sp>
      <p:sp>
        <p:nvSpPr>
          <p:cNvPr id="9" name="Scope of the gap: integrated academic workflow across a">
            <a:extLst xmlns:a="http://schemas.openxmlformats.org/drawingml/2006/main">
              <a:ext uri="{FF2B5EF4-FFF2-40B4-BE49-F238E27FC236}">
                <a16:creationId xmlns:a16="http://schemas.microsoft.com/office/drawing/2014/main" id="{046837C0-6926-48CB-AA43-19BF07CEC41E}"/>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Scope of the gap: integrated academic workflow across agriculture and textiles; no claim of a new backbone.</a:t>
            </a:r>
          </a:p>
        </p:txBody>
      </p:sp>
    </p:spTree>
    <p:extLst>
      <p:ext uri="{BB962C8B-B14F-4D97-AF65-F5344CB8AC3E}">
        <p14:creationId xmlns:p14="http://schemas.microsoft.com/office/powerpoint/2010/main" val="236158961"/>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Objectives">
            <a:extLst xmlns:a="http://schemas.openxmlformats.org/drawingml/2006/main">
              <a:ext uri="{FF2B5EF4-FFF2-40B4-BE49-F238E27FC236}">
                <a16:creationId xmlns:a16="http://schemas.microsoft.com/office/drawing/2014/main" id="{626E3B50-D7D7-4F2C-9E99-51480C9EDBFE}"/>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Objectives</a:t>
            </a:r>
          </a:p>
        </p:txBody>
      </p:sp>
      <p:sp>
        <p:nvSpPr>
          <p:cNvPr id="2" name="06">
            <a:extLst xmlns:a="http://schemas.openxmlformats.org/drawingml/2006/main">
              <a:ext uri="{FF2B5EF4-FFF2-40B4-BE49-F238E27FC236}">
                <a16:creationId xmlns:a16="http://schemas.microsoft.com/office/drawing/2014/main" id="{EADB3F3D-0B40-4BE0-B46C-E10FA7537FBA}"/>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06</a:t>
            </a:r>
          </a:p>
        </p:txBody>
      </p:sp>
      <p:sp>
        <p:nvSpPr>
          <p:cNvPr id="3" name="01  Capture and synchronize seller stock">
            <a:extLst xmlns:a="http://schemas.openxmlformats.org/drawingml/2006/main">
              <a:ext uri="{FF2B5EF4-FFF2-40B4-BE49-F238E27FC236}">
                <a16:creationId xmlns:a16="http://schemas.microsoft.com/office/drawing/2014/main" id="{40E5CC17-F447-41F3-8BA3-05B0B776DE6E}"/>
              </a:ext>
            </a:extLst>
          </p:cNvPr>
          <p:cNvSpPr>
            <a:spLocks xmlns:a="http://schemas.openxmlformats.org/drawingml/2006/main" noGrp="1"/>
          </p:cNvSpPr>
          <p:nvPr/>
        </p:nvSpPr>
        <p:spPr>
          <a:xfrm xmlns:a="http://schemas.openxmlformats.org/drawingml/2006/main">
            <a:off x="609600" y="14573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01  Capture and synchronize seller stock</a:t>
            </a:r>
          </a:p>
        </p:txBody>
      </p:sp>
      <p:sp>
        <p:nvSpPr>
          <p:cNvPr id="4" name="Android forms, original photos and locally retained wor">
            <a:extLst xmlns:a="http://schemas.openxmlformats.org/drawingml/2006/main">
              <a:ext uri="{FF2B5EF4-FFF2-40B4-BE49-F238E27FC236}">
                <a16:creationId xmlns:a16="http://schemas.microsoft.com/office/drawing/2014/main" id="{FA6FF5EF-9116-4A62-8D23-731A3CADEE57}"/>
              </a:ext>
            </a:extLst>
          </p:cNvPr>
          <p:cNvSpPr>
            <a:spLocks xmlns:a="http://schemas.openxmlformats.org/drawingml/2006/main" noGrp="1"/>
          </p:cNvSpPr>
          <p:nvPr/>
        </p:nvSpPr>
        <p:spPr>
          <a:xfrm xmlns:a="http://schemas.openxmlformats.org/drawingml/2006/main">
            <a:off x="609600" y="18669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Android forms, original photos and locally retained work.</a:t>
            </a:r>
          </a:p>
        </p:txBody>
      </p:sp>
      <p:sp>
        <p:nvSpPr>
          <p:cNvPr id="5" name="02  Make quality inspectable">
            <a:extLst xmlns:a="http://schemas.openxmlformats.org/drawingml/2006/main">
              <a:ext uri="{FF2B5EF4-FFF2-40B4-BE49-F238E27FC236}">
                <a16:creationId xmlns:a16="http://schemas.microsoft.com/office/drawing/2014/main" id="{EE78CF8F-0D77-4B8C-A24E-D668AB9D63EA}"/>
              </a:ext>
            </a:extLst>
          </p:cNvPr>
          <p:cNvSpPr>
            <a:spLocks xmlns:a="http://schemas.openxmlformats.org/drawingml/2006/main" noGrp="1"/>
          </p:cNvSpPr>
          <p:nvPr/>
        </p:nvSpPr>
        <p:spPr>
          <a:xfrm xmlns:a="http://schemas.openxmlformats.org/drawingml/2006/main">
            <a:off x="609600" y="23717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02  Make quality inspectable</a:t>
            </a:r>
          </a:p>
        </p:txBody>
      </p:sp>
      <p:sp>
        <p:nvSpPr>
          <p:cNvPr id="6" name="Crop / fabric grading, confidence and human corrections">
            <a:extLst xmlns:a="http://schemas.openxmlformats.org/drawingml/2006/main">
              <a:ext uri="{FF2B5EF4-FFF2-40B4-BE49-F238E27FC236}">
                <a16:creationId xmlns:a16="http://schemas.microsoft.com/office/drawing/2014/main" id="{2FAAC0DA-F79F-4138-A5B0-9AA4515E3A90}"/>
              </a:ext>
            </a:extLst>
          </p:cNvPr>
          <p:cNvSpPr>
            <a:spLocks xmlns:a="http://schemas.openxmlformats.org/drawingml/2006/main" noGrp="1"/>
          </p:cNvSpPr>
          <p:nvPr/>
        </p:nvSpPr>
        <p:spPr>
          <a:xfrm xmlns:a="http://schemas.openxmlformats.org/drawingml/2006/main">
            <a:off x="609600" y="27813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Crop / fabric grading, confidence and human corrections.</a:t>
            </a:r>
          </a:p>
        </p:txBody>
      </p:sp>
      <p:sp>
        <p:nvSpPr>
          <p:cNvPr id="7" name="03  Explain the estimated price">
            <a:extLst xmlns:a="http://schemas.openxmlformats.org/drawingml/2006/main">
              <a:ext uri="{FF2B5EF4-FFF2-40B4-BE49-F238E27FC236}">
                <a16:creationId xmlns:a16="http://schemas.microsoft.com/office/drawing/2014/main" id="{FD8ADE05-3E61-4198-9EE6-B2FCCCCC20B7}"/>
              </a:ext>
            </a:extLst>
          </p:cNvPr>
          <p:cNvSpPr>
            <a:spLocks xmlns:a="http://schemas.openxmlformats.org/drawingml/2006/main" noGrp="1"/>
          </p:cNvSpPr>
          <p:nvPr/>
        </p:nvSpPr>
        <p:spPr>
          <a:xfrm xmlns:a="http://schemas.openxmlformats.org/drawingml/2006/main">
            <a:off x="609600" y="3286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03  Explain the estimated price</a:t>
            </a:r>
          </a:p>
        </p:txBody>
      </p:sp>
      <p:sp>
        <p:nvSpPr>
          <p:cNvPr id="8" name="Market base × grade adjustment × quantity discount.">
            <a:extLst xmlns:a="http://schemas.openxmlformats.org/drawingml/2006/main">
              <a:ext uri="{FF2B5EF4-FFF2-40B4-BE49-F238E27FC236}">
                <a16:creationId xmlns:a16="http://schemas.microsoft.com/office/drawing/2014/main" id="{40D3C7E2-A0D6-42D4-83D2-0E22C71E95C3}"/>
              </a:ext>
            </a:extLst>
          </p:cNvPr>
          <p:cNvSpPr>
            <a:spLocks xmlns:a="http://schemas.openxmlformats.org/drawingml/2006/main" noGrp="1"/>
          </p:cNvSpPr>
          <p:nvPr/>
        </p:nvSpPr>
        <p:spPr>
          <a:xfrm xmlns:a="http://schemas.openxmlformats.org/drawingml/2006/main">
            <a:off x="609600" y="36957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Market base × grade adjustment × quantity discount.</a:t>
            </a:r>
          </a:p>
        </p:txBody>
      </p:sp>
      <p:sp>
        <p:nvSpPr>
          <p:cNvPr id="9" name="04  Complete buyer demand">
            <a:extLst xmlns:a="http://schemas.openxmlformats.org/drawingml/2006/main">
              <a:ext uri="{FF2B5EF4-FFF2-40B4-BE49-F238E27FC236}">
                <a16:creationId xmlns:a16="http://schemas.microsoft.com/office/drawing/2014/main" id="{EBD1699A-EEFF-41D9-A8CA-5E53003B335E}"/>
              </a:ext>
            </a:extLst>
          </p:cNvPr>
          <p:cNvSpPr>
            <a:spLocks xmlns:a="http://schemas.openxmlformats.org/drawingml/2006/main" noGrp="1"/>
          </p:cNvSpPr>
          <p:nvPr/>
        </p:nvSpPr>
        <p:spPr>
          <a:xfrm xmlns:a="http://schemas.openxmlformats.org/drawingml/2006/main">
            <a:off x="609600" y="4200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04  Complete buyer demand</a:t>
            </a:r>
          </a:p>
        </p:txBody>
      </p:sp>
      <p:sp>
        <p:nvSpPr>
          <p:cNvPr id="10" name="Requirements, multiple sellers, negotiation and recorde">
            <a:extLst xmlns:a="http://schemas.openxmlformats.org/drawingml/2006/main">
              <a:ext uri="{FF2B5EF4-FFF2-40B4-BE49-F238E27FC236}">
                <a16:creationId xmlns:a16="http://schemas.microsoft.com/office/drawing/2014/main" id="{0D435112-D1E5-49F8-8D01-F786B649EF37}"/>
              </a:ext>
            </a:extLst>
          </p:cNvPr>
          <p:cNvSpPr>
            <a:spLocks xmlns:a="http://schemas.openxmlformats.org/drawingml/2006/main" noGrp="1"/>
          </p:cNvSpPr>
          <p:nvPr/>
        </p:nvSpPr>
        <p:spPr>
          <a:xfrm xmlns:a="http://schemas.openxmlformats.org/drawingml/2006/main">
            <a:off x="609600" y="46101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Requirements, multiple sellers, negotiation and recorded orders.</a:t>
            </a:r>
          </a:p>
        </p:txBody>
      </p:sp>
      <p:sp>
        <p:nvSpPr>
          <p:cNvPr id="11" name="05  Verify the local demonstration">
            <a:extLst xmlns:a="http://schemas.openxmlformats.org/drawingml/2006/main">
              <a:ext uri="{FF2B5EF4-FFF2-40B4-BE49-F238E27FC236}">
                <a16:creationId xmlns:a16="http://schemas.microsoft.com/office/drawing/2014/main" id="{DEE08B7C-7F4B-4D6A-9B20-E1A750741D48}"/>
              </a:ext>
            </a:extLst>
          </p:cNvPr>
          <p:cNvSpPr>
            <a:spLocks xmlns:a="http://schemas.openxmlformats.org/drawingml/2006/main" noGrp="1"/>
          </p:cNvSpPr>
          <p:nvPr/>
        </p:nvSpPr>
        <p:spPr>
          <a:xfrm xmlns:a="http://schemas.openxmlformats.org/drawingml/2006/main">
            <a:off x="609600" y="5114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05  Verify the local demonstration</a:t>
            </a:r>
          </a:p>
        </p:txBody>
      </p:sp>
      <p:sp>
        <p:nvSpPr>
          <p:cNvPr id="12" name="Software checks, real dataset photos and persistent res">
            <a:extLst xmlns:a="http://schemas.openxmlformats.org/drawingml/2006/main">
              <a:ext uri="{FF2B5EF4-FFF2-40B4-BE49-F238E27FC236}">
                <a16:creationId xmlns:a16="http://schemas.microsoft.com/office/drawing/2014/main" id="{D1C8AFFB-CBEE-411A-AE0D-B52A89DF931D}"/>
              </a:ext>
            </a:extLst>
          </p:cNvPr>
          <p:cNvSpPr>
            <a:spLocks xmlns:a="http://schemas.openxmlformats.org/drawingml/2006/main" noGrp="1"/>
          </p:cNvSpPr>
          <p:nvPr/>
        </p:nvSpPr>
        <p:spPr>
          <a:xfrm xmlns:a="http://schemas.openxmlformats.org/drawingml/2006/main">
            <a:off x="609600" y="55245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Software checks, real dataset photos and persistent results.</a:t>
            </a:r>
          </a:p>
        </p:txBody>
      </p:sp>
    </p:spTree>
    <p:extLst>
      <p:ext uri="{BB962C8B-B14F-4D97-AF65-F5344CB8AC3E}">
        <p14:creationId xmlns:p14="http://schemas.microsoft.com/office/powerpoint/2010/main" val="842549014"/>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Implemented scope — four roles">
            <a:extLst xmlns:a="http://schemas.openxmlformats.org/drawingml/2006/main">
              <a:ext uri="{FF2B5EF4-FFF2-40B4-BE49-F238E27FC236}">
                <a16:creationId xmlns:a16="http://schemas.microsoft.com/office/drawing/2014/main" id="{C1A9DC2D-A8BA-4294-BBB5-F0BAA920DDB3}"/>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Implemented scope — four roles</a:t>
            </a:r>
          </a:p>
        </p:txBody>
      </p:sp>
      <p:sp>
        <p:nvSpPr>
          <p:cNvPr id="2" name="07">
            <a:extLst xmlns:a="http://schemas.openxmlformats.org/drawingml/2006/main">
              <a:ext uri="{FF2B5EF4-FFF2-40B4-BE49-F238E27FC236}">
                <a16:creationId xmlns:a16="http://schemas.microsoft.com/office/drawing/2014/main" id="{DAF9B5A8-F982-441B-8604-27B34CF3677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DC8B8771-0112-4B81-B28C-6322A33329D1}"/>
              </a:ext>
            </a:extLst>
          </p:cNvPr>
          <p:cNvGraphicFramePr/>
          <p:nvPr/>
        </p:nvGraphicFramePr>
        <p:xfrm>
          <a:off xmlns:a="http://schemas.openxmlformats.org/drawingml/2006/main" x="609600" y="1524000"/>
          <a:ext xmlns:a="http://schemas.openxmlformats.org/drawingml/2006/main" cx="10972800" cy="3952875"/>
        </p:xfrm>
        <a:graphic xmlns:a="http://schemas.openxmlformats.org/drawingml/2006/main">
          <a:graphicData uri="http://schemas.openxmlformats.org/drawingml/2006/table">
            <a:tbl>
              <a:tblPr/>
              <a:tblGrid>
                <a:gridCol w="2333625"/>
                <a:gridCol w="2667000"/>
                <a:gridCol w="5972175"/>
              </a:tblGrid>
              <a:tr h="790575">
                <a:tc>
                  <a:txBody>
                    <a:bodyPr/>
                    <a:lstStyle/>
                    <a:p>
                      <a:r>
                        <a:rPr sz="1875" b="1">
                          <a:solidFill>
                            <a:srgbClr val="F7F5EF"/>
                          </a:solidFill>
                          <a:latin typeface="Arial"/>
                          <a:ea typeface="Arial"/>
                          <a:cs typeface="Arial"/>
                        </a:rPr>
                        <a:t>Role</a:t>
                      </a:r>
                    </a:p>
                  </a:txBody>
                  <a:tcPr marL="133350" marR="133350" marT="76200" marB="66675" anchor="ctr">
                    <a:solidFill>
                      <a:srgbClr val="173E33"/>
                    </a:solidFill>
                  </a:tcPr>
                </a:tc>
                <a:tc>
                  <a:txBody>
                    <a:bodyPr/>
                    <a:lstStyle/>
                    <a:p>
                      <a:r>
                        <a:rPr sz="1875" b="1">
                          <a:solidFill>
                            <a:srgbClr val="F7F5EF"/>
                          </a:solidFill>
                          <a:latin typeface="Arial"/>
                          <a:ea typeface="Arial"/>
                          <a:cs typeface="Arial"/>
                        </a:rPr>
                        <a:t>Primary interface</a:t>
                      </a:r>
                    </a:p>
                  </a:txBody>
                  <a:tcPr marL="133350" marR="133350" marT="76200" marB="66675" anchor="ctr">
                    <a:solidFill>
                      <a:srgbClr val="173E33"/>
                    </a:solidFill>
                  </a:tcPr>
                </a:tc>
                <a:tc>
                  <a:txBody>
                    <a:bodyPr/>
                    <a:lstStyle/>
                    <a:p>
                      <a:r>
                        <a:rPr sz="1875" b="1">
                          <a:solidFill>
                            <a:srgbClr val="F7F5EF"/>
                          </a:solidFill>
                          <a:latin typeface="Arial"/>
                          <a:ea typeface="Arial"/>
                          <a:cs typeface="Arial"/>
                        </a:rPr>
                        <a:t>Implemented actions</a:t>
                      </a:r>
                    </a:p>
                  </a:txBody>
                  <a:tcPr marL="133350" marR="133350" marT="76200" marB="66675" anchor="ctr">
                    <a:solidFill>
                      <a:srgbClr val="173E33"/>
                    </a:solidFill>
                  </a:tcPr>
                </a:tc>
              </a:tr>
              <a:tr h="790575">
                <a:tc>
                  <a:txBody>
                    <a:bodyPr/>
                    <a:lstStyle/>
                    <a:p>
                      <a:r>
                        <a:rPr sz="1875">
                          <a:solidFill>
                            <a:srgbClr val="173E33"/>
                          </a:solidFill>
                          <a:latin typeface="Arial"/>
                          <a:ea typeface="Arial"/>
                          <a:cs typeface="Arial"/>
                        </a:rPr>
                        <a:t>Seller</a:t>
                      </a:r>
                    </a:p>
                  </a:txBody>
                  <a:tcPr marL="133350" marR="133350" marT="76200" marB="66675" anchor="ctr">
                    <a:solidFill>
                      <a:srgbClr val="F7F5EF"/>
                    </a:solidFill>
                  </a:tcPr>
                </a:tc>
                <a:tc>
                  <a:txBody>
                    <a:bodyPr/>
                    <a:lstStyle/>
                    <a:p>
                      <a:r>
                        <a:rPr sz="1875">
                          <a:solidFill>
                            <a:srgbClr val="173E33"/>
                          </a:solidFill>
                          <a:latin typeface="Arial"/>
                          <a:ea typeface="Arial"/>
                          <a:cs typeface="Arial"/>
                        </a:rPr>
                        <a:t>Android app</a:t>
                      </a:r>
                    </a:p>
                  </a:txBody>
                  <a:tcPr marL="133350" marR="133350" marT="76200" marB="66675" anchor="ctr">
                    <a:solidFill>
                      <a:srgbClr val="F7F5EF"/>
                    </a:solidFill>
                  </a:tcPr>
                </a:tc>
                <a:tc>
                  <a:txBody>
                    <a:bodyPr/>
                    <a:lstStyle/>
                    <a:p>
                      <a:r>
                        <a:rPr sz="1875">
                          <a:solidFill>
                            <a:srgbClr val="173E33"/>
                          </a:solidFill>
                          <a:latin typeface="Arial"/>
                          <a:ea typeface="Arial"/>
                          <a:cs typeface="Arial"/>
                        </a:rPr>
                        <a:t>Photos, listings, synchronization, offers and orders</a:t>
                      </a:r>
                    </a:p>
                  </a:txBody>
                  <a:tcPr marL="133350" marR="133350" marT="76200" marB="66675" anchor="ctr">
                    <a:solidFill>
                      <a:srgbClr val="F7F5EF"/>
                    </a:solidFill>
                  </a:tcPr>
                </a:tc>
              </a:tr>
              <a:tr h="790575">
                <a:tc>
                  <a:txBody>
                    <a:bodyPr/>
                    <a:lstStyle/>
                    <a:p>
                      <a:r>
                        <a:rPr sz="1875">
                          <a:solidFill>
                            <a:srgbClr val="173E33"/>
                          </a:solidFill>
                          <a:latin typeface="Arial"/>
                          <a:ea typeface="Arial"/>
                          <a:cs typeface="Arial"/>
                        </a:rPr>
                        <a:t>Buyer</a:t>
                      </a:r>
                    </a:p>
                  </a:txBody>
                  <a:tcPr marL="133350" marR="133350" marT="76200" marB="66675" anchor="ctr">
                    <a:solidFill>
                      <a:srgbClr val="F7F5EF"/>
                    </a:solidFill>
                  </a:tcPr>
                </a:tc>
                <a:tc>
                  <a:txBody>
                    <a:bodyPr/>
                    <a:lstStyle/>
                    <a:p>
                      <a:r>
                        <a:rPr sz="1875">
                          <a:solidFill>
                            <a:srgbClr val="173E33"/>
                          </a:solidFill>
                          <a:latin typeface="Arial"/>
                          <a:ea typeface="Arial"/>
                          <a:cs typeface="Arial"/>
                        </a:rPr>
                        <a:t>Website</a:t>
                      </a:r>
                    </a:p>
                  </a:txBody>
                  <a:tcPr marL="133350" marR="133350" marT="76200" marB="66675" anchor="ctr">
                    <a:solidFill>
                      <a:srgbClr val="F7F5EF"/>
                    </a:solidFill>
                  </a:tcPr>
                </a:tc>
                <a:tc>
                  <a:txBody>
                    <a:bodyPr/>
                    <a:lstStyle/>
                    <a:p>
                      <a:r>
                        <a:rPr sz="1875">
                          <a:solidFill>
                            <a:srgbClr val="173E33"/>
                          </a:solidFill>
                          <a:latin typeface="Arial"/>
                          <a:ea typeface="Arial"/>
                          <a:cs typeface="Arial"/>
                        </a:rPr>
                        <a:t>Catalog, estimates, requirements, bids, orders, complaints</a:t>
                      </a:r>
                    </a:p>
                  </a:txBody>
                  <a:tcPr marL="133350" marR="133350" marT="76200" marB="66675" anchor="ctr">
                    <a:solidFill>
                      <a:srgbClr val="F7F5EF"/>
                    </a:solidFill>
                  </a:tcPr>
                </a:tc>
              </a:tr>
              <a:tr h="790575">
                <a:tc>
                  <a:txBody>
                    <a:bodyPr/>
                    <a:lstStyle/>
                    <a:p>
                      <a:r>
                        <a:rPr sz="1875">
                          <a:solidFill>
                            <a:srgbClr val="173E33"/>
                          </a:solidFill>
                          <a:latin typeface="Arial"/>
                          <a:ea typeface="Arial"/>
                          <a:cs typeface="Arial"/>
                        </a:rPr>
                        <a:t>Verifier</a:t>
                      </a:r>
                    </a:p>
                  </a:txBody>
                  <a:tcPr marL="133350" marR="133350" marT="76200" marB="66675" anchor="ctr">
                    <a:solidFill>
                      <a:srgbClr val="F7F5EF"/>
                    </a:solidFill>
                  </a:tcPr>
                </a:tc>
                <a:tc>
                  <a:txBody>
                    <a:bodyPr/>
                    <a:lstStyle/>
                    <a:p>
                      <a:r>
                        <a:rPr sz="1875">
                          <a:solidFill>
                            <a:srgbClr val="173E33"/>
                          </a:solidFill>
                          <a:latin typeface="Arial"/>
                          <a:ea typeface="Arial"/>
                          <a:cs typeface="Arial"/>
                        </a:rPr>
                        <a:t>Website</a:t>
                      </a:r>
                    </a:p>
                  </a:txBody>
                  <a:tcPr marL="133350" marR="133350" marT="76200" marB="66675" anchor="ctr">
                    <a:solidFill>
                      <a:srgbClr val="F7F5EF"/>
                    </a:solidFill>
                  </a:tcPr>
                </a:tc>
                <a:tc>
                  <a:txBody>
                    <a:bodyPr/>
                    <a:lstStyle/>
                    <a:p>
                      <a:r>
                        <a:rPr sz="1875">
                          <a:solidFill>
                            <a:srgbClr val="173E33"/>
                          </a:solidFill>
                          <a:latin typeface="Arial"/>
                          <a:ea typeface="Arial"/>
                          <a:cs typeface="Arial"/>
                        </a:rPr>
                        <a:t>Photo queue, corrected scores, approve / send back</a:t>
                      </a:r>
                    </a:p>
                  </a:txBody>
                  <a:tcPr marL="133350" marR="133350" marT="76200" marB="66675" anchor="ctr">
                    <a:solidFill>
                      <a:srgbClr val="F7F5EF"/>
                    </a:solidFill>
                  </a:tcPr>
                </a:tc>
              </a:tr>
              <a:tr h="790575">
                <a:tc>
                  <a:txBody>
                    <a:bodyPr/>
                    <a:lstStyle/>
                    <a:p>
                      <a:r>
                        <a:rPr sz="1875">
                          <a:solidFill>
                            <a:srgbClr val="173E33"/>
                          </a:solidFill>
                          <a:latin typeface="Arial"/>
                          <a:ea typeface="Arial"/>
                          <a:cs typeface="Arial"/>
                        </a:rPr>
                        <a:t>Administrator</a:t>
                      </a:r>
                    </a:p>
                  </a:txBody>
                  <a:tcPr marL="133350" marR="133350" marT="76200" marB="66675" anchor="ctr">
                    <a:solidFill>
                      <a:srgbClr val="F7F5EF"/>
                    </a:solidFill>
                  </a:tcPr>
                </a:tc>
                <a:tc>
                  <a:txBody>
                    <a:bodyPr/>
                    <a:lstStyle/>
                    <a:p>
                      <a:r>
                        <a:rPr sz="1875">
                          <a:solidFill>
                            <a:srgbClr val="173E33"/>
                          </a:solidFill>
                          <a:latin typeface="Arial"/>
                          <a:ea typeface="Arial"/>
                          <a:cs typeface="Arial"/>
                        </a:rPr>
                        <a:t>Website</a:t>
                      </a:r>
                    </a:p>
                  </a:txBody>
                  <a:tcPr marL="133350" marR="133350" marT="76200" marB="66675" anchor="ctr">
                    <a:solidFill>
                      <a:srgbClr val="F7F5EF"/>
                    </a:solidFill>
                  </a:tcPr>
                </a:tc>
                <a:tc>
                  <a:txBody>
                    <a:bodyPr/>
                    <a:lstStyle/>
                    <a:p>
                      <a:r>
                        <a:rPr sz="1875">
                          <a:solidFill>
                            <a:srgbClr val="173E33"/>
                          </a:solidFill>
                          <a:latin typeface="Arial"/>
                          <a:ea typeface="Arial"/>
                          <a:cs typeface="Arial"/>
                        </a:rPr>
                        <a:t>Categories, quality / price rules, prices, people, complaints</a:t>
                      </a:r>
                    </a:p>
                  </a:txBody>
                  <a:tcPr marL="133350" marR="133350" marT="76200" marB="66675" anchor="ctr">
                    <a:solidFill>
                      <a:srgbClr val="F7F5EF"/>
                    </a:solidFill>
                  </a:tcPr>
                </a:tc>
              </a:tr>
            </a:tbl>
          </a:graphicData>
        </a:graphic>
      </p:graphicFrame>
      <p:sp>
        <p:nvSpPr>
          <p:cNvPr id="4" name="Agriculture: quintals and grain quality. Textiles: metr">
            <a:extLst xmlns:a="http://schemas.openxmlformats.org/drawingml/2006/main">
              <a:ext uri="{FF2B5EF4-FFF2-40B4-BE49-F238E27FC236}">
                <a16:creationId xmlns:a16="http://schemas.microsoft.com/office/drawing/2014/main" id="{CA467D33-CA0E-439F-AD4C-9E405A1C2AA6}"/>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Agriculture: quintals and grain quality. Textiles: metres and visible fabric defects.</a:t>
            </a:r>
          </a:p>
        </p:txBody>
      </p:sp>
    </p:spTree>
    <p:extLst>
      <p:ext uri="{BB962C8B-B14F-4D97-AF65-F5344CB8AC3E}">
        <p14:creationId xmlns:p14="http://schemas.microsoft.com/office/powerpoint/2010/main" val="87048818"/>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E0C207D7-5754-4686-A612-8BD70655D6D0}"/>
              </a:ext>
            </a:extLst>
          </p:cNvPr>
          <p:cNvCxnSpPr>
            <a:stCxn xmlns:a="http://schemas.openxmlformats.org/drawingml/2006/main" id="8" idx="1"/>
            <a:endCxn xmlns:a="http://schemas.openxmlformats.org/drawingml/2006/main" id="7" idx="3"/>
          </p:cNvCxnSpPr>
          <p:nvPr/>
        </p:nvCxnSpPr>
        <p:spPr>
          <a:xfrm xmlns:a="http://schemas.openxmlformats.org/drawingml/2006/main" flipH="1">
            <a:off x="7572375" y="4533900"/>
            <a:ext cx="1152525"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4" name="">
            <a:extLst xmlns:a="http://schemas.openxmlformats.org/drawingml/2006/main">
              <a:ext uri="{FF2B5EF4-FFF2-40B4-BE49-F238E27FC236}">
                <a16:creationId xmlns:a16="http://schemas.microsoft.com/office/drawing/2014/main" id="{3D478CDF-2EF4-4C8A-9E59-91E5076593ED}"/>
              </a:ext>
            </a:extLst>
          </p:cNvPr>
          <p:cNvCxnSpPr>
            <a:stCxn xmlns:a="http://schemas.openxmlformats.org/drawingml/2006/main" id="7" idx="3"/>
            <a:endCxn xmlns:a="http://schemas.openxmlformats.org/drawingml/2006/main" id="5" idx="2"/>
          </p:cNvCxnSpPr>
          <p:nvPr/>
        </p:nvCxnSpPr>
        <p:spPr>
          <a:xfrm xmlns:a="http://schemas.openxmlformats.org/drawingml/2006/main" flipV="1">
            <a:off x="7572375" y="2876550"/>
            <a:ext cx="2581275" cy="1657350"/>
          </a:xfrm>
          <a:prstGeom xmlns:a="http://schemas.openxmlformats.org/drawingml/2006/main" prst="bentConnector4">
            <a:avLst>
              <a:gd name="adj1" fmla="val 8856"/>
              <a:gd name="adj2" fmla="val 86207"/>
            </a:avLst>
          </a:prstGeom>
          <a:ln xmlns:a="http://schemas.openxmlformats.org/drawingml/2006/main" w="19050">
            <a:solidFill>
              <a:srgbClr val="173E33"/>
            </a:solidFill>
            <a:tailEnd type="triangle" w="med" len="med"/>
          </a:ln>
        </p:spPr>
      </p:cxnSp>
      <p:cxnSp>
        <p:nvCxnSpPr>
          <p:cNvPr id="13" name="">
            <a:extLst xmlns:a="http://schemas.openxmlformats.org/drawingml/2006/main">
              <a:ext uri="{FF2B5EF4-FFF2-40B4-BE49-F238E27FC236}">
                <a16:creationId xmlns:a16="http://schemas.microsoft.com/office/drawing/2014/main" id="{DD265C70-83FE-4E50-B27E-63DB9344D500}"/>
              </a:ext>
            </a:extLst>
          </p:cNvPr>
          <p:cNvCxnSpPr>
            <a:stCxn xmlns:a="http://schemas.openxmlformats.org/drawingml/2006/main" id="4" idx="2"/>
            <a:endCxn xmlns:a="http://schemas.openxmlformats.org/drawingml/2006/main" id="7" idx="0"/>
          </p:cNvCxnSpPr>
          <p:nvPr/>
        </p:nvCxnSpPr>
        <p:spPr>
          <a:xfrm xmlns:a="http://schemas.openxmlformats.org/drawingml/2006/main">
            <a:off x="6119813" y="2876550"/>
            <a:ext cx="0" cy="1076325"/>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2" name="">
            <a:extLst xmlns:a="http://schemas.openxmlformats.org/drawingml/2006/main">
              <a:ext uri="{FF2B5EF4-FFF2-40B4-BE49-F238E27FC236}">
                <a16:creationId xmlns:a16="http://schemas.microsoft.com/office/drawing/2014/main" id="{E3246AFD-D044-43BE-ADBF-59E9E1FD2CBD}"/>
              </a:ext>
            </a:extLst>
          </p:cNvPr>
          <p:cNvCxnSpPr>
            <a:stCxn xmlns:a="http://schemas.openxmlformats.org/drawingml/2006/main" id="6" idx="3"/>
            <a:endCxn xmlns:a="http://schemas.openxmlformats.org/drawingml/2006/main" id="7" idx="1"/>
          </p:cNvCxnSpPr>
          <p:nvPr/>
        </p:nvCxnSpPr>
        <p:spPr>
          <a:xfrm xmlns:a="http://schemas.openxmlformats.org/drawingml/2006/main">
            <a:off x="3514725" y="4533900"/>
            <a:ext cx="1152525"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1" name="">
            <a:extLst xmlns:a="http://schemas.openxmlformats.org/drawingml/2006/main">
              <a:ext uri="{FF2B5EF4-FFF2-40B4-BE49-F238E27FC236}">
                <a16:creationId xmlns:a16="http://schemas.microsoft.com/office/drawing/2014/main" id="{E92776B0-6B31-4896-A5AA-6467B25BA2F3}"/>
              </a:ext>
            </a:extLst>
          </p:cNvPr>
          <p:cNvCxnSpPr>
            <a:stCxn xmlns:a="http://schemas.openxmlformats.org/drawingml/2006/main" id="6" idx="0"/>
            <a:endCxn xmlns:a="http://schemas.openxmlformats.org/drawingml/2006/main" id="4" idx="1"/>
          </p:cNvCxnSpPr>
          <p:nvPr/>
        </p:nvCxnSpPr>
        <p:spPr>
          <a:xfrm xmlns:a="http://schemas.openxmlformats.org/drawingml/2006/main" flipV="1">
            <a:off x="2062163" y="2295525"/>
            <a:ext cx="2605088" cy="1657350"/>
          </a:xfrm>
          <a:prstGeom xmlns:a="http://schemas.openxmlformats.org/drawingml/2006/main" prst="bentConnector5">
            <a:avLst>
              <a:gd name="adj1" fmla="val 0"/>
              <a:gd name="adj2" fmla="val 13793"/>
              <a:gd name="adj3" fmla="val 91225"/>
            </a:avLst>
          </a:prstGeom>
          <a:ln xmlns:a="http://schemas.openxmlformats.org/drawingml/2006/main" w="19050">
            <a:solidFill>
              <a:srgbClr val="173E33"/>
            </a:solidFill>
            <a:tailEnd type="triangle" w="med" len="med"/>
          </a:ln>
        </p:spPr>
      </p:cxnSp>
      <p:cxnSp>
        <p:nvCxnSpPr>
          <p:cNvPr id="10" name="">
            <a:extLst xmlns:a="http://schemas.openxmlformats.org/drawingml/2006/main">
              <a:ext uri="{FF2B5EF4-FFF2-40B4-BE49-F238E27FC236}">
                <a16:creationId xmlns:a16="http://schemas.microsoft.com/office/drawing/2014/main" id="{C1805764-C965-4D1B-9F9D-BF145D8C4DFB}"/>
              </a:ext>
            </a:extLst>
          </p:cNvPr>
          <p:cNvCxnSpPr>
            <a:stCxn xmlns:a="http://schemas.openxmlformats.org/drawingml/2006/main" id="4" idx="3"/>
            <a:endCxn xmlns:a="http://schemas.openxmlformats.org/drawingml/2006/main" id="5" idx="1"/>
          </p:cNvCxnSpPr>
          <p:nvPr/>
        </p:nvCxnSpPr>
        <p:spPr>
          <a:xfrm xmlns:a="http://schemas.openxmlformats.org/drawingml/2006/main">
            <a:off x="7572375" y="2295525"/>
            <a:ext cx="1152525"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9" name="">
            <a:extLst xmlns:a="http://schemas.openxmlformats.org/drawingml/2006/main">
              <a:ext uri="{FF2B5EF4-FFF2-40B4-BE49-F238E27FC236}">
                <a16:creationId xmlns:a16="http://schemas.microsoft.com/office/drawing/2014/main" id="{979463DE-0048-4CBE-B5B1-8178F3EBFD19}"/>
              </a:ext>
            </a:extLst>
          </p:cNvPr>
          <p:cNvCxnSpPr>
            <a:stCxn xmlns:a="http://schemas.openxmlformats.org/drawingml/2006/main" id="3" idx="3"/>
            <a:endCxn xmlns:a="http://schemas.openxmlformats.org/drawingml/2006/main" id="4" idx="1"/>
          </p:cNvCxnSpPr>
          <p:nvPr/>
        </p:nvCxnSpPr>
        <p:spPr>
          <a:xfrm xmlns:a="http://schemas.openxmlformats.org/drawingml/2006/main">
            <a:off x="3514725" y="2295525"/>
            <a:ext cx="1152525" cy="0"/>
          </a:xfrm>
          <a:prstGeom xmlns:a="http://schemas.openxmlformats.org/drawingml/2006/main" prst="straightConnector1">
            <a:avLst/>
          </a:prstGeom>
          <a:ln xmlns:a="http://schemas.openxmlformats.org/drawingml/2006/main" w="19050">
            <a:solidFill>
              <a:srgbClr val="173E33"/>
            </a:solidFill>
            <a:tailEnd type="triangle" w="med" len="med"/>
          </a:ln>
        </p:spPr>
      </p:cxnSp>
      <p:sp>
        <p:nvSpPr>
          <p:cNvPr id="17" name="Methodology">
            <a:extLst xmlns:a="http://schemas.openxmlformats.org/drawingml/2006/main">
              <a:ext uri="{FF2B5EF4-FFF2-40B4-BE49-F238E27FC236}">
                <a16:creationId xmlns:a16="http://schemas.microsoft.com/office/drawing/2014/main" id="{9D5438E6-3D71-448B-A827-2B5F34D7A745}"/>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a:t>
            </a:r>
          </a:p>
        </p:txBody>
      </p:sp>
      <p:sp>
        <p:nvSpPr>
          <p:cNvPr id="2" name="08">
            <a:extLst xmlns:a="http://schemas.openxmlformats.org/drawingml/2006/main">
              <a:ext uri="{FF2B5EF4-FFF2-40B4-BE49-F238E27FC236}">
                <a16:creationId xmlns:a16="http://schemas.microsoft.com/office/drawing/2014/main" id="{6F5528E1-E344-4DB4-B777-428507645933}"/>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08</a:t>
            </a:r>
          </a:p>
        </p:txBody>
      </p:sp>
      <p:sp>
        <p:nvSpPr>
          <p:cNvPr id="3" name="Android seller">
            <a:extLst xmlns:a="http://schemas.openxmlformats.org/drawingml/2006/main">
              <a:ext uri="{FF2B5EF4-FFF2-40B4-BE49-F238E27FC236}">
                <a16:creationId xmlns:a16="http://schemas.microsoft.com/office/drawing/2014/main" id="{BB3B1A95-EE76-4E50-B615-18E275BE1CFD}"/>
              </a:ext>
            </a:extLst>
          </p:cNvPr>
          <p:cNvSpPr>
            <a:spLocks xmlns:a="http://schemas.openxmlformats.org/drawingml/2006/main" noGrp="1"/>
          </p:cNvSpPr>
          <p:nvPr/>
        </p:nvSpPr>
        <p:spPr>
          <a:xfrm xmlns:a="http://schemas.openxmlformats.org/drawingml/2006/main">
            <a:off x="609600" y="1714500"/>
            <a:ext cx="2905125" cy="1162050"/>
          </a:xfrm>
          <a:prstGeom xmlns:a="http://schemas.openxmlformats.org/drawingml/2006/main" prst="roundRect">
            <a:avLst>
              <a:gd name="adj" fmla="val 9836"/>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Android seller</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Room + WorkManager</a:t>
            </a:r>
          </a:p>
        </p:txBody>
      </p:sp>
      <p:sp>
        <p:nvSpPr>
          <p:cNvPr id="4" name="Django API :8000">
            <a:extLst xmlns:a="http://schemas.openxmlformats.org/drawingml/2006/main">
              <a:ext uri="{FF2B5EF4-FFF2-40B4-BE49-F238E27FC236}">
                <a16:creationId xmlns:a16="http://schemas.microsoft.com/office/drawing/2014/main" id="{7A9F650D-9D91-406F-AC33-F7B40BA8F48F}"/>
              </a:ext>
            </a:extLst>
          </p:cNvPr>
          <p:cNvSpPr>
            <a:spLocks xmlns:a="http://schemas.openxmlformats.org/drawingml/2006/main" noGrp="1"/>
          </p:cNvSpPr>
          <p:nvPr/>
        </p:nvSpPr>
        <p:spPr>
          <a:xfrm xmlns:a="http://schemas.openxmlformats.org/drawingml/2006/main">
            <a:off x="4667250" y="1714500"/>
            <a:ext cx="2905125" cy="1162050"/>
          </a:xfrm>
          <a:prstGeom xmlns:a="http://schemas.openxmlformats.org/drawingml/2006/main" prst="roundRect">
            <a:avLst>
              <a:gd name="adj" fmla="val 9836"/>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Django API :8000</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Accounts · stock · orders</a:t>
            </a:r>
          </a:p>
        </p:txBody>
      </p:sp>
      <p:sp>
        <p:nvSpPr>
          <p:cNvPr id="5" name="PostgreSQL">
            <a:extLst xmlns:a="http://schemas.openxmlformats.org/drawingml/2006/main">
              <a:ext uri="{FF2B5EF4-FFF2-40B4-BE49-F238E27FC236}">
                <a16:creationId xmlns:a16="http://schemas.microsoft.com/office/drawing/2014/main" id="{588D3F9E-DCA0-4D43-B4EF-9B066D4DC66A}"/>
              </a:ext>
            </a:extLst>
          </p:cNvPr>
          <p:cNvSpPr>
            <a:spLocks xmlns:a="http://schemas.openxmlformats.org/drawingml/2006/main" noGrp="1"/>
          </p:cNvSpPr>
          <p:nvPr/>
        </p:nvSpPr>
        <p:spPr>
          <a:xfrm xmlns:a="http://schemas.openxmlformats.org/drawingml/2006/main">
            <a:off x="8724900" y="1714500"/>
            <a:ext cx="2857500" cy="1162050"/>
          </a:xfrm>
          <a:prstGeom xmlns:a="http://schemas.openxmlformats.org/drawingml/2006/main" prst="roundRect">
            <a:avLst>
              <a:gd name="adj" fmla="val 9836"/>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PostgreSQL</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Marketplace records</a:t>
            </a:r>
          </a:p>
        </p:txBody>
      </p:sp>
      <p:sp>
        <p:nvSpPr>
          <p:cNvPr id="6" name="Next.js web :3000">
            <a:extLst xmlns:a="http://schemas.openxmlformats.org/drawingml/2006/main">
              <a:ext uri="{FF2B5EF4-FFF2-40B4-BE49-F238E27FC236}">
                <a16:creationId xmlns:a16="http://schemas.microsoft.com/office/drawing/2014/main" id="{4632290C-D3AF-4992-BCDB-CC55C4CB1E5F}"/>
              </a:ext>
            </a:extLst>
          </p:cNvPr>
          <p:cNvSpPr>
            <a:spLocks xmlns:a="http://schemas.openxmlformats.org/drawingml/2006/main" noGrp="1"/>
          </p:cNvSpPr>
          <p:nvPr/>
        </p:nvSpPr>
        <p:spPr>
          <a:xfrm xmlns:a="http://schemas.openxmlformats.org/drawingml/2006/main">
            <a:off x="609600" y="3952875"/>
            <a:ext cx="2905125" cy="1162050"/>
          </a:xfrm>
          <a:prstGeom xmlns:a="http://schemas.openxmlformats.org/drawingml/2006/main" prst="roundRect">
            <a:avLst>
              <a:gd name="adj" fmla="val 9836"/>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Next.js web :3000</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Buyer · verifier · admin</a:t>
            </a:r>
          </a:p>
        </p:txBody>
      </p:sp>
      <p:sp>
        <p:nvSpPr>
          <p:cNvPr id="7" name="FastAPI :8001">
            <a:extLst xmlns:a="http://schemas.openxmlformats.org/drawingml/2006/main">
              <a:ext uri="{FF2B5EF4-FFF2-40B4-BE49-F238E27FC236}">
                <a16:creationId xmlns:a16="http://schemas.microsoft.com/office/drawing/2014/main" id="{4C5E3773-6DCB-4978-BEB2-BCD57AC99CED}"/>
              </a:ext>
            </a:extLst>
          </p:cNvPr>
          <p:cNvSpPr>
            <a:spLocks xmlns:a="http://schemas.openxmlformats.org/drawingml/2006/main" noGrp="1"/>
          </p:cNvSpPr>
          <p:nvPr/>
        </p:nvSpPr>
        <p:spPr>
          <a:xfrm xmlns:a="http://schemas.openxmlformats.org/drawingml/2006/main">
            <a:off x="4667250" y="3952875"/>
            <a:ext cx="2905125" cy="1162050"/>
          </a:xfrm>
          <a:prstGeom xmlns:a="http://schemas.openxmlformats.org/drawingml/2006/main" prst="roundRect">
            <a:avLst>
              <a:gd name="adj" fmla="val 9836"/>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FastAPI :8001</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Grade · price · allocate</a:t>
            </a:r>
          </a:p>
        </p:txBody>
      </p:sp>
      <p:sp>
        <p:nvSpPr>
          <p:cNvPr id="8" name="Photos + checkpoints">
            <a:extLst xmlns:a="http://schemas.openxmlformats.org/drawingml/2006/main">
              <a:ext uri="{FF2B5EF4-FFF2-40B4-BE49-F238E27FC236}">
                <a16:creationId xmlns:a16="http://schemas.microsoft.com/office/drawing/2014/main" id="{8E10342B-4B31-473F-973B-2C2811D70CF3}"/>
              </a:ext>
            </a:extLst>
          </p:cNvPr>
          <p:cNvSpPr>
            <a:spLocks xmlns:a="http://schemas.openxmlformats.org/drawingml/2006/main" noGrp="1"/>
          </p:cNvSpPr>
          <p:nvPr/>
        </p:nvSpPr>
        <p:spPr>
          <a:xfrm xmlns:a="http://schemas.openxmlformats.org/drawingml/2006/main">
            <a:off x="8724900" y="3952875"/>
            <a:ext cx="2857500" cy="1162050"/>
          </a:xfrm>
          <a:prstGeom xmlns:a="http://schemas.openxmlformats.org/drawingml/2006/main" prst="roundRect">
            <a:avLst>
              <a:gd name="adj" fmla="val 9836"/>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Photos + checkpoints</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Original media · two models</a:t>
            </a:r>
          </a:p>
        </p:txBody>
      </p:sp>
      <p:sp>
        <p:nvSpPr>
          <p:cNvPr id="16" name="Runs locally on the laptop. The connected phone communi">
            <a:extLst xmlns:a="http://schemas.openxmlformats.org/drawingml/2006/main">
              <a:ext uri="{FF2B5EF4-FFF2-40B4-BE49-F238E27FC236}">
                <a16:creationId xmlns:a16="http://schemas.microsoft.com/office/drawing/2014/main" id="{1A449611-8CBC-4ACC-8E28-8367FAA8ABF2}"/>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Runs locally on the laptop. The connected phone communicates with the laptop APIs.</a:t>
            </a:r>
          </a:p>
        </p:txBody>
      </p:sp>
    </p:spTree>
    <p:extLst>
      <p:ext uri="{BB962C8B-B14F-4D97-AF65-F5344CB8AC3E}">
        <p14:creationId xmlns:p14="http://schemas.microsoft.com/office/powerpoint/2010/main" val="370376002"/>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Methodology — mobile capture and sync">
            <a:extLst xmlns:a="http://schemas.openxmlformats.org/drawingml/2006/main">
              <a:ext uri="{FF2B5EF4-FFF2-40B4-BE49-F238E27FC236}">
                <a16:creationId xmlns:a16="http://schemas.microsoft.com/office/drawing/2014/main" id="{5632CAB0-6C7A-4D3B-A9A5-CB80E54A856E}"/>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mobile capture and sync</a:t>
            </a:r>
          </a:p>
        </p:txBody>
      </p:sp>
      <p:sp>
        <p:nvSpPr>
          <p:cNvPr id="2" name="09">
            <a:extLst xmlns:a="http://schemas.openxmlformats.org/drawingml/2006/main">
              <a:ext uri="{FF2B5EF4-FFF2-40B4-BE49-F238E27FC236}">
                <a16:creationId xmlns:a16="http://schemas.microsoft.com/office/drawing/2014/main" id="{DBF18950-D375-4B0D-B149-F6983DD407F2}"/>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E658DEB0-8D52-4C65-A145-3D56143A2410}"/>
              </a:ext>
            </a:extLst>
          </p:cNvPr>
          <p:cNvPicPr>
            <a:picLocks xmlns:a="http://schemas.openxmlformats.org/drawingml/2006/main" noChangeAspect="1"/>
          </p:cNvPicPr>
          <p:nvPr/>
        </p:nvPicPr>
        <p:blipFill>
          <a:blip xmlns:r="http://schemas.openxmlformats.org/officeDocument/2006/relationships" xmlns:a="http://schemas.openxmlformats.org/drawingml/2006/main" r:embed="R492dc26e60914740"/>
          <a:stretch xmlns:a="http://schemas.openxmlformats.org/drawingml/2006/main"/>
        </p:blipFill>
        <p:spPr>
          <a:xfrm xmlns:a="http://schemas.openxmlformats.org/drawingml/2006/main">
            <a:off x="8384340" y="1428750"/>
            <a:ext cx="2128919" cy="4686300"/>
          </a:xfrm>
          <a:prstGeom xmlns:a="http://schemas.openxmlformats.org/drawingml/2006/main" prst="rect">
            <a:avLst/>
          </a:prstGeom>
        </p:spPr>
      </p:pic>
      <p:sp>
        <p:nvSpPr>
          <p:cNvPr id="4" name="Capture">
            <a:extLst xmlns:a="http://schemas.openxmlformats.org/drawingml/2006/main">
              <a:ext uri="{FF2B5EF4-FFF2-40B4-BE49-F238E27FC236}">
                <a16:creationId xmlns:a16="http://schemas.microsoft.com/office/drawing/2014/main" id="{8CE40185-F994-40B8-9190-B2A16BA9BF45}"/>
              </a:ext>
            </a:extLst>
          </p:cNvPr>
          <p:cNvSpPr>
            <a:spLocks xmlns:a="http://schemas.openxmlformats.org/drawingml/2006/main" noGrp="1"/>
          </p:cNvSpPr>
          <p:nvPr/>
        </p:nvSpPr>
        <p:spPr>
          <a:xfrm xmlns:a="http://schemas.openxmlformats.org/drawingml/2006/main">
            <a:off x="609600" y="156210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Capture</a:t>
            </a:r>
          </a:p>
        </p:txBody>
      </p:sp>
      <p:sp>
        <p:nvSpPr>
          <p:cNvPr id="5" name="Category, product, quantity, place and original photos.">
            <a:extLst xmlns:a="http://schemas.openxmlformats.org/drawingml/2006/main">
              <a:ext uri="{FF2B5EF4-FFF2-40B4-BE49-F238E27FC236}">
                <a16:creationId xmlns:a16="http://schemas.microsoft.com/office/drawing/2014/main" id="{EBA53ECB-278B-42FD-ADE0-29B27CAD7D45}"/>
              </a:ext>
            </a:extLst>
          </p:cNvPr>
          <p:cNvSpPr>
            <a:spLocks xmlns:a="http://schemas.openxmlformats.org/drawingml/2006/main" noGrp="1"/>
          </p:cNvSpPr>
          <p:nvPr/>
        </p:nvSpPr>
        <p:spPr>
          <a:xfrm xmlns:a="http://schemas.openxmlformats.org/drawingml/2006/main">
            <a:off x="609600" y="1971675"/>
            <a:ext cx="633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Category, product, quantity, place and original photos.</a:t>
            </a:r>
          </a:p>
        </p:txBody>
      </p:sp>
      <p:sp>
        <p:nvSpPr>
          <p:cNvPr id="6" name="Retain">
            <a:extLst xmlns:a="http://schemas.openxmlformats.org/drawingml/2006/main">
              <a:ext uri="{FF2B5EF4-FFF2-40B4-BE49-F238E27FC236}">
                <a16:creationId xmlns:a16="http://schemas.microsoft.com/office/drawing/2014/main" id="{A1630093-E6BA-4259-BA4D-7BE5C4FC4C33}"/>
              </a:ext>
            </a:extLst>
          </p:cNvPr>
          <p:cNvSpPr>
            <a:spLocks xmlns:a="http://schemas.openxmlformats.org/drawingml/2006/main" noGrp="1"/>
          </p:cNvSpPr>
          <p:nvPr/>
        </p:nvSpPr>
        <p:spPr>
          <a:xfrm xmlns:a="http://schemas.openxmlformats.org/drawingml/2006/main">
            <a:off x="609600" y="26479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Retain</a:t>
            </a:r>
          </a:p>
        </p:txBody>
      </p:sp>
      <p:sp>
        <p:nvSpPr>
          <p:cNvPr id="7" name="Room keeps local listing work and synchronization state">
            <a:extLst xmlns:a="http://schemas.openxmlformats.org/drawingml/2006/main">
              <a:ext uri="{FF2B5EF4-FFF2-40B4-BE49-F238E27FC236}">
                <a16:creationId xmlns:a16="http://schemas.microsoft.com/office/drawing/2014/main" id="{E705D5E9-A678-4584-BFF1-71D8B78C3DD9}"/>
              </a:ext>
            </a:extLst>
          </p:cNvPr>
          <p:cNvSpPr>
            <a:spLocks xmlns:a="http://schemas.openxmlformats.org/drawingml/2006/main" noGrp="1"/>
          </p:cNvSpPr>
          <p:nvPr/>
        </p:nvSpPr>
        <p:spPr>
          <a:xfrm xmlns:a="http://schemas.openxmlformats.org/drawingml/2006/main">
            <a:off x="609600" y="3057525"/>
            <a:ext cx="633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Room keeps local listing work and synchronization state.</a:t>
            </a:r>
          </a:p>
        </p:txBody>
      </p:sp>
      <p:sp>
        <p:nvSpPr>
          <p:cNvPr id="8" name="Synchronize">
            <a:extLst xmlns:a="http://schemas.openxmlformats.org/drawingml/2006/main">
              <a:ext uri="{FF2B5EF4-FFF2-40B4-BE49-F238E27FC236}">
                <a16:creationId xmlns:a16="http://schemas.microsoft.com/office/drawing/2014/main" id="{3343C695-FC26-4F18-934E-F78D27F6C203}"/>
              </a:ext>
            </a:extLst>
          </p:cNvPr>
          <p:cNvSpPr>
            <a:spLocks xmlns:a="http://schemas.openxmlformats.org/drawingml/2006/main" noGrp="1"/>
          </p:cNvSpPr>
          <p:nvPr/>
        </p:nvSpPr>
        <p:spPr>
          <a:xfrm xmlns:a="http://schemas.openxmlformats.org/drawingml/2006/main">
            <a:off x="609600" y="373380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Synchronize</a:t>
            </a:r>
          </a:p>
        </p:txBody>
      </p:sp>
      <p:sp>
        <p:nvSpPr>
          <p:cNvPr id="9" name="WorkManager sends records and files to the laptop API.">
            <a:extLst xmlns:a="http://schemas.openxmlformats.org/drawingml/2006/main">
              <a:ext uri="{FF2B5EF4-FFF2-40B4-BE49-F238E27FC236}">
                <a16:creationId xmlns:a16="http://schemas.microsoft.com/office/drawing/2014/main" id="{FA22551C-D5F8-4B1F-8631-181C59E58A99}"/>
              </a:ext>
            </a:extLst>
          </p:cNvPr>
          <p:cNvSpPr>
            <a:spLocks xmlns:a="http://schemas.openxmlformats.org/drawingml/2006/main" noGrp="1"/>
          </p:cNvSpPr>
          <p:nvPr/>
        </p:nvSpPr>
        <p:spPr>
          <a:xfrm xmlns:a="http://schemas.openxmlformats.org/drawingml/2006/main">
            <a:off x="609600" y="4143375"/>
            <a:ext cx="633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WorkManager sends records and files to the laptop API.</a:t>
            </a:r>
          </a:p>
        </p:txBody>
      </p:sp>
      <p:sp>
        <p:nvSpPr>
          <p:cNvPr id="10" name="Follow up">
            <a:extLst xmlns:a="http://schemas.openxmlformats.org/drawingml/2006/main">
              <a:ext uri="{FF2B5EF4-FFF2-40B4-BE49-F238E27FC236}">
                <a16:creationId xmlns:a16="http://schemas.microsoft.com/office/drawing/2014/main" id="{6B44533B-931F-4CB7-8414-53F53BA7B798}"/>
              </a:ext>
            </a:extLst>
          </p:cNvPr>
          <p:cNvSpPr>
            <a:spLocks xmlns:a="http://schemas.openxmlformats.org/drawingml/2006/main" noGrp="1"/>
          </p:cNvSpPr>
          <p:nvPr/>
        </p:nvSpPr>
        <p:spPr>
          <a:xfrm xmlns:a="http://schemas.openxmlformats.org/drawingml/2006/main">
            <a:off x="609600" y="48196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Follow up</a:t>
            </a:r>
          </a:p>
        </p:txBody>
      </p:sp>
      <p:sp>
        <p:nvSpPr>
          <p:cNvPr id="11" name="View checking status, offers and order updates.">
            <a:extLst xmlns:a="http://schemas.openxmlformats.org/drawingml/2006/main">
              <a:ext uri="{FF2B5EF4-FFF2-40B4-BE49-F238E27FC236}">
                <a16:creationId xmlns:a16="http://schemas.microsoft.com/office/drawing/2014/main" id="{65D7FDE1-53E4-454F-97D4-901A590B1B4E}"/>
              </a:ext>
            </a:extLst>
          </p:cNvPr>
          <p:cNvSpPr>
            <a:spLocks xmlns:a="http://schemas.openxmlformats.org/drawingml/2006/main" noGrp="1"/>
          </p:cNvSpPr>
          <p:nvPr/>
        </p:nvSpPr>
        <p:spPr>
          <a:xfrm xmlns:a="http://schemas.openxmlformats.org/drawingml/2006/main">
            <a:off x="609600" y="5229225"/>
            <a:ext cx="633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View checking status, offers and order updates.</a:t>
            </a:r>
          </a:p>
        </p:txBody>
      </p:sp>
    </p:spTree>
    <p:extLst>
      <p:ext uri="{BB962C8B-B14F-4D97-AF65-F5344CB8AC3E}">
        <p14:creationId xmlns:p14="http://schemas.microsoft.com/office/powerpoint/2010/main" val="1938000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Methodology — datasets and model training">
            <a:extLst xmlns:a="http://schemas.openxmlformats.org/drawingml/2006/main">
              <a:ext uri="{FF2B5EF4-FFF2-40B4-BE49-F238E27FC236}">
                <a16:creationId xmlns:a16="http://schemas.microsoft.com/office/drawing/2014/main" id="{408EA0D3-70E6-421B-99B0-518981F0CBFB}"/>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datasets and model training</a:t>
            </a:r>
          </a:p>
        </p:txBody>
      </p:sp>
      <p:sp>
        <p:nvSpPr>
          <p:cNvPr id="2" name="10">
            <a:extLst xmlns:a="http://schemas.openxmlformats.org/drawingml/2006/main">
              <a:ext uri="{FF2B5EF4-FFF2-40B4-BE49-F238E27FC236}">
                <a16:creationId xmlns:a16="http://schemas.microsoft.com/office/drawing/2014/main" id="{970F959B-18BC-4FEC-A154-51AF9C55DE11}"/>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D8EF646C-ECC2-4F62-8EA4-8F4BB11BD95D}"/>
              </a:ext>
            </a:extLst>
          </p:cNvPr>
          <p:cNvGraphicFramePr/>
          <p:nvPr/>
        </p:nvGraphicFramePr>
        <p:xfrm>
          <a:off xmlns:a="http://schemas.openxmlformats.org/drawingml/2006/main" x="609600" y="1504950"/>
          <a:ext xmlns:a="http://schemas.openxmlformats.org/drawingml/2006/main" cx="10972800" cy="4048125"/>
        </p:xfrm>
        <a:graphic xmlns:a="http://schemas.openxmlformats.org/drawingml/2006/main">
          <a:graphicData uri="http://schemas.openxmlformats.org/drawingml/2006/table">
            <a:tbl>
              <a:tblPr/>
              <a:tblGrid>
                <a:gridCol w="2714625"/>
                <a:gridCol w="4143375"/>
                <a:gridCol w="4114800"/>
              </a:tblGrid>
              <a:tr h="674688">
                <a:tc>
                  <a:txBody>
                    <a:bodyPr/>
                    <a:lstStyle/>
                    <a:p>
                      <a:r>
                        <a:rPr sz="1800" b="1">
                          <a:solidFill>
                            <a:srgbClr val="F7F5EF"/>
                          </a:solidFill>
                          <a:latin typeface="Arial"/>
                          <a:ea typeface="Arial"/>
                          <a:cs typeface="Arial"/>
                        </a:rPr>
                        <a:t>Aspect</a:t>
                      </a:r>
                    </a:p>
                  </a:txBody>
                  <a:tcPr marL="133350" marR="133350" marT="76200" marB="66675" anchor="ctr">
                    <a:solidFill>
                      <a:srgbClr val="173E33"/>
                    </a:solidFill>
                  </a:tcPr>
                </a:tc>
                <a:tc>
                  <a:txBody>
                    <a:bodyPr/>
                    <a:lstStyle/>
                    <a:p>
                      <a:r>
                        <a:rPr sz="1800" b="1">
                          <a:solidFill>
                            <a:srgbClr val="F7F5EF"/>
                          </a:solidFill>
                          <a:latin typeface="Arial"/>
                          <a:ea typeface="Arial"/>
                          <a:cs typeface="Arial"/>
                        </a:rPr>
                        <a:t>Wheat grader</a:t>
                      </a:r>
                    </a:p>
                  </a:txBody>
                  <a:tcPr marL="133350" marR="133350" marT="76200" marB="66675" anchor="ctr">
                    <a:solidFill>
                      <a:srgbClr val="173E33"/>
                    </a:solidFill>
                  </a:tcPr>
                </a:tc>
                <a:tc>
                  <a:txBody>
                    <a:bodyPr/>
                    <a:lstStyle/>
                    <a:p>
                      <a:r>
                        <a:rPr sz="1800" b="1">
                          <a:solidFill>
                            <a:srgbClr val="F7F5EF"/>
                          </a:solidFill>
                          <a:latin typeface="Arial"/>
                          <a:ea typeface="Arial"/>
                          <a:cs typeface="Arial"/>
                        </a:rPr>
                        <a:t>Fabric grader</a:t>
                      </a:r>
                    </a:p>
                  </a:txBody>
                  <a:tcPr marL="133350" marR="133350" marT="76200" marB="66675" anchor="ctr">
                    <a:solidFill>
                      <a:srgbClr val="173E33"/>
                    </a:solidFill>
                  </a:tcPr>
                </a:tc>
              </a:tr>
              <a:tr h="674688">
                <a:tc>
                  <a:txBody>
                    <a:bodyPr/>
                    <a:lstStyle/>
                    <a:p>
                      <a:r>
                        <a:rPr sz="1800">
                          <a:solidFill>
                            <a:srgbClr val="173E33"/>
                          </a:solidFill>
                          <a:latin typeface="Arial"/>
                          <a:ea typeface="Arial"/>
                          <a:cs typeface="Arial"/>
                        </a:rPr>
                        <a:t>Training material</a:t>
                      </a:r>
                    </a:p>
                  </a:txBody>
                  <a:tcPr marL="133350" marR="133350" marT="76200" marB="66675" anchor="ctr">
                    <a:solidFill>
                      <a:srgbClr val="F7F5EF"/>
                    </a:solidFill>
                  </a:tcPr>
                </a:tc>
                <a:tc>
                  <a:txBody>
                    <a:bodyPr/>
                    <a:lstStyle/>
                    <a:p>
                      <a:r>
                        <a:rPr sz="1800">
                          <a:solidFill>
                            <a:srgbClr val="173E33"/>
                          </a:solidFill>
                          <a:latin typeface="Arial"/>
                          <a:ea typeface="Arial"/>
                          <a:cs typeface="Arial"/>
                        </a:rPr>
                        <a:t>7,139 segmented grain crops</a:t>
                      </a:r>
                    </a:p>
                  </a:txBody>
                  <a:tcPr marL="133350" marR="133350" marT="76200" marB="66675" anchor="ctr">
                    <a:solidFill>
                      <a:srgbClr val="F7F5EF"/>
                    </a:solidFill>
                  </a:tcPr>
                </a:tc>
                <a:tc>
                  <a:txBody>
                    <a:bodyPr/>
                    <a:lstStyle/>
                    <a:p>
                      <a:r>
                        <a:rPr sz="1800">
                          <a:solidFill>
                            <a:srgbClr val="173E33"/>
                          </a:solidFill>
                          <a:latin typeface="Arial"/>
                          <a:ea typeface="Arial"/>
                          <a:cs typeface="Arial"/>
                        </a:rPr>
                        <a:t>400 boxed fabric photographs</a:t>
                      </a:r>
                    </a:p>
                  </a:txBody>
                  <a:tcPr marL="133350" marR="133350" marT="76200" marB="66675" anchor="ctr">
                    <a:solidFill>
                      <a:srgbClr val="F7F5EF"/>
                    </a:solidFill>
                  </a:tcPr>
                </a:tc>
              </a:tr>
              <a:tr h="674688">
                <a:tc>
                  <a:txBody>
                    <a:bodyPr/>
                    <a:lstStyle/>
                    <a:p>
                      <a:r>
                        <a:rPr sz="1800">
                          <a:solidFill>
                            <a:srgbClr val="173E33"/>
                          </a:solidFill>
                          <a:latin typeface="Arial"/>
                          <a:ea typeface="Arial"/>
                          <a:cs typeface="Arial"/>
                        </a:rPr>
                        <a:t>Recognition unit</a:t>
                      </a:r>
                    </a:p>
                  </a:txBody>
                  <a:tcPr marL="133350" marR="133350" marT="76200" marB="66675" anchor="ctr">
                    <a:solidFill>
                      <a:srgbClr val="F7F5EF"/>
                    </a:solidFill>
                  </a:tcPr>
                </a:tc>
                <a:tc>
                  <a:txBody>
                    <a:bodyPr/>
                    <a:lstStyle/>
                    <a:p>
                      <a:r>
                        <a:rPr sz="1800">
                          <a:solidFill>
                            <a:srgbClr val="173E33"/>
                          </a:solidFill>
                          <a:latin typeface="Arial"/>
                          <a:ea typeface="Arial"/>
                          <a:cs typeface="Arial"/>
                        </a:rPr>
                        <a:t>Individual segmented particle</a:t>
                      </a:r>
                    </a:p>
                  </a:txBody>
                  <a:tcPr marL="133350" marR="133350" marT="76200" marB="66675" anchor="ctr">
                    <a:solidFill>
                      <a:srgbClr val="F7F5EF"/>
                    </a:solidFill>
                  </a:tcPr>
                </a:tc>
                <a:tc>
                  <a:txBody>
                    <a:bodyPr/>
                    <a:lstStyle/>
                    <a:p>
                      <a:r>
                        <a:rPr sz="1800">
                          <a:solidFill>
                            <a:srgbClr val="173E33"/>
                          </a:solidFill>
                          <a:latin typeface="Arial"/>
                          <a:ea typeface="Arial"/>
                          <a:cs typeface="Arial"/>
                        </a:rPr>
                        <a:t>Good / defective image patch</a:t>
                      </a:r>
                    </a:p>
                  </a:txBody>
                  <a:tcPr marL="133350" marR="133350" marT="76200" marB="66675" anchor="ctr">
                    <a:solidFill>
                      <a:srgbClr val="F7F5EF"/>
                    </a:solidFill>
                  </a:tcPr>
                </a:tc>
              </a:tr>
              <a:tr h="674688">
                <a:tc>
                  <a:txBody>
                    <a:bodyPr/>
                    <a:lstStyle/>
                    <a:p>
                      <a:r>
                        <a:rPr sz="1800">
                          <a:solidFill>
                            <a:srgbClr val="173E33"/>
                          </a:solidFill>
                          <a:latin typeface="Arial"/>
                          <a:ea typeface="Arial"/>
                          <a:cs typeface="Arial"/>
                        </a:rPr>
                        <a:t>Model input</a:t>
                      </a:r>
                    </a:p>
                  </a:txBody>
                  <a:tcPr marL="133350" marR="133350" marT="76200" marB="66675" anchor="ctr">
                    <a:solidFill>
                      <a:srgbClr val="F7F5EF"/>
                    </a:solidFill>
                  </a:tcPr>
                </a:tc>
                <a:tc>
                  <a:txBody>
                    <a:bodyPr/>
                    <a:lstStyle/>
                    <a:p>
                      <a:r>
                        <a:rPr sz="1800">
                          <a:solidFill>
                            <a:srgbClr val="173E33"/>
                          </a:solidFill>
                          <a:latin typeface="Arial"/>
                          <a:ea typeface="Arial"/>
                          <a:cs typeface="Arial"/>
                        </a:rPr>
                        <a:t>128 × 128 pixels</a:t>
                      </a:r>
                    </a:p>
                  </a:txBody>
                  <a:tcPr marL="133350" marR="133350" marT="76200" marB="66675" anchor="ctr">
                    <a:solidFill>
                      <a:srgbClr val="F7F5EF"/>
                    </a:solidFill>
                  </a:tcPr>
                </a:tc>
                <a:tc>
                  <a:txBody>
                    <a:bodyPr/>
                    <a:lstStyle/>
                    <a:p>
                      <a:r>
                        <a:rPr sz="1800">
                          <a:solidFill>
                            <a:srgbClr val="173E33"/>
                          </a:solidFill>
                          <a:latin typeface="Arial"/>
                          <a:ea typeface="Arial"/>
                          <a:cs typeface="Arial"/>
                        </a:rPr>
                        <a:t>96 × 96 pixels; grayscale</a:t>
                      </a:r>
                    </a:p>
                  </a:txBody>
                  <a:tcPr marL="133350" marR="133350" marT="76200" marB="66675" anchor="ctr">
                    <a:solidFill>
                      <a:srgbClr val="F7F5EF"/>
                    </a:solidFill>
                  </a:tcPr>
                </a:tc>
              </a:tr>
              <a:tr h="674688">
                <a:tc>
                  <a:txBody>
                    <a:bodyPr/>
                    <a:lstStyle/>
                    <a:p>
                      <a:r>
                        <a:rPr sz="1800">
                          <a:solidFill>
                            <a:srgbClr val="173E33"/>
                          </a:solidFill>
                          <a:latin typeface="Arial"/>
                          <a:ea typeface="Arial"/>
                          <a:cs typeface="Arial"/>
                        </a:rPr>
                        <a:t>Documented training</a:t>
                      </a:r>
                    </a:p>
                  </a:txBody>
                  <a:tcPr marL="133350" marR="133350" marT="76200" marB="66675" anchor="ctr">
                    <a:solidFill>
                      <a:srgbClr val="F7F5EF"/>
                    </a:solidFill>
                  </a:tcPr>
                </a:tc>
                <a:tc>
                  <a:txBody>
                    <a:bodyPr/>
                    <a:lstStyle/>
                    <a:p>
                      <a:r>
                        <a:rPr sz="1800">
                          <a:solidFill>
                            <a:srgbClr val="173E33"/>
                          </a:solidFill>
                          <a:latin typeface="Arial"/>
                          <a:ea typeface="Arial"/>
                          <a:cs typeface="Arial"/>
                        </a:rPr>
                        <a:t>12 epochs; source-photo splits</a:t>
                      </a:r>
                    </a:p>
                  </a:txBody>
                  <a:tcPr marL="133350" marR="133350" marT="76200" marB="66675" anchor="ctr">
                    <a:solidFill>
                      <a:srgbClr val="F7F5EF"/>
                    </a:solidFill>
                  </a:tcPr>
                </a:tc>
                <a:tc>
                  <a:txBody>
                    <a:bodyPr/>
                    <a:lstStyle/>
                    <a:p>
                      <a:r>
                        <a:rPr sz="1800">
                          <a:solidFill>
                            <a:srgbClr val="173E33"/>
                          </a:solidFill>
                          <a:latin typeface="Arial"/>
                          <a:ea typeface="Arial"/>
                          <a:cs typeface="Arial"/>
                        </a:rPr>
                        <a:t>8 epochs; patch sampling</a:t>
                      </a:r>
                    </a:p>
                  </a:txBody>
                  <a:tcPr marL="133350" marR="133350" marT="76200" marB="66675" anchor="ctr">
                    <a:solidFill>
                      <a:srgbClr val="F7F5EF"/>
                    </a:solidFill>
                  </a:tcPr>
                </a:tc>
              </a:tr>
              <a:tr h="674688">
                <a:tc>
                  <a:txBody>
                    <a:bodyPr/>
                    <a:lstStyle/>
                    <a:p>
                      <a:r>
                        <a:rPr sz="1800">
                          <a:solidFill>
                            <a:srgbClr val="173E33"/>
                          </a:solidFill>
                          <a:latin typeface="Arial"/>
                          <a:ea typeface="Arial"/>
                          <a:cs typeface="Arial"/>
                        </a:rPr>
                        <a:t>Shared backbone</a:t>
                      </a:r>
                    </a:p>
                  </a:txBody>
                  <a:tcPr marL="133350" marR="133350" marT="76200" marB="66675" anchor="ctr">
                    <a:solidFill>
                      <a:srgbClr val="F7F5EF"/>
                    </a:solidFill>
                  </a:tcPr>
                </a:tc>
                <a:tc>
                  <a:txBody>
                    <a:bodyPr/>
                    <a:lstStyle/>
                    <a:p>
                      <a:r>
                        <a:rPr sz="1800">
                          <a:solidFill>
                            <a:srgbClr val="173E33"/>
                          </a:solidFill>
                          <a:latin typeface="Arial"/>
                          <a:ea typeface="Arial"/>
                          <a:cs typeface="Arial"/>
                        </a:rPr>
                        <a:t>MobileNetV3 Small</a:t>
                      </a:r>
                    </a:p>
                  </a:txBody>
                  <a:tcPr marL="133350" marR="133350" marT="76200" marB="66675" anchor="ctr">
                    <a:solidFill>
                      <a:srgbClr val="F7F5EF"/>
                    </a:solidFill>
                  </a:tcPr>
                </a:tc>
                <a:tc>
                  <a:txBody>
                    <a:bodyPr/>
                    <a:lstStyle/>
                    <a:p>
                      <a:r>
                        <a:rPr sz="1800">
                          <a:solidFill>
                            <a:srgbClr val="173E33"/>
                          </a:solidFill>
                          <a:latin typeface="Arial"/>
                          <a:ea typeface="Arial"/>
                          <a:cs typeface="Arial"/>
                        </a:rPr>
                        <a:t>MobileNetV3 Small</a:t>
                      </a:r>
                    </a:p>
                  </a:txBody>
                  <a:tcPr marL="133350" marR="133350" marT="76200" marB="66675" anchor="ctr">
                    <a:solidFill>
                      <a:srgbClr val="F7F5EF"/>
                    </a:solidFill>
                  </a:tcPr>
                </a:tc>
              </a:tr>
            </a:tbl>
          </a:graphicData>
        </a:graphic>
      </p:graphicFrame>
      <p:sp>
        <p:nvSpPr>
          <p:cNvPr id="4" name="Two shipped checkpoints. Training details describe the ">
            <a:extLst xmlns:a="http://schemas.openxmlformats.org/drawingml/2006/main">
              <a:ext uri="{FF2B5EF4-FFF2-40B4-BE49-F238E27FC236}">
                <a16:creationId xmlns:a16="http://schemas.microsoft.com/office/drawing/2014/main" id="{98448661-74BC-48B6-8B65-B8343284BDD8}"/>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Two shipped checkpoints. Training details describe the existing pipeline; no retraining was done for the review.</a:t>
            </a:r>
          </a:p>
        </p:txBody>
      </p:sp>
    </p:spTree>
    <p:extLst>
      <p:ext uri="{BB962C8B-B14F-4D97-AF65-F5344CB8AC3E}">
        <p14:creationId xmlns:p14="http://schemas.microsoft.com/office/powerpoint/2010/main" val="145132095"/>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Methodology — wheat photo grading">
            <a:extLst xmlns:a="http://schemas.openxmlformats.org/drawingml/2006/main">
              <a:ext uri="{FF2B5EF4-FFF2-40B4-BE49-F238E27FC236}">
                <a16:creationId xmlns:a16="http://schemas.microsoft.com/office/drawing/2014/main" id="{BDA78DA3-CA04-4492-ABBF-133496B9C0C6}"/>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wheat photo grading</a:t>
            </a:r>
          </a:p>
        </p:txBody>
      </p:sp>
      <p:sp>
        <p:nvSpPr>
          <p:cNvPr id="2" name="11">
            <a:extLst xmlns:a="http://schemas.openxmlformats.org/drawingml/2006/main">
              <a:ext uri="{FF2B5EF4-FFF2-40B4-BE49-F238E27FC236}">
                <a16:creationId xmlns:a16="http://schemas.microsoft.com/office/drawing/2014/main" id="{153D85F5-083F-4B4C-988D-8C00BB13BA5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E1DAE896-DAF1-42A8-A85F-7273E5A679E3}"/>
              </a:ext>
            </a:extLst>
          </p:cNvPr>
          <p:cNvPicPr>
            <a:picLocks xmlns:a="http://schemas.openxmlformats.org/drawingml/2006/main" noChangeAspect="1"/>
          </p:cNvPicPr>
          <p:nvPr/>
        </p:nvPicPr>
        <p:blipFill>
          <a:blip xmlns:r="http://schemas.openxmlformats.org/officeDocument/2006/relationships" xmlns:a="http://schemas.openxmlformats.org/drawingml/2006/main" r:embed="R8d8b199528934c5c"/>
          <a:stretch xmlns:a="http://schemas.openxmlformats.org/drawingml/2006/main"/>
        </p:blipFill>
        <p:spPr>
          <a:xfrm xmlns:a="http://schemas.openxmlformats.org/drawingml/2006/main">
            <a:off x="800100" y="1571625"/>
            <a:ext cx="4191000" cy="4191000"/>
          </a:xfrm>
          <a:prstGeom xmlns:a="http://schemas.openxmlformats.org/drawingml/2006/main" prst="rect">
            <a:avLst/>
          </a:prstGeom>
        </p:spPr>
      </p:pic>
      <p:sp>
        <p:nvSpPr>
          <p:cNvPr id="4" name="1  Segment particles">
            <a:extLst xmlns:a="http://schemas.openxmlformats.org/drawingml/2006/main">
              <a:ext uri="{FF2B5EF4-FFF2-40B4-BE49-F238E27FC236}">
                <a16:creationId xmlns:a16="http://schemas.microsoft.com/office/drawing/2014/main" id="{25E91E70-04D2-4487-9BF2-1EE935162242}"/>
              </a:ext>
            </a:extLst>
          </p:cNvPr>
          <p:cNvSpPr>
            <a:spLocks xmlns:a="http://schemas.openxmlformats.org/drawingml/2006/main" noGrp="1"/>
          </p:cNvSpPr>
          <p:nvPr/>
        </p:nvSpPr>
        <p:spPr>
          <a:xfrm xmlns:a="http://schemas.openxmlformats.org/drawingml/2006/main">
            <a:off x="5810250" y="159067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1  Segment particles</a:t>
            </a:r>
          </a:p>
        </p:txBody>
      </p:sp>
      <p:sp>
        <p:nvSpPr>
          <p:cNvPr id="5" name="Red-channel Otsu; maximum side 1,600 px.">
            <a:extLst xmlns:a="http://schemas.openxmlformats.org/drawingml/2006/main">
              <a:ext uri="{FF2B5EF4-FFF2-40B4-BE49-F238E27FC236}">
                <a16:creationId xmlns:a16="http://schemas.microsoft.com/office/drawing/2014/main" id="{30464C0B-2B12-44CE-918E-D6619AFC178D}"/>
              </a:ext>
            </a:extLst>
          </p:cNvPr>
          <p:cNvSpPr>
            <a:spLocks xmlns:a="http://schemas.openxmlformats.org/drawingml/2006/main" noGrp="1"/>
          </p:cNvSpPr>
          <p:nvPr/>
        </p:nvSpPr>
        <p:spPr>
          <a:xfrm xmlns:a="http://schemas.openxmlformats.org/drawingml/2006/main">
            <a:off x="5810250" y="2000250"/>
            <a:ext cx="5619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Red-channel Otsu; maximum side 1,600 px.</a:t>
            </a:r>
          </a:p>
        </p:txBody>
      </p:sp>
      <p:sp>
        <p:nvSpPr>
          <p:cNvPr id="6" name="2  Classify each crop">
            <a:extLst xmlns:a="http://schemas.openxmlformats.org/drawingml/2006/main">
              <a:ext uri="{FF2B5EF4-FFF2-40B4-BE49-F238E27FC236}">
                <a16:creationId xmlns:a16="http://schemas.microsoft.com/office/drawing/2014/main" id="{43C5D12E-BA16-4C5C-AA96-DA9852288831}"/>
              </a:ext>
            </a:extLst>
          </p:cNvPr>
          <p:cNvSpPr>
            <a:spLocks xmlns:a="http://schemas.openxmlformats.org/drawingml/2006/main" noGrp="1"/>
          </p:cNvSpPr>
          <p:nvPr/>
        </p:nvSpPr>
        <p:spPr>
          <a:xfrm xmlns:a="http://schemas.openxmlformats.org/drawingml/2006/main">
            <a:off x="5810250" y="282892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2  Classify each crop</a:t>
            </a:r>
          </a:p>
        </p:txBody>
      </p:sp>
      <p:sp>
        <p:nvSpPr>
          <p:cNvPr id="7" name="Sound, damaged, foreign or covered.">
            <a:extLst xmlns:a="http://schemas.openxmlformats.org/drawingml/2006/main">
              <a:ext uri="{FF2B5EF4-FFF2-40B4-BE49-F238E27FC236}">
                <a16:creationId xmlns:a16="http://schemas.microsoft.com/office/drawing/2014/main" id="{07E8DA7A-C818-40DB-B70D-E4A449282CF6}"/>
              </a:ext>
            </a:extLst>
          </p:cNvPr>
          <p:cNvSpPr>
            <a:spLocks xmlns:a="http://schemas.openxmlformats.org/drawingml/2006/main" noGrp="1"/>
          </p:cNvSpPr>
          <p:nvPr/>
        </p:nvSpPr>
        <p:spPr>
          <a:xfrm xmlns:a="http://schemas.openxmlformats.org/drawingml/2006/main">
            <a:off x="5810250" y="3238500"/>
            <a:ext cx="5619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Sound, damaged, foreign or covered.</a:t>
            </a:r>
          </a:p>
        </p:txBody>
      </p:sp>
      <p:sp>
        <p:nvSpPr>
          <p:cNvPr id="8" name="3  Aggregate and score">
            <a:extLst xmlns:a="http://schemas.openxmlformats.org/drawingml/2006/main">
              <a:ext uri="{FF2B5EF4-FFF2-40B4-BE49-F238E27FC236}">
                <a16:creationId xmlns:a16="http://schemas.microsoft.com/office/drawing/2014/main" id="{248A8605-706C-495D-B094-C16B0701DC65}"/>
              </a:ext>
            </a:extLst>
          </p:cNvPr>
          <p:cNvSpPr>
            <a:spLocks xmlns:a="http://schemas.openxmlformats.org/drawingml/2006/main" noGrp="1"/>
          </p:cNvSpPr>
          <p:nvPr/>
        </p:nvSpPr>
        <p:spPr>
          <a:xfrm xmlns:a="http://schemas.openxmlformats.org/drawingml/2006/main">
            <a:off x="5810250" y="406717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3  Aggregate and score</a:t>
            </a:r>
          </a:p>
        </p:txBody>
      </p:sp>
      <p:sp>
        <p:nvSpPr>
          <p:cNvPr id="9" name="Quality = clip(1 − bad share / tolerance).">
            <a:extLst xmlns:a="http://schemas.openxmlformats.org/drawingml/2006/main">
              <a:ext uri="{FF2B5EF4-FFF2-40B4-BE49-F238E27FC236}">
                <a16:creationId xmlns:a16="http://schemas.microsoft.com/office/drawing/2014/main" id="{110955E4-C15A-4DCB-BA9F-7EBD81140ADD}"/>
              </a:ext>
            </a:extLst>
          </p:cNvPr>
          <p:cNvSpPr>
            <a:spLocks xmlns:a="http://schemas.openxmlformats.org/drawingml/2006/main" noGrp="1"/>
          </p:cNvSpPr>
          <p:nvPr/>
        </p:nvSpPr>
        <p:spPr>
          <a:xfrm xmlns:a="http://schemas.openxmlformats.org/drawingml/2006/main">
            <a:off x="5810250" y="4476750"/>
            <a:ext cx="5619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Quality = clip(1 − bad share / tolerance).</a:t>
            </a:r>
          </a:p>
        </p:txBody>
      </p:sp>
      <p:sp>
        <p:nvSpPr>
          <p:cNvPr id="10" name="Tolerance: foreign share 10%; damaged share 25%. Higher">
            <a:extLst xmlns:a="http://schemas.openxmlformats.org/drawingml/2006/main">
              <a:ext uri="{FF2B5EF4-FFF2-40B4-BE49-F238E27FC236}">
                <a16:creationId xmlns:a16="http://schemas.microsoft.com/office/drawing/2014/main" id="{F3D9A3DE-4420-42FF-8D38-80E1006713AD}"/>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Tolerance: foreign share 10%; damaged share 25%. Higher quality scores mean fewer predicted problems.</a:t>
            </a:r>
          </a:p>
        </p:txBody>
      </p:sp>
    </p:spTree>
    <p:extLst>
      <p:ext uri="{BB962C8B-B14F-4D97-AF65-F5344CB8AC3E}">
        <p14:creationId xmlns:p14="http://schemas.microsoft.com/office/powerpoint/2010/main" val="1412838586"/>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Methodology — fabric patch grading">
            <a:extLst xmlns:a="http://schemas.openxmlformats.org/drawingml/2006/main">
              <a:ext uri="{FF2B5EF4-FFF2-40B4-BE49-F238E27FC236}">
                <a16:creationId xmlns:a16="http://schemas.microsoft.com/office/drawing/2014/main" id="{0104524F-F7B6-4FEF-A08D-6E141FF796E0}"/>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fabric patch grading</a:t>
            </a:r>
          </a:p>
        </p:txBody>
      </p:sp>
      <p:sp>
        <p:nvSpPr>
          <p:cNvPr id="2" name="12">
            <a:extLst xmlns:a="http://schemas.openxmlformats.org/drawingml/2006/main">
              <a:ext uri="{FF2B5EF4-FFF2-40B4-BE49-F238E27FC236}">
                <a16:creationId xmlns:a16="http://schemas.microsoft.com/office/drawing/2014/main" id="{AF984B38-F27A-4A11-A582-31DE51B53CC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C8AA5C2F-150D-4C90-99C1-0C04EF60AC50}"/>
              </a:ext>
            </a:extLst>
          </p:cNvPr>
          <p:cNvPicPr>
            <a:picLocks xmlns:a="http://schemas.openxmlformats.org/drawingml/2006/main" noChangeAspect="1"/>
          </p:cNvPicPr>
          <p:nvPr/>
        </p:nvPicPr>
        <p:blipFill>
          <a:blip xmlns:r="http://schemas.openxmlformats.org/officeDocument/2006/relationships" xmlns:a="http://schemas.openxmlformats.org/drawingml/2006/main" r:embed="R5143664ba63a45c6"/>
          <a:stretch xmlns:a="http://schemas.openxmlformats.org/drawingml/2006/main"/>
        </p:blipFill>
        <p:spPr>
          <a:xfrm xmlns:a="http://schemas.openxmlformats.org/drawingml/2006/main">
            <a:off x="681038" y="1600200"/>
            <a:ext cx="4095750" cy="4095750"/>
          </a:xfrm>
          <a:prstGeom xmlns:a="http://schemas.openxmlformats.org/drawingml/2006/main" prst="rect">
            <a:avLst/>
          </a:prstGeom>
        </p:spPr>
      </p:pic>
      <p:sp>
        <p:nvSpPr>
          <p:cNvPr id="4" name="1  Tile the image">
            <a:extLst xmlns:a="http://schemas.openxmlformats.org/drawingml/2006/main">
              <a:ext uri="{FF2B5EF4-FFF2-40B4-BE49-F238E27FC236}">
                <a16:creationId xmlns:a16="http://schemas.microsoft.com/office/drawing/2014/main" id="{0F68A01E-90A2-40BB-A07E-DBBCF3E1C279}"/>
              </a:ext>
            </a:extLst>
          </p:cNvPr>
          <p:cNvSpPr>
            <a:spLocks xmlns:a="http://schemas.openxmlformats.org/drawingml/2006/main" noGrp="1"/>
          </p:cNvSpPr>
          <p:nvPr/>
        </p:nvSpPr>
        <p:spPr>
          <a:xfrm xmlns:a="http://schemas.openxmlformats.org/drawingml/2006/main">
            <a:off x="5581650" y="1590675"/>
            <a:ext cx="596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1  Tile the image</a:t>
            </a:r>
          </a:p>
        </p:txBody>
      </p:sp>
      <p:sp>
        <p:nvSpPr>
          <p:cNvPr id="5" name="64 × 64 patches after long-side resize to 768 px.">
            <a:extLst xmlns:a="http://schemas.openxmlformats.org/drawingml/2006/main">
              <a:ext uri="{FF2B5EF4-FFF2-40B4-BE49-F238E27FC236}">
                <a16:creationId xmlns:a16="http://schemas.microsoft.com/office/drawing/2014/main" id="{387D7FDE-EA7A-4F5D-813E-A19574B52668}"/>
              </a:ext>
            </a:extLst>
          </p:cNvPr>
          <p:cNvSpPr>
            <a:spLocks xmlns:a="http://schemas.openxmlformats.org/drawingml/2006/main" noGrp="1"/>
          </p:cNvSpPr>
          <p:nvPr/>
        </p:nvSpPr>
        <p:spPr>
          <a:xfrm xmlns:a="http://schemas.openxmlformats.org/drawingml/2006/main">
            <a:off x="5581650" y="2000250"/>
            <a:ext cx="5962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64 × 64 patches after long-side resize to 768 px.</a:t>
            </a:r>
          </a:p>
        </p:txBody>
      </p:sp>
      <p:sp>
        <p:nvSpPr>
          <p:cNvPr id="6" name="2  Classify patches">
            <a:extLst xmlns:a="http://schemas.openxmlformats.org/drawingml/2006/main">
              <a:ext uri="{FF2B5EF4-FFF2-40B4-BE49-F238E27FC236}">
                <a16:creationId xmlns:a16="http://schemas.microsoft.com/office/drawing/2014/main" id="{0F3B38F1-FA34-4555-AC6B-A38F6991BE19}"/>
              </a:ext>
            </a:extLst>
          </p:cNvPr>
          <p:cNvSpPr>
            <a:spLocks xmlns:a="http://schemas.openxmlformats.org/drawingml/2006/main" noGrp="1"/>
          </p:cNvSpPr>
          <p:nvPr/>
        </p:nvSpPr>
        <p:spPr>
          <a:xfrm xmlns:a="http://schemas.openxmlformats.org/drawingml/2006/main">
            <a:off x="5581650" y="2867025"/>
            <a:ext cx="596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2  Classify patches</a:t>
            </a:r>
          </a:p>
        </p:txBody>
      </p:sp>
      <p:sp>
        <p:nvSpPr>
          <p:cNvPr id="7" name="Good, hole, object, oil spot or thread error.">
            <a:extLst xmlns:a="http://schemas.openxmlformats.org/drawingml/2006/main">
              <a:ext uri="{FF2B5EF4-FFF2-40B4-BE49-F238E27FC236}">
                <a16:creationId xmlns:a16="http://schemas.microsoft.com/office/drawing/2014/main" id="{ED039BB9-D83A-4CFB-8EA2-DCE350A72E70}"/>
              </a:ext>
            </a:extLst>
          </p:cNvPr>
          <p:cNvSpPr>
            <a:spLocks xmlns:a="http://schemas.openxmlformats.org/drawingml/2006/main" noGrp="1"/>
          </p:cNvSpPr>
          <p:nvPr/>
        </p:nvSpPr>
        <p:spPr>
          <a:xfrm xmlns:a="http://schemas.openxmlformats.org/drawingml/2006/main">
            <a:off x="5581650" y="3276600"/>
            <a:ext cx="5962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Good, hole, object, oil spot or thread error.</a:t>
            </a:r>
          </a:p>
        </p:txBody>
      </p:sp>
      <p:sp>
        <p:nvSpPr>
          <p:cNvPr id="8" name="3  Convert defect share">
            <a:extLst xmlns:a="http://schemas.openxmlformats.org/drawingml/2006/main">
              <a:ext uri="{FF2B5EF4-FFF2-40B4-BE49-F238E27FC236}">
                <a16:creationId xmlns:a16="http://schemas.microsoft.com/office/drawing/2014/main" id="{B6298E49-0C06-479F-B7F1-12A8F4B935DC}"/>
              </a:ext>
            </a:extLst>
          </p:cNvPr>
          <p:cNvSpPr>
            <a:spLocks xmlns:a="http://schemas.openxmlformats.org/drawingml/2006/main" noGrp="1"/>
          </p:cNvSpPr>
          <p:nvPr/>
        </p:nvSpPr>
        <p:spPr>
          <a:xfrm xmlns:a="http://schemas.openxmlformats.org/drawingml/2006/main">
            <a:off x="5581650" y="4143375"/>
            <a:ext cx="596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3  Convert defect share</a:t>
            </a:r>
          </a:p>
        </p:txBody>
      </p:sp>
      <p:sp>
        <p:nvSpPr>
          <p:cNvPr id="9" name="Quality = clip(1 − max(0, share − 2%) / 10%).">
            <a:extLst xmlns:a="http://schemas.openxmlformats.org/drawingml/2006/main">
              <a:ext uri="{FF2B5EF4-FFF2-40B4-BE49-F238E27FC236}">
                <a16:creationId xmlns:a16="http://schemas.microsoft.com/office/drawing/2014/main" id="{F0AA9211-32A4-4B01-8E9A-2EB099E566B9}"/>
              </a:ext>
            </a:extLst>
          </p:cNvPr>
          <p:cNvSpPr>
            <a:spLocks xmlns:a="http://schemas.openxmlformats.org/drawingml/2006/main" noGrp="1"/>
          </p:cNvSpPr>
          <p:nvPr/>
        </p:nvSpPr>
        <p:spPr>
          <a:xfrm xmlns:a="http://schemas.openxmlformats.org/drawingml/2006/main">
            <a:off x="5581650" y="4552950"/>
            <a:ext cx="5962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Quality = clip(1 − max(0, share − 2%) / 10%).</a:t>
            </a:r>
          </a:p>
        </p:txBody>
      </p:sp>
      <p:sp>
        <p:nvSpPr>
          <p:cNvPr id="10" name="The defect share is a model estimate over patches; it i">
            <a:extLst xmlns:a="http://schemas.openxmlformats.org/drawingml/2006/main">
              <a:ext uri="{FF2B5EF4-FFF2-40B4-BE49-F238E27FC236}">
                <a16:creationId xmlns:a16="http://schemas.microsoft.com/office/drawing/2014/main" id="{C17524B4-6082-445A-92DA-29C5B07172FA}"/>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The defect share is a model estimate over patches; it is not laboratory ground truth or defect area.</a:t>
            </a:r>
          </a:p>
        </p:txBody>
      </p:sp>
    </p:spTree>
    <p:extLst>
      <p:ext uri="{BB962C8B-B14F-4D97-AF65-F5344CB8AC3E}">
        <p14:creationId xmlns:p14="http://schemas.microsoft.com/office/powerpoint/2010/main" val="179177132"/>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846C60B0-16FC-489C-8B9D-B61192483AC6}"/>
              </a:ext>
            </a:extLst>
          </p:cNvPr>
          <p:cNvCxnSpPr>
            <a:stCxn xmlns:a="http://schemas.openxmlformats.org/drawingml/2006/main" id="5" idx="3"/>
            <a:endCxn xmlns:a="http://schemas.openxmlformats.org/drawingml/2006/main" id="6" idx="1"/>
          </p:cNvCxnSpPr>
          <p:nvPr/>
        </p:nvCxnSpPr>
        <p:spPr>
          <a:xfrm xmlns:a="http://schemas.openxmlformats.org/drawingml/2006/main">
            <a:off x="3848100" y="4524375"/>
            <a:ext cx="771525"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7" name="">
            <a:extLst xmlns:a="http://schemas.openxmlformats.org/drawingml/2006/main">
              <a:ext uri="{FF2B5EF4-FFF2-40B4-BE49-F238E27FC236}">
                <a16:creationId xmlns:a16="http://schemas.microsoft.com/office/drawing/2014/main" id="{E18BABAB-E33C-46A4-984A-3CE146BDDBAF}"/>
              </a:ext>
            </a:extLst>
          </p:cNvPr>
          <p:cNvCxnSpPr>
            <a:stCxn xmlns:a="http://schemas.openxmlformats.org/drawingml/2006/main" id="3" idx="3"/>
            <a:endCxn xmlns:a="http://schemas.openxmlformats.org/drawingml/2006/main" id="4" idx="1"/>
          </p:cNvCxnSpPr>
          <p:nvPr/>
        </p:nvCxnSpPr>
        <p:spPr>
          <a:xfrm xmlns:a="http://schemas.openxmlformats.org/drawingml/2006/main">
            <a:off x="3848100" y="2305050"/>
            <a:ext cx="771525" cy="0"/>
          </a:xfrm>
          <a:prstGeom xmlns:a="http://schemas.openxmlformats.org/drawingml/2006/main" prst="straightConnector1">
            <a:avLst/>
          </a:prstGeom>
          <a:ln xmlns:a="http://schemas.openxmlformats.org/drawingml/2006/main" w="19050">
            <a:solidFill>
              <a:srgbClr val="173E33"/>
            </a:solidFill>
            <a:tailEnd type="triangle" w="med" len="med"/>
          </a:ln>
        </p:spPr>
      </p:cxnSp>
      <p:sp>
        <p:nvSpPr>
          <p:cNvPr id="13" name="Methodology — grade and confidence">
            <a:extLst xmlns:a="http://schemas.openxmlformats.org/drawingml/2006/main">
              <a:ext uri="{FF2B5EF4-FFF2-40B4-BE49-F238E27FC236}">
                <a16:creationId xmlns:a16="http://schemas.microsoft.com/office/drawing/2014/main" id="{2899C4E0-2C0D-419E-8A80-14ED27CAB3ED}"/>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grade and confidence</a:t>
            </a:r>
          </a:p>
        </p:txBody>
      </p:sp>
      <p:sp>
        <p:nvSpPr>
          <p:cNvPr id="2" name="13">
            <a:extLst xmlns:a="http://schemas.openxmlformats.org/drawingml/2006/main">
              <a:ext uri="{FF2B5EF4-FFF2-40B4-BE49-F238E27FC236}">
                <a16:creationId xmlns:a16="http://schemas.microsoft.com/office/drawing/2014/main" id="{19648D90-1A83-4544-8757-7D5D9911D4E9}"/>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13</a:t>
            </a:r>
          </a:p>
        </p:txBody>
      </p:sp>
      <p:sp>
        <p:nvSpPr>
          <p:cNvPr id="3" name="Quality scores">
            <a:extLst xmlns:a="http://schemas.openxmlformats.org/drawingml/2006/main">
              <a:ext uri="{FF2B5EF4-FFF2-40B4-BE49-F238E27FC236}">
                <a16:creationId xmlns:a16="http://schemas.microsoft.com/office/drawing/2014/main" id="{B6F47AFE-8ABB-4003-9454-D84B7406B02B}"/>
              </a:ext>
            </a:extLst>
          </p:cNvPr>
          <p:cNvSpPr>
            <a:spLocks xmlns:a="http://schemas.openxmlformats.org/drawingml/2006/main" noGrp="1"/>
          </p:cNvSpPr>
          <p:nvPr/>
        </p:nvSpPr>
        <p:spPr>
          <a:xfrm xmlns:a="http://schemas.openxmlformats.org/drawingml/2006/main">
            <a:off x="609600" y="1685925"/>
            <a:ext cx="3238500" cy="1238250"/>
          </a:xfrm>
          <a:prstGeom xmlns:a="http://schemas.openxmlformats.org/drawingml/2006/main" prst="roundRect">
            <a:avLst>
              <a:gd name="adj" fmla="val 9231"/>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Quality scores</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Weighted mean of attributes</a:t>
            </a:r>
          </a:p>
        </p:txBody>
      </p:sp>
      <p:sp>
        <p:nvSpPr>
          <p:cNvPr id="4" name="Grade A / B / C">
            <a:extLst xmlns:a="http://schemas.openxmlformats.org/drawingml/2006/main">
              <a:ext uri="{FF2B5EF4-FFF2-40B4-BE49-F238E27FC236}">
                <a16:creationId xmlns:a16="http://schemas.microsoft.com/office/drawing/2014/main" id="{7C326F0A-BB8F-468A-945F-6788E5381AE5}"/>
              </a:ext>
            </a:extLst>
          </p:cNvPr>
          <p:cNvSpPr>
            <a:spLocks xmlns:a="http://schemas.openxmlformats.org/drawingml/2006/main" noGrp="1"/>
          </p:cNvSpPr>
          <p:nvPr/>
        </p:nvSpPr>
        <p:spPr>
          <a:xfrm xmlns:a="http://schemas.openxmlformats.org/drawingml/2006/main">
            <a:off x="4619625" y="1685925"/>
            <a:ext cx="3238500" cy="1238250"/>
          </a:xfrm>
          <a:prstGeom xmlns:a="http://schemas.openxmlformats.org/drawingml/2006/main" prst="roundRect">
            <a:avLst>
              <a:gd name="adj" fmla="val 9231"/>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Grade A / B / C</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A ≥ 85% · B ≥ 65%</a:t>
            </a:r>
          </a:p>
        </p:txBody>
      </p:sp>
      <p:sp>
        <p:nvSpPr>
          <p:cNvPr id="5" name="Confidence">
            <a:extLst xmlns:a="http://schemas.openxmlformats.org/drawingml/2006/main">
              <a:ext uri="{FF2B5EF4-FFF2-40B4-BE49-F238E27FC236}">
                <a16:creationId xmlns:a16="http://schemas.microsoft.com/office/drawing/2014/main" id="{A04D7848-FEF7-4C97-812F-D34B9584405D}"/>
              </a:ext>
            </a:extLst>
          </p:cNvPr>
          <p:cNvSpPr>
            <a:spLocks xmlns:a="http://schemas.openxmlformats.org/drawingml/2006/main" noGrp="1"/>
          </p:cNvSpPr>
          <p:nvPr/>
        </p:nvSpPr>
        <p:spPr>
          <a:xfrm xmlns:a="http://schemas.openxmlformats.org/drawingml/2006/main">
            <a:off x="609600" y="3905250"/>
            <a:ext cx="3238500" cy="1238250"/>
          </a:xfrm>
          <a:prstGeom xmlns:a="http://schemas.openxmlformats.org/drawingml/2006/main" prst="roundRect">
            <a:avLst>
              <a:gd name="adj" fmla="val 9231"/>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Confidence</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Capped by validation report</a:t>
            </a:r>
          </a:p>
        </p:txBody>
      </p:sp>
      <p:sp>
        <p:nvSpPr>
          <p:cNvPr id="6" name="Human review">
            <a:extLst xmlns:a="http://schemas.openxmlformats.org/drawingml/2006/main">
              <a:ext uri="{FF2B5EF4-FFF2-40B4-BE49-F238E27FC236}">
                <a16:creationId xmlns:a16="http://schemas.microsoft.com/office/drawing/2014/main" id="{749143EE-8637-4E8A-99DA-91E1B706A84B}"/>
              </a:ext>
            </a:extLst>
          </p:cNvPr>
          <p:cNvSpPr>
            <a:spLocks xmlns:a="http://schemas.openxmlformats.org/drawingml/2006/main" noGrp="1"/>
          </p:cNvSpPr>
          <p:nvPr/>
        </p:nvSpPr>
        <p:spPr>
          <a:xfrm xmlns:a="http://schemas.openxmlformats.org/drawingml/2006/main">
            <a:off x="4619625" y="3905250"/>
            <a:ext cx="3238500" cy="1238250"/>
          </a:xfrm>
          <a:prstGeom xmlns:a="http://schemas.openxmlformats.org/drawingml/2006/main" prst="roundRect">
            <a:avLst>
              <a:gd name="adj" fmla="val 9231"/>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Human review</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Required when below 80%</a:t>
            </a:r>
          </a:p>
        </p:txBody>
      </p:sp>
      <p:sp>
        <p:nvSpPr>
          <p:cNvPr id="9" name="Current caps">
            <a:extLst xmlns:a="http://schemas.openxmlformats.org/drawingml/2006/main">
              <a:ext uri="{FF2B5EF4-FFF2-40B4-BE49-F238E27FC236}">
                <a16:creationId xmlns:a16="http://schemas.microsoft.com/office/drawing/2014/main" id="{2CBE55E8-D69A-475D-B284-7E8A4CE0F5F7}"/>
              </a:ext>
            </a:extLst>
          </p:cNvPr>
          <p:cNvSpPr>
            <a:spLocks xmlns:a="http://schemas.openxmlformats.org/drawingml/2006/main" noGrp="1"/>
          </p:cNvSpPr>
          <p:nvPr/>
        </p:nvSpPr>
        <p:spPr>
          <a:xfrm xmlns:a="http://schemas.openxmlformats.org/drawingml/2006/main">
            <a:off x="8782050" y="1952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a:solidFill>
                  <a:srgbClr val="173E33"/>
                </a:solidFill>
                <a:latin typeface="Arial"/>
                <a:ea typeface="Arial"/>
                <a:cs typeface="Arial"/>
              </a:defRPr>
            </a:defPPr>
          </a:lstStyle>
          <a:p xmlns:a="http://schemas.openxmlformats.org/drawingml/2006/main">
            <a:pPr algn="l">
              <a:defRPr sz="2175" b="1">
                <a:solidFill>
                  <a:srgbClr val="173E33"/>
                </a:solidFill>
                <a:latin typeface="Arial"/>
                <a:ea typeface="Arial"/>
                <a:cs typeface="Arial"/>
              </a:defRPr>
            </a:pPr>
            <a:r>
              <a:rPr sz="2175" b="1">
                <a:solidFill>
                  <a:srgbClr val="173E33"/>
                </a:solidFill>
                <a:latin typeface="Arial"/>
                <a:ea typeface="Arial"/>
                <a:cs typeface="Arial"/>
              </a:rPr>
              <a:t>Current caps</a:t>
            </a:r>
          </a:p>
        </p:txBody>
      </p:sp>
      <p:sp>
        <p:nvSpPr>
          <p:cNvPr id="10" name="Wheat 57.92%&#10;Fabric 57.03%">
            <a:extLst xmlns:a="http://schemas.openxmlformats.org/drawingml/2006/main">
              <a:ext uri="{FF2B5EF4-FFF2-40B4-BE49-F238E27FC236}">
                <a16:creationId xmlns:a16="http://schemas.microsoft.com/office/drawing/2014/main" id="{B43CEDAE-B188-4ED6-BD37-F6F9107630A5}"/>
              </a:ext>
            </a:extLst>
          </p:cNvPr>
          <p:cNvSpPr>
            <a:spLocks xmlns:a="http://schemas.openxmlformats.org/drawingml/2006/main" noGrp="1"/>
          </p:cNvSpPr>
          <p:nvPr/>
        </p:nvSpPr>
        <p:spPr>
          <a:xfrm xmlns:a="http://schemas.openxmlformats.org/drawingml/2006/main">
            <a:off x="8782050" y="2486025"/>
            <a:ext cx="2705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0">
                <a:solidFill>
                  <a:srgbClr val="173E33"/>
                </a:solidFill>
                <a:latin typeface="Arial"/>
                <a:ea typeface="Arial"/>
                <a:cs typeface="Arial"/>
              </a:defRPr>
            </a:defPPr>
          </a:lstStyle>
          <a:p xmlns:a="http://schemas.openxmlformats.org/drawingml/2006/main">
            <a:pPr algn="l">
              <a:defRPr sz="2325" b="0">
                <a:solidFill>
                  <a:srgbClr val="173E33"/>
                </a:solidFill>
                <a:latin typeface="Arial"/>
                <a:ea typeface="Arial"/>
                <a:cs typeface="Arial"/>
              </a:defRPr>
            </a:pPr>
            <a:r>
              <a:rPr sz="2325" b="0">
                <a:solidFill>
                  <a:srgbClr val="173E33"/>
                </a:solidFill>
                <a:latin typeface="Arial"/>
                <a:ea typeface="Arial"/>
                <a:cs typeface="Arial"/>
              </a:rPr>
              <a:t>Wheat 57.92%</a:t>
            </a:r>
          </a:p>
          <a:p xmlns:a="http://schemas.openxmlformats.org/drawingml/2006/main">
            <a:pPr algn="l">
              <a:defRPr sz="2325" b="0">
                <a:solidFill>
                  <a:srgbClr val="173E33"/>
                </a:solidFill>
                <a:latin typeface="Arial"/>
                <a:ea typeface="Arial"/>
                <a:cs typeface="Arial"/>
              </a:defRPr>
            </a:pPr>
            <a:r>
              <a:rPr sz="2325" b="0">
                <a:solidFill>
                  <a:srgbClr val="173E33"/>
                </a:solidFill>
                <a:latin typeface="Arial"/>
                <a:ea typeface="Arial"/>
                <a:cs typeface="Arial"/>
              </a:rPr>
              <a:t>Fabric 57.03%</a:t>
            </a:r>
          </a:p>
        </p:txBody>
      </p:sp>
      <p:sp>
        <p:nvSpPr>
          <p:cNvPr id="11" name="All current model outputs&#10;require a verifier.">
            <a:extLst xmlns:a="http://schemas.openxmlformats.org/drawingml/2006/main">
              <a:ext uri="{FF2B5EF4-FFF2-40B4-BE49-F238E27FC236}">
                <a16:creationId xmlns:a16="http://schemas.microsoft.com/office/drawing/2014/main" id="{06DFE393-6369-4433-B10C-30E3DAEF0077}"/>
              </a:ext>
            </a:extLst>
          </p:cNvPr>
          <p:cNvSpPr>
            <a:spLocks xmlns:a="http://schemas.openxmlformats.org/drawingml/2006/main" noGrp="1"/>
          </p:cNvSpPr>
          <p:nvPr/>
        </p:nvSpPr>
        <p:spPr>
          <a:xfrm xmlns:a="http://schemas.openxmlformats.org/drawingml/2006/main">
            <a:off x="8782050" y="4038600"/>
            <a:ext cx="2714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1">
                <a:solidFill>
                  <a:srgbClr val="9B3C2E"/>
                </a:solidFill>
                <a:latin typeface="Arial"/>
                <a:ea typeface="Arial"/>
                <a:cs typeface="Arial"/>
              </a:defRPr>
            </a:defPPr>
          </a:lstStyle>
          <a:p xmlns:a="http://schemas.openxmlformats.org/drawingml/2006/main">
            <a:pPr algn="l">
              <a:defRPr sz="1950" b="1">
                <a:solidFill>
                  <a:srgbClr val="9B3C2E"/>
                </a:solidFill>
                <a:latin typeface="Arial"/>
                <a:ea typeface="Arial"/>
                <a:cs typeface="Arial"/>
              </a:defRPr>
            </a:pPr>
            <a:r>
              <a:rPr sz="1950" b="1">
                <a:solidFill>
                  <a:srgbClr val="9B3C2E"/>
                </a:solidFill>
                <a:latin typeface="Arial"/>
                <a:ea typeface="Arial"/>
                <a:cs typeface="Arial"/>
              </a:rPr>
              <a:t>All current model outputs</a:t>
            </a:r>
          </a:p>
          <a:p xmlns:a="http://schemas.openxmlformats.org/drawingml/2006/main">
            <a:pPr algn="l">
              <a:defRPr sz="1950" b="1">
                <a:solidFill>
                  <a:srgbClr val="9B3C2E"/>
                </a:solidFill>
                <a:latin typeface="Arial"/>
                <a:ea typeface="Arial"/>
                <a:cs typeface="Arial"/>
              </a:defRPr>
            </a:pPr>
            <a:r>
              <a:rPr sz="1950" b="1">
                <a:solidFill>
                  <a:srgbClr val="9B3C2E"/>
                </a:solidFill>
                <a:latin typeface="Arial"/>
                <a:ea typeface="Arial"/>
                <a:cs typeface="Arial"/>
              </a:rPr>
              <a:t>require a verifier.</a:t>
            </a:r>
          </a:p>
        </p:txBody>
      </p:sp>
      <p:sp>
        <p:nvSpPr>
          <p:cNvPr id="12" name="A high quality grade can still require verification. Co">
            <a:extLst xmlns:a="http://schemas.openxmlformats.org/drawingml/2006/main">
              <a:ext uri="{FF2B5EF4-FFF2-40B4-BE49-F238E27FC236}">
                <a16:creationId xmlns:a16="http://schemas.microsoft.com/office/drawing/2014/main" id="{4089A017-2145-44ED-BC7C-001921FEDFA2}"/>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A high quality grade can still require verification. Confidence is not a calibrated probability of correctness.</a:t>
            </a:r>
          </a:p>
        </p:txBody>
      </p:sp>
    </p:spTree>
    <p:extLst>
      <p:ext uri="{BB962C8B-B14F-4D97-AF65-F5344CB8AC3E}">
        <p14:creationId xmlns:p14="http://schemas.microsoft.com/office/powerpoint/2010/main" val="629534965"/>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Methodology — human verification">
            <a:extLst xmlns:a="http://schemas.openxmlformats.org/drawingml/2006/main">
              <a:ext uri="{FF2B5EF4-FFF2-40B4-BE49-F238E27FC236}">
                <a16:creationId xmlns:a16="http://schemas.microsoft.com/office/drawing/2014/main" id="{FC8A641E-F638-441A-8855-508C4C1AB448}"/>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human verification</a:t>
            </a:r>
          </a:p>
        </p:txBody>
      </p:sp>
      <p:sp>
        <p:nvSpPr>
          <p:cNvPr id="2" name="14">
            <a:extLst xmlns:a="http://schemas.openxmlformats.org/drawingml/2006/main">
              <a:ext uri="{FF2B5EF4-FFF2-40B4-BE49-F238E27FC236}">
                <a16:creationId xmlns:a16="http://schemas.microsoft.com/office/drawing/2014/main" id="{0862F98E-0B6F-4DA4-9664-F11349C33F4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700E96FF-C446-4A1F-B57C-4F754D9D64BF}"/>
              </a:ext>
            </a:extLst>
          </p:cNvPr>
          <p:cNvPicPr>
            <a:picLocks xmlns:a="http://schemas.openxmlformats.org/drawingml/2006/main" noChangeAspect="1"/>
          </p:cNvPicPr>
          <p:nvPr/>
        </p:nvPicPr>
        <p:blipFill>
          <a:blip xmlns:r="http://schemas.openxmlformats.org/officeDocument/2006/relationships" xmlns:a="http://schemas.openxmlformats.org/drawingml/2006/main" r:embed="Rf7df8d45b70447e8"/>
          <a:stretch xmlns:a="http://schemas.openxmlformats.org/drawingml/2006/main"/>
        </p:blipFill>
        <p:spPr>
          <a:xfrm xmlns:a="http://schemas.openxmlformats.org/drawingml/2006/main">
            <a:off x="6449811" y="1457325"/>
            <a:ext cx="4816878" cy="4676775"/>
          </a:xfrm>
          <a:prstGeom xmlns:a="http://schemas.openxmlformats.org/drawingml/2006/main" prst="rect">
            <a:avLst/>
          </a:prstGeom>
        </p:spPr>
      </p:pic>
      <p:sp>
        <p:nvSpPr>
          <p:cNvPr id="4" name="Inspect the originals">
            <a:extLst xmlns:a="http://schemas.openxmlformats.org/drawingml/2006/main">
              <a:ext uri="{FF2B5EF4-FFF2-40B4-BE49-F238E27FC236}">
                <a16:creationId xmlns:a16="http://schemas.microsoft.com/office/drawing/2014/main" id="{9591CA21-8D3F-493C-93C3-B79C7A444640}"/>
              </a:ext>
            </a:extLst>
          </p:cNvPr>
          <p:cNvSpPr>
            <a:spLocks xmlns:a="http://schemas.openxmlformats.org/drawingml/2006/main" noGrp="1"/>
          </p:cNvSpPr>
          <p:nvPr/>
        </p:nvSpPr>
        <p:spPr>
          <a:xfrm xmlns:a="http://schemas.openxmlformats.org/drawingml/2006/main">
            <a:off x="609600" y="166687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Inspect the originals</a:t>
            </a:r>
          </a:p>
        </p:txBody>
      </p:sp>
      <p:sp>
        <p:nvSpPr>
          <p:cNvPr id="5" name="Open each photo, then compare the reported scores.">
            <a:extLst xmlns:a="http://schemas.openxmlformats.org/drawingml/2006/main">
              <a:ext uri="{FF2B5EF4-FFF2-40B4-BE49-F238E27FC236}">
                <a16:creationId xmlns:a16="http://schemas.microsoft.com/office/drawing/2014/main" id="{FE510B6D-CBE7-4926-90DA-A23AF7CC00C1}"/>
              </a:ext>
            </a:extLst>
          </p:cNvPr>
          <p:cNvSpPr>
            <a:spLocks xmlns:a="http://schemas.openxmlformats.org/drawingml/2006/main" noGrp="1"/>
          </p:cNvSpPr>
          <p:nvPr/>
        </p:nvSpPr>
        <p:spPr>
          <a:xfrm xmlns:a="http://schemas.openxmlformats.org/drawingml/2006/main">
            <a:off x="609600" y="2076450"/>
            <a:ext cx="5000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Open each photo, then compare the reported scores.</a:t>
            </a:r>
          </a:p>
        </p:txBody>
      </p:sp>
      <p:sp>
        <p:nvSpPr>
          <p:cNvPr id="6" name="Correct with a reason">
            <a:extLst xmlns:a="http://schemas.openxmlformats.org/drawingml/2006/main">
              <a:ext uri="{FF2B5EF4-FFF2-40B4-BE49-F238E27FC236}">
                <a16:creationId xmlns:a16="http://schemas.microsoft.com/office/drawing/2014/main" id="{76A90DED-2BF7-4E19-B514-0DC9D2713A3B}"/>
              </a:ext>
            </a:extLst>
          </p:cNvPr>
          <p:cNvSpPr>
            <a:spLocks xmlns:a="http://schemas.openxmlformats.org/drawingml/2006/main" noGrp="1"/>
          </p:cNvSpPr>
          <p:nvPr/>
        </p:nvSpPr>
        <p:spPr>
          <a:xfrm xmlns:a="http://schemas.openxmlformats.org/drawingml/2006/main">
            <a:off x="609600" y="304800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Correct with a reason</a:t>
            </a:r>
          </a:p>
        </p:txBody>
      </p:sp>
      <p:sp>
        <p:nvSpPr>
          <p:cNvPr id="7" name="Enter a percentage only where the reviewer disagrees.">
            <a:extLst xmlns:a="http://schemas.openxmlformats.org/drawingml/2006/main">
              <a:ext uri="{FF2B5EF4-FFF2-40B4-BE49-F238E27FC236}">
                <a16:creationId xmlns:a16="http://schemas.microsoft.com/office/drawing/2014/main" id="{48AF750B-0043-4862-A153-3A8CE04A80CF}"/>
              </a:ext>
            </a:extLst>
          </p:cNvPr>
          <p:cNvSpPr>
            <a:spLocks xmlns:a="http://schemas.openxmlformats.org/drawingml/2006/main" noGrp="1"/>
          </p:cNvSpPr>
          <p:nvPr/>
        </p:nvSpPr>
        <p:spPr>
          <a:xfrm xmlns:a="http://schemas.openxmlformats.org/drawingml/2006/main">
            <a:off x="609600" y="3457575"/>
            <a:ext cx="5000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Enter a percentage only where the reviewer disagrees.</a:t>
            </a:r>
          </a:p>
        </p:txBody>
      </p:sp>
      <p:sp>
        <p:nvSpPr>
          <p:cNvPr id="8" name="Persist the decision">
            <a:extLst xmlns:a="http://schemas.openxmlformats.org/drawingml/2006/main">
              <a:ext uri="{FF2B5EF4-FFF2-40B4-BE49-F238E27FC236}">
                <a16:creationId xmlns:a16="http://schemas.microsoft.com/office/drawing/2014/main" id="{4FC91614-B83E-42AB-9355-0126D2E9AEA6}"/>
              </a:ext>
            </a:extLst>
          </p:cNvPr>
          <p:cNvSpPr>
            <a:spLocks xmlns:a="http://schemas.openxmlformats.org/drawingml/2006/main" noGrp="1"/>
          </p:cNvSpPr>
          <p:nvPr/>
        </p:nvSpPr>
        <p:spPr>
          <a:xfrm xmlns:a="http://schemas.openxmlformats.org/drawingml/2006/main">
            <a:off x="609600" y="44291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Persist the decision</a:t>
            </a:r>
          </a:p>
        </p:txBody>
      </p:sp>
      <p:sp>
        <p:nvSpPr>
          <p:cNvPr id="9" name="Approve for trading, or send back with a seller note.">
            <a:extLst xmlns:a="http://schemas.openxmlformats.org/drawingml/2006/main">
              <a:ext uri="{FF2B5EF4-FFF2-40B4-BE49-F238E27FC236}">
                <a16:creationId xmlns:a16="http://schemas.microsoft.com/office/drawing/2014/main" id="{1C2DA59C-F43F-405B-9126-FE3FE4A43927}"/>
              </a:ext>
            </a:extLst>
          </p:cNvPr>
          <p:cNvSpPr>
            <a:spLocks xmlns:a="http://schemas.openxmlformats.org/drawingml/2006/main" noGrp="1"/>
          </p:cNvSpPr>
          <p:nvPr/>
        </p:nvSpPr>
        <p:spPr>
          <a:xfrm xmlns:a="http://schemas.openxmlformats.org/drawingml/2006/main">
            <a:off x="609600" y="4838700"/>
            <a:ext cx="5000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Approve for trading, or send back with a seller note.</a:t>
            </a:r>
          </a:p>
        </p:txBody>
      </p:sp>
    </p:spTree>
    <p:extLst>
      <p:ext uri="{BB962C8B-B14F-4D97-AF65-F5344CB8AC3E}">
        <p14:creationId xmlns:p14="http://schemas.microsoft.com/office/powerpoint/2010/main" val="1957770678"/>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Methodology — transparent pricing">
            <a:extLst xmlns:a="http://schemas.openxmlformats.org/drawingml/2006/main">
              <a:ext uri="{FF2B5EF4-FFF2-40B4-BE49-F238E27FC236}">
                <a16:creationId xmlns:a16="http://schemas.microsoft.com/office/drawing/2014/main" id="{F1F9B246-373F-4D86-8EA1-4830083F88CD}"/>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transparent pricing</a:t>
            </a:r>
          </a:p>
        </p:txBody>
      </p:sp>
      <p:sp>
        <p:nvSpPr>
          <p:cNvPr id="2" name="15">
            <a:extLst xmlns:a="http://schemas.openxmlformats.org/drawingml/2006/main">
              <a:ext uri="{FF2B5EF4-FFF2-40B4-BE49-F238E27FC236}">
                <a16:creationId xmlns:a16="http://schemas.microsoft.com/office/drawing/2014/main" id="{A2F5E814-43E4-4014-8DB7-B2D1B7FEDAB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15</a:t>
            </a:r>
          </a:p>
        </p:txBody>
      </p:sp>
      <p:sp>
        <p:nvSpPr>
          <p:cNvPr id="3" name="Unit estimate = market base × grade × quantity">
            <a:extLst xmlns:a="http://schemas.openxmlformats.org/drawingml/2006/main">
              <a:ext uri="{FF2B5EF4-FFF2-40B4-BE49-F238E27FC236}">
                <a16:creationId xmlns:a16="http://schemas.microsoft.com/office/drawing/2014/main" id="{59D83A06-6F7B-47D0-8543-9D54C53BD26A}"/>
              </a:ext>
            </a:extLst>
          </p:cNvPr>
          <p:cNvSpPr>
            <a:spLocks xmlns:a="http://schemas.openxmlformats.org/drawingml/2006/main" noGrp="1"/>
          </p:cNvSpPr>
          <p:nvPr/>
        </p:nvSpPr>
        <p:spPr>
          <a:xfrm xmlns:a="http://schemas.openxmlformats.org/drawingml/2006/main">
            <a:off x="609600" y="1514475"/>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625" b="1">
                <a:solidFill>
                  <a:srgbClr val="173E33"/>
                </a:solidFill>
                <a:latin typeface="Arial"/>
                <a:ea typeface="Arial"/>
                <a:cs typeface="Arial"/>
              </a:defRPr>
            </a:defPPr>
          </a:lstStyle>
          <a:p xmlns:a="http://schemas.openxmlformats.org/drawingml/2006/main">
            <a:pPr algn="l">
              <a:defRPr sz="2625" b="1">
                <a:solidFill>
                  <a:srgbClr val="173E33"/>
                </a:solidFill>
                <a:latin typeface="Arial"/>
                <a:ea typeface="Arial"/>
                <a:cs typeface="Arial"/>
              </a:defRPr>
            </a:pPr>
            <a:r>
              <a:rPr sz="2625" b="1">
                <a:solidFill>
                  <a:srgbClr val="173E33"/>
                </a:solidFill>
                <a:latin typeface="Arial"/>
                <a:ea typeface="Arial"/>
                <a:cs typeface="Arial"/>
              </a:rPr>
              <a:t>Unit estimate = market base × grade × quantity</a:t>
            </a:r>
          </a:p>
        </p:txBody>
      </p:sp>
      <p:graphicFrame>
        <p:nvGraphicFramePr>
          <p:cNvPr id="4" name="">
            <a:extLst xmlns:a="http://schemas.openxmlformats.org/drawingml/2006/main">
              <a:ext uri="{FF2B5EF4-FFF2-40B4-BE49-F238E27FC236}">
                <a16:creationId xmlns:a16="http://schemas.microsoft.com/office/drawing/2014/main" id="{D6DE459B-D85F-4DC0-B73A-22A8B4B8D126}"/>
              </a:ext>
            </a:extLst>
          </p:cNvPr>
          <p:cNvGraphicFramePr/>
          <p:nvPr/>
        </p:nvGraphicFramePr>
        <p:xfrm>
          <a:off xmlns:a="http://schemas.openxmlformats.org/drawingml/2006/main" x="609600" y="2609850"/>
          <a:ext xmlns:a="http://schemas.openxmlformats.org/drawingml/2006/main" cx="10972800" cy="2476500"/>
        </p:xfrm>
        <a:graphic xmlns:a="http://schemas.openxmlformats.org/drawingml/2006/main">
          <a:graphicData uri="http://schemas.openxmlformats.org/drawingml/2006/table">
            <a:tbl>
              <a:tblPr/>
              <a:tblGrid>
                <a:gridCol w="3143250"/>
                <a:gridCol w="2476500"/>
                <a:gridCol w="2952750"/>
                <a:gridCol w="2400300"/>
              </a:tblGrid>
              <a:tr h="619125">
                <a:tc>
                  <a:txBody>
                    <a:bodyPr/>
                    <a:lstStyle/>
                    <a:p>
                      <a:r>
                        <a:rPr sz="1950" b="1">
                          <a:solidFill>
                            <a:srgbClr val="F7F5EF"/>
                          </a:solidFill>
                          <a:latin typeface="Arial"/>
                          <a:ea typeface="Arial"/>
                          <a:cs typeface="Arial"/>
                        </a:rPr>
                        <a:t>Agriculture grade</a:t>
                      </a:r>
                    </a:p>
                  </a:txBody>
                  <a:tcPr marL="133350" marR="133350" marT="76200" marB="66675" anchor="ctr">
                    <a:solidFill>
                      <a:srgbClr val="173E33"/>
                    </a:solidFill>
                  </a:tcPr>
                </a:tc>
                <a:tc>
                  <a:txBody>
                    <a:bodyPr/>
                    <a:lstStyle/>
                    <a:p>
                      <a:r>
                        <a:rPr sz="1950" b="1">
                          <a:solidFill>
                            <a:srgbClr val="F7F5EF"/>
                          </a:solidFill>
                          <a:latin typeface="Arial"/>
                          <a:ea typeface="Arial"/>
                          <a:cs typeface="Arial"/>
                        </a:rPr>
                        <a:t>Price multiplier</a:t>
                      </a:r>
                    </a:p>
                  </a:txBody>
                  <a:tcPr marL="133350" marR="133350" marT="76200" marB="66675" anchor="ctr">
                    <a:solidFill>
                      <a:srgbClr val="173E33"/>
                    </a:solidFill>
                  </a:tcPr>
                </a:tc>
                <a:tc>
                  <a:txBody>
                    <a:bodyPr/>
                    <a:lstStyle/>
                    <a:p>
                      <a:r>
                        <a:rPr sz="1950" b="1">
                          <a:solidFill>
                            <a:srgbClr val="F7F5EF"/>
                          </a:solidFill>
                          <a:latin typeface="Arial"/>
                          <a:ea typeface="Arial"/>
                          <a:cs typeface="Arial"/>
                        </a:rPr>
                        <a:t>Bulk quantity</a:t>
                      </a:r>
                    </a:p>
                  </a:txBody>
                  <a:tcPr marL="133350" marR="133350" marT="76200" marB="66675" anchor="ctr">
                    <a:solidFill>
                      <a:srgbClr val="173E33"/>
                    </a:solidFill>
                  </a:tcPr>
                </a:tc>
                <a:tc>
                  <a:txBody>
                    <a:bodyPr/>
                    <a:lstStyle/>
                    <a:p>
                      <a:r>
                        <a:rPr sz="1950" b="1">
                          <a:solidFill>
                            <a:srgbClr val="F7F5EF"/>
                          </a:solidFill>
                          <a:latin typeface="Arial"/>
                          <a:ea typeface="Arial"/>
                          <a:cs typeface="Arial"/>
                        </a:rPr>
                        <a:t>Discount</a:t>
                      </a:r>
                    </a:p>
                  </a:txBody>
                  <a:tcPr marL="133350" marR="133350" marT="76200" marB="66675" anchor="ctr">
                    <a:solidFill>
                      <a:srgbClr val="173E33"/>
                    </a:solidFill>
                  </a:tcPr>
                </a:tc>
              </a:tr>
              <a:tr h="619125">
                <a:tc>
                  <a:txBody>
                    <a:bodyPr/>
                    <a:lstStyle/>
                    <a:p>
                      <a:r>
                        <a:rPr sz="1950">
                          <a:solidFill>
                            <a:srgbClr val="173E33"/>
                          </a:solidFill>
                          <a:latin typeface="Arial"/>
                          <a:ea typeface="Arial"/>
                          <a:cs typeface="Arial"/>
                        </a:rPr>
                        <a:t>Grade A</a:t>
                      </a:r>
                    </a:p>
                  </a:txBody>
                  <a:tcPr marL="133350" marR="133350" marT="76200" marB="66675" anchor="ctr">
                    <a:solidFill>
                      <a:srgbClr val="F7F5EF"/>
                    </a:solidFill>
                  </a:tcPr>
                </a:tc>
                <a:tc>
                  <a:txBody>
                    <a:bodyPr/>
                    <a:lstStyle/>
                    <a:p>
                      <a:r>
                        <a:rPr sz="1950">
                          <a:solidFill>
                            <a:srgbClr val="173E33"/>
                          </a:solidFill>
                          <a:latin typeface="Arial"/>
                          <a:ea typeface="Arial"/>
                          <a:cs typeface="Arial"/>
                        </a:rPr>
                        <a:t>1.10</a:t>
                      </a:r>
                    </a:p>
                  </a:txBody>
                  <a:tcPr marL="133350" marR="133350" marT="76200" marB="66675" anchor="ctr">
                    <a:solidFill>
                      <a:srgbClr val="F7F5EF"/>
                    </a:solidFill>
                  </a:tcPr>
                </a:tc>
                <a:tc>
                  <a:txBody>
                    <a:bodyPr/>
                    <a:lstStyle/>
                    <a:p>
                      <a:r>
                        <a:rPr sz="1950">
                          <a:solidFill>
                            <a:srgbClr val="173E33"/>
                          </a:solidFill>
                          <a:latin typeface="Arial"/>
                          <a:ea typeface="Arial"/>
                          <a:cs typeface="Arial"/>
                        </a:rPr>
                        <a:t>0+ quintals</a:t>
                      </a:r>
                    </a:p>
                  </a:txBody>
                  <a:tcPr marL="133350" marR="133350" marT="76200" marB="66675" anchor="ctr">
                    <a:solidFill>
                      <a:srgbClr val="F7F5EF"/>
                    </a:solidFill>
                  </a:tcPr>
                </a:tc>
                <a:tc>
                  <a:txBody>
                    <a:bodyPr/>
                    <a:lstStyle/>
                    <a:p>
                      <a:r>
                        <a:rPr sz="1950">
                          <a:solidFill>
                            <a:srgbClr val="173E33"/>
                          </a:solidFill>
                          <a:latin typeface="Arial"/>
                          <a:ea typeface="Arial"/>
                          <a:cs typeface="Arial"/>
                        </a:rPr>
                        <a:t>0%</a:t>
                      </a:r>
                    </a:p>
                  </a:txBody>
                  <a:tcPr marL="133350" marR="133350" marT="76200" marB="66675" anchor="ctr">
                    <a:solidFill>
                      <a:srgbClr val="F7F5EF"/>
                    </a:solidFill>
                  </a:tcPr>
                </a:tc>
              </a:tr>
              <a:tr h="619125">
                <a:tc>
                  <a:txBody>
                    <a:bodyPr/>
                    <a:lstStyle/>
                    <a:p>
                      <a:r>
                        <a:rPr sz="1950">
                          <a:solidFill>
                            <a:srgbClr val="173E33"/>
                          </a:solidFill>
                          <a:latin typeface="Arial"/>
                          <a:ea typeface="Arial"/>
                          <a:cs typeface="Arial"/>
                        </a:rPr>
                        <a:t>Grade B</a:t>
                      </a:r>
                    </a:p>
                  </a:txBody>
                  <a:tcPr marL="133350" marR="133350" marT="76200" marB="66675" anchor="ctr">
                    <a:solidFill>
                      <a:srgbClr val="F7F5EF"/>
                    </a:solidFill>
                  </a:tcPr>
                </a:tc>
                <a:tc>
                  <a:txBody>
                    <a:bodyPr/>
                    <a:lstStyle/>
                    <a:p>
                      <a:r>
                        <a:rPr sz="1950">
                          <a:solidFill>
                            <a:srgbClr val="173E33"/>
                          </a:solidFill>
                          <a:latin typeface="Arial"/>
                          <a:ea typeface="Arial"/>
                          <a:cs typeface="Arial"/>
                        </a:rPr>
                        <a:t>1.00</a:t>
                      </a:r>
                    </a:p>
                  </a:txBody>
                  <a:tcPr marL="133350" marR="133350" marT="76200" marB="66675" anchor="ctr">
                    <a:solidFill>
                      <a:srgbClr val="F7F5EF"/>
                    </a:solidFill>
                  </a:tcPr>
                </a:tc>
                <a:tc>
                  <a:txBody>
                    <a:bodyPr/>
                    <a:lstStyle/>
                    <a:p>
                      <a:r>
                        <a:rPr sz="1950">
                          <a:solidFill>
                            <a:srgbClr val="173E33"/>
                          </a:solidFill>
                          <a:latin typeface="Arial"/>
                          <a:ea typeface="Arial"/>
                          <a:cs typeface="Arial"/>
                        </a:rPr>
                        <a:t>50+ quintals</a:t>
                      </a:r>
                    </a:p>
                  </a:txBody>
                  <a:tcPr marL="133350" marR="133350" marT="76200" marB="66675" anchor="ctr">
                    <a:solidFill>
                      <a:srgbClr val="F7F5EF"/>
                    </a:solidFill>
                  </a:tcPr>
                </a:tc>
                <a:tc>
                  <a:txBody>
                    <a:bodyPr/>
                    <a:lstStyle/>
                    <a:p>
                      <a:r>
                        <a:rPr sz="1950">
                          <a:solidFill>
                            <a:srgbClr val="173E33"/>
                          </a:solidFill>
                          <a:latin typeface="Arial"/>
                          <a:ea typeface="Arial"/>
                          <a:cs typeface="Arial"/>
                        </a:rPr>
                        <a:t>2%</a:t>
                      </a:r>
                    </a:p>
                  </a:txBody>
                  <a:tcPr marL="133350" marR="133350" marT="76200" marB="66675" anchor="ctr">
                    <a:solidFill>
                      <a:srgbClr val="F7F5EF"/>
                    </a:solidFill>
                  </a:tcPr>
                </a:tc>
              </a:tr>
              <a:tr h="619125">
                <a:tc>
                  <a:txBody>
                    <a:bodyPr/>
                    <a:lstStyle/>
                    <a:p>
                      <a:r>
                        <a:rPr sz="1950">
                          <a:solidFill>
                            <a:srgbClr val="173E33"/>
                          </a:solidFill>
                          <a:latin typeface="Arial"/>
                          <a:ea typeface="Arial"/>
                          <a:cs typeface="Arial"/>
                        </a:rPr>
                        <a:t>Grade C</a:t>
                      </a:r>
                    </a:p>
                  </a:txBody>
                  <a:tcPr marL="133350" marR="133350" marT="76200" marB="66675" anchor="ctr">
                    <a:solidFill>
                      <a:srgbClr val="F7F5EF"/>
                    </a:solidFill>
                  </a:tcPr>
                </a:tc>
                <a:tc>
                  <a:txBody>
                    <a:bodyPr/>
                    <a:lstStyle/>
                    <a:p>
                      <a:r>
                        <a:rPr sz="1950">
                          <a:solidFill>
                            <a:srgbClr val="173E33"/>
                          </a:solidFill>
                          <a:latin typeface="Arial"/>
                          <a:ea typeface="Arial"/>
                          <a:cs typeface="Arial"/>
                        </a:rPr>
                        <a:t>0.88</a:t>
                      </a:r>
                    </a:p>
                  </a:txBody>
                  <a:tcPr marL="133350" marR="133350" marT="76200" marB="66675" anchor="ctr">
                    <a:solidFill>
                      <a:srgbClr val="F7F5EF"/>
                    </a:solidFill>
                  </a:tcPr>
                </a:tc>
                <a:tc>
                  <a:txBody>
                    <a:bodyPr/>
                    <a:lstStyle/>
                    <a:p>
                      <a:r>
                        <a:rPr sz="1950">
                          <a:solidFill>
                            <a:srgbClr val="173E33"/>
                          </a:solidFill>
                          <a:latin typeface="Arial"/>
                          <a:ea typeface="Arial"/>
                          <a:cs typeface="Arial"/>
                        </a:rPr>
                        <a:t>200+ quintals</a:t>
                      </a:r>
                    </a:p>
                  </a:txBody>
                  <a:tcPr marL="133350" marR="133350" marT="76200" marB="66675" anchor="ctr">
                    <a:solidFill>
                      <a:srgbClr val="F7F5EF"/>
                    </a:solidFill>
                  </a:tcPr>
                </a:tc>
                <a:tc>
                  <a:txBody>
                    <a:bodyPr/>
                    <a:lstStyle/>
                    <a:p>
                      <a:r>
                        <a:rPr sz="1950">
                          <a:solidFill>
                            <a:srgbClr val="173E33"/>
                          </a:solidFill>
                          <a:latin typeface="Arial"/>
                          <a:ea typeface="Arial"/>
                          <a:cs typeface="Arial"/>
                        </a:rPr>
                        <a:t>5%</a:t>
                      </a:r>
                    </a:p>
                  </a:txBody>
                  <a:tcPr marL="133350" marR="133350" marT="76200" marB="66675" anchor="ctr">
                    <a:solidFill>
                      <a:srgbClr val="F7F5EF"/>
                    </a:solidFill>
                  </a:tcPr>
                </a:tc>
              </a:tr>
            </a:tbl>
          </a:graphicData>
        </a:graphic>
      </p:graphicFrame>
      <p:sp>
        <p:nvSpPr>
          <p:cNvPr id="5" name="Total = rounded unit estimate × quantity. Use the large">
            <a:extLst xmlns:a="http://schemas.openxmlformats.org/drawingml/2006/main">
              <a:ext uri="{FF2B5EF4-FFF2-40B4-BE49-F238E27FC236}">
                <a16:creationId xmlns:a16="http://schemas.microsoft.com/office/drawing/2014/main" id="{336FB34A-2EED-48A1-A06C-076E7E429E3E}"/>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Total = rounded unit estimate × quantity. Use the largest eligible bulk tier.</a:t>
            </a:r>
          </a:p>
        </p:txBody>
      </p:sp>
    </p:spTree>
    <p:extLst>
      <p:ext uri="{BB962C8B-B14F-4D97-AF65-F5344CB8AC3E}">
        <p14:creationId xmlns:p14="http://schemas.microsoft.com/office/powerpoint/2010/main" val="1287775035"/>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Methodology — express a buyer requirement">
            <a:extLst xmlns:a="http://schemas.openxmlformats.org/drawingml/2006/main">
              <a:ext uri="{FF2B5EF4-FFF2-40B4-BE49-F238E27FC236}">
                <a16:creationId xmlns:a16="http://schemas.microsoft.com/office/drawing/2014/main" id="{189D619E-BAF1-4661-B22C-AF339A731772}"/>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express a buyer requirement</a:t>
            </a:r>
          </a:p>
        </p:txBody>
      </p:sp>
      <p:sp>
        <p:nvSpPr>
          <p:cNvPr id="2" name="16">
            <a:extLst xmlns:a="http://schemas.openxmlformats.org/drawingml/2006/main">
              <a:ext uri="{FF2B5EF4-FFF2-40B4-BE49-F238E27FC236}">
                <a16:creationId xmlns:a16="http://schemas.microsoft.com/office/drawing/2014/main" id="{F2EAA761-49E6-4528-8437-03E6CA63600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FB4F5427-E169-4FA5-9FBA-77DA4B38BA23}"/>
              </a:ext>
            </a:extLst>
          </p:cNvPr>
          <p:cNvPicPr>
            <a:picLocks xmlns:a="http://schemas.openxmlformats.org/drawingml/2006/main" noChangeAspect="1"/>
          </p:cNvPicPr>
          <p:nvPr/>
        </p:nvPicPr>
        <p:blipFill>
          <a:blip xmlns:r="http://schemas.openxmlformats.org/officeDocument/2006/relationships" xmlns:a="http://schemas.openxmlformats.org/drawingml/2006/main" r:embed="R1b625354054b47ff"/>
          <a:stretch xmlns:a="http://schemas.openxmlformats.org/drawingml/2006/main"/>
        </p:blipFill>
        <p:spPr>
          <a:xfrm xmlns:a="http://schemas.openxmlformats.org/drawingml/2006/main">
            <a:off x="6409519" y="1438275"/>
            <a:ext cx="4840312" cy="4695825"/>
          </a:xfrm>
          <a:prstGeom xmlns:a="http://schemas.openxmlformats.org/drawingml/2006/main" prst="rect">
            <a:avLst/>
          </a:prstGeom>
        </p:spPr>
      </p:pic>
      <p:sp>
        <p:nvSpPr>
          <p:cNvPr id="4" name="Specify the demand">
            <a:extLst xmlns:a="http://schemas.openxmlformats.org/drawingml/2006/main">
              <a:ext uri="{FF2B5EF4-FFF2-40B4-BE49-F238E27FC236}">
                <a16:creationId xmlns:a16="http://schemas.microsoft.com/office/drawing/2014/main" id="{B81B59C6-C505-4E16-A613-AC91A0EA5654}"/>
              </a:ext>
            </a:extLst>
          </p:cNvPr>
          <p:cNvSpPr>
            <a:spLocks xmlns:a="http://schemas.openxmlformats.org/drawingml/2006/main" noGrp="1"/>
          </p:cNvSpPr>
          <p:nvPr/>
        </p:nvSpPr>
        <p:spPr>
          <a:xfrm xmlns:a="http://schemas.openxmlformats.org/drawingml/2006/main">
            <a:off x="609600" y="16859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Specify the demand</a:t>
            </a:r>
          </a:p>
        </p:txBody>
      </p:sp>
      <p:sp>
        <p:nvSpPr>
          <p:cNvPr id="5" name="Wheat · 100 quintals · Grade B.">
            <a:extLst xmlns:a="http://schemas.openxmlformats.org/drawingml/2006/main">
              <a:ext uri="{FF2B5EF4-FFF2-40B4-BE49-F238E27FC236}">
                <a16:creationId xmlns:a16="http://schemas.microsoft.com/office/drawing/2014/main" id="{A787E98C-3FA0-4CBC-814A-FC4E601DA5DD}"/>
              </a:ext>
            </a:extLst>
          </p:cNvPr>
          <p:cNvSpPr>
            <a:spLocks xmlns:a="http://schemas.openxmlformats.org/drawingml/2006/main" noGrp="1"/>
          </p:cNvSpPr>
          <p:nvPr/>
        </p:nvSpPr>
        <p:spPr>
          <a:xfrm xmlns:a="http://schemas.openxmlformats.org/drawingml/2006/main">
            <a:off x="609600" y="2095500"/>
            <a:ext cx="5000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Wheat · 100 quintals · Grade B.</a:t>
            </a:r>
          </a:p>
        </p:txBody>
      </p:sp>
      <p:sp>
        <p:nvSpPr>
          <p:cNvPr id="6" name="Set acceptable terms">
            <a:extLst xmlns:a="http://schemas.openxmlformats.org/drawingml/2006/main">
              <a:ext uri="{FF2B5EF4-FFF2-40B4-BE49-F238E27FC236}">
                <a16:creationId xmlns:a16="http://schemas.microsoft.com/office/drawing/2014/main" id="{DA2C2CDC-CBFE-49B4-94E8-98A847C6F3CE}"/>
              </a:ext>
            </a:extLst>
          </p:cNvPr>
          <p:cNvSpPr>
            <a:spLocks xmlns:a="http://schemas.openxmlformats.org/drawingml/2006/main" noGrp="1"/>
          </p:cNvSpPr>
          <p:nvPr/>
        </p:nvSpPr>
        <p:spPr>
          <a:xfrm xmlns:a="http://schemas.openxmlformats.org/drawingml/2006/main">
            <a:off x="609600" y="306705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Set acceptable terms</a:t>
            </a:r>
          </a:p>
        </p:txBody>
      </p:sp>
      <p:sp>
        <p:nvSpPr>
          <p:cNvPr id="7" name="Maximum ₹3,000 per unit · Madhya Pradesh.">
            <a:extLst xmlns:a="http://schemas.openxmlformats.org/drawingml/2006/main">
              <a:ext uri="{FF2B5EF4-FFF2-40B4-BE49-F238E27FC236}">
                <a16:creationId xmlns:a16="http://schemas.microsoft.com/office/drawing/2014/main" id="{B77ED096-97AB-4D33-8C1B-CFCDDC23D545}"/>
              </a:ext>
            </a:extLst>
          </p:cNvPr>
          <p:cNvSpPr>
            <a:spLocks xmlns:a="http://schemas.openxmlformats.org/drawingml/2006/main" noGrp="1"/>
          </p:cNvSpPr>
          <p:nvPr/>
        </p:nvSpPr>
        <p:spPr>
          <a:xfrm xmlns:a="http://schemas.openxmlformats.org/drawingml/2006/main">
            <a:off x="609600" y="3476625"/>
            <a:ext cx="5000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Maximum ₹3,000 per unit · Madhya Pradesh.</a:t>
            </a:r>
          </a:p>
        </p:txBody>
      </p:sp>
      <p:sp>
        <p:nvSpPr>
          <p:cNvPr id="8" name="Find sellers">
            <a:extLst xmlns:a="http://schemas.openxmlformats.org/drawingml/2006/main">
              <a:ext uri="{FF2B5EF4-FFF2-40B4-BE49-F238E27FC236}">
                <a16:creationId xmlns:a16="http://schemas.microsoft.com/office/drawing/2014/main" id="{25BC967B-06C3-4A9E-9B7B-20D0072045A8}"/>
              </a:ext>
            </a:extLst>
          </p:cNvPr>
          <p:cNvSpPr>
            <a:spLocks xmlns:a="http://schemas.openxmlformats.org/drawingml/2006/main" noGrp="1"/>
          </p:cNvSpPr>
          <p:nvPr/>
        </p:nvSpPr>
        <p:spPr>
          <a:xfrm xmlns:a="http://schemas.openxmlformats.org/drawingml/2006/main">
            <a:off x="609600" y="444817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Find sellers</a:t>
            </a:r>
          </a:p>
        </p:txBody>
      </p:sp>
      <p:sp>
        <p:nvSpPr>
          <p:cNvPr id="9" name="Eligible stock can be combined into one allocation resu">
            <a:extLst xmlns:a="http://schemas.openxmlformats.org/drawingml/2006/main">
              <a:ext uri="{FF2B5EF4-FFF2-40B4-BE49-F238E27FC236}">
                <a16:creationId xmlns:a16="http://schemas.microsoft.com/office/drawing/2014/main" id="{534DFE1E-1CCC-4434-8ABA-37076AD7C345}"/>
              </a:ext>
            </a:extLst>
          </p:cNvPr>
          <p:cNvSpPr>
            <a:spLocks xmlns:a="http://schemas.openxmlformats.org/drawingml/2006/main" noGrp="1"/>
          </p:cNvSpPr>
          <p:nvPr/>
        </p:nvSpPr>
        <p:spPr>
          <a:xfrm xmlns:a="http://schemas.openxmlformats.org/drawingml/2006/main">
            <a:off x="609600" y="4857750"/>
            <a:ext cx="5000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Eligible stock can be combined into one allocation result.</a:t>
            </a:r>
          </a:p>
        </p:txBody>
      </p:sp>
      <p:sp>
        <p:nvSpPr>
          <p:cNvPr id="10" name="Screenshot: filled form before submission. Saved alloca">
            <a:extLst xmlns:a="http://schemas.openxmlformats.org/drawingml/2006/main">
              <a:ext uri="{FF2B5EF4-FFF2-40B4-BE49-F238E27FC236}">
                <a16:creationId xmlns:a16="http://schemas.microsoft.com/office/drawing/2014/main" id="{12E4FA89-38C4-4C42-BC3C-310F5E3C61E4}"/>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Screenshot: filled form before submission. Saved allocation evidence is shown separately in Results.</a:t>
            </a:r>
          </a:p>
        </p:txBody>
      </p:sp>
    </p:spTree>
    <p:extLst>
      <p:ext uri="{BB962C8B-B14F-4D97-AF65-F5344CB8AC3E}">
        <p14:creationId xmlns:p14="http://schemas.microsoft.com/office/powerpoint/2010/main" val="100422895"/>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7105D8B-2CB9-4D09-A6C1-3AD0FC1BFBD9}"/>
              </a:ext>
            </a:extLst>
          </p:cNvPr>
          <p:cNvCxnSpPr>
            <a:stCxn xmlns:a="http://schemas.openxmlformats.org/drawingml/2006/main" id="4" idx="3"/>
            <a:endCxn xmlns:a="http://schemas.openxmlformats.org/drawingml/2006/main" id="5" idx="1"/>
          </p:cNvCxnSpPr>
          <p:nvPr/>
        </p:nvCxnSpPr>
        <p:spPr>
          <a:xfrm xmlns:a="http://schemas.openxmlformats.org/drawingml/2006/main">
            <a:off x="7658100" y="2452688"/>
            <a:ext cx="762000"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6" name="">
            <a:extLst xmlns:a="http://schemas.openxmlformats.org/drawingml/2006/main">
              <a:ext uri="{FF2B5EF4-FFF2-40B4-BE49-F238E27FC236}">
                <a16:creationId xmlns:a16="http://schemas.microsoft.com/office/drawing/2014/main" id="{C110A1F8-34DD-412F-91B9-CCFB96728764}"/>
              </a:ext>
            </a:extLst>
          </p:cNvPr>
          <p:cNvCxnSpPr>
            <a:stCxn xmlns:a="http://schemas.openxmlformats.org/drawingml/2006/main" id="3" idx="3"/>
            <a:endCxn xmlns:a="http://schemas.openxmlformats.org/drawingml/2006/main" id="4" idx="1"/>
          </p:cNvCxnSpPr>
          <p:nvPr/>
        </p:nvCxnSpPr>
        <p:spPr>
          <a:xfrm xmlns:a="http://schemas.openxmlformats.org/drawingml/2006/main">
            <a:off x="3752850" y="2452688"/>
            <a:ext cx="762000" cy="0"/>
          </a:xfrm>
          <a:prstGeom xmlns:a="http://schemas.openxmlformats.org/drawingml/2006/main" prst="straightConnector1">
            <a:avLst/>
          </a:prstGeom>
          <a:ln xmlns:a="http://schemas.openxmlformats.org/drawingml/2006/main" w="19050">
            <a:solidFill>
              <a:srgbClr val="173E33"/>
            </a:solidFill>
            <a:tailEnd type="triangle" w="med" len="med"/>
          </a:ln>
        </p:spPr>
      </p:cxnSp>
      <p:sp>
        <p:nvSpPr>
          <p:cNvPr id="11" name="Methodology — allocate across sellers">
            <a:extLst xmlns:a="http://schemas.openxmlformats.org/drawingml/2006/main">
              <a:ext uri="{FF2B5EF4-FFF2-40B4-BE49-F238E27FC236}">
                <a16:creationId xmlns:a16="http://schemas.microsoft.com/office/drawing/2014/main" id="{AC9CF792-51B8-4E41-9D31-13CAFB350CC6}"/>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Methodology — allocate across sellers</a:t>
            </a:r>
          </a:p>
        </p:txBody>
      </p:sp>
      <p:sp>
        <p:nvSpPr>
          <p:cNvPr id="2" name="17">
            <a:extLst xmlns:a="http://schemas.openxmlformats.org/drawingml/2006/main">
              <a:ext uri="{FF2B5EF4-FFF2-40B4-BE49-F238E27FC236}">
                <a16:creationId xmlns:a16="http://schemas.microsoft.com/office/drawing/2014/main" id="{8B77FB1B-BB19-492C-9B19-BD3C3815531D}"/>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17</a:t>
            </a:r>
          </a:p>
        </p:txBody>
      </p:sp>
      <p:sp>
        <p:nvSpPr>
          <p:cNvPr id="3" name="Filter stock">
            <a:extLst xmlns:a="http://schemas.openxmlformats.org/drawingml/2006/main">
              <a:ext uri="{FF2B5EF4-FFF2-40B4-BE49-F238E27FC236}">
                <a16:creationId xmlns:a16="http://schemas.microsoft.com/office/drawing/2014/main" id="{3CBA53EC-ECDD-44D9-AF50-08822A14AA2B}"/>
              </a:ext>
            </a:extLst>
          </p:cNvPr>
          <p:cNvSpPr>
            <a:spLocks xmlns:a="http://schemas.openxmlformats.org/drawingml/2006/main" noGrp="1"/>
          </p:cNvSpPr>
          <p:nvPr/>
        </p:nvSpPr>
        <p:spPr>
          <a:xfrm xmlns:a="http://schemas.openxmlformats.org/drawingml/2006/main">
            <a:off x="609600" y="1857375"/>
            <a:ext cx="3143250" cy="1190625"/>
          </a:xfrm>
          <a:prstGeom xmlns:a="http://schemas.openxmlformats.org/drawingml/2006/main" prst="roundRect">
            <a:avLst>
              <a:gd name="adj" fmla="val 960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Filter stock</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Grade · price · location</a:t>
            </a:r>
          </a:p>
        </p:txBody>
      </p:sp>
      <p:sp>
        <p:nvSpPr>
          <p:cNvPr id="4" name="Rank candidates">
            <a:extLst xmlns:a="http://schemas.openxmlformats.org/drawingml/2006/main">
              <a:ext uri="{FF2B5EF4-FFF2-40B4-BE49-F238E27FC236}">
                <a16:creationId xmlns:a16="http://schemas.microsoft.com/office/drawing/2014/main" id="{540F346E-4E09-499A-98F0-10F2BB7FD140}"/>
              </a:ext>
            </a:extLst>
          </p:cNvPr>
          <p:cNvSpPr>
            <a:spLocks xmlns:a="http://schemas.openxmlformats.org/drawingml/2006/main" noGrp="1"/>
          </p:cNvSpPr>
          <p:nvPr/>
        </p:nvSpPr>
        <p:spPr>
          <a:xfrm xmlns:a="http://schemas.openxmlformats.org/drawingml/2006/main">
            <a:off x="4514850" y="1857375"/>
            <a:ext cx="3143250" cy="1190625"/>
          </a:xfrm>
          <a:prstGeom xmlns:a="http://schemas.openxmlformats.org/drawingml/2006/main" prst="roundRect">
            <a:avLst>
              <a:gd name="adj" fmla="val 960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Rank candidates</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Lowest price; reputation tie</a:t>
            </a:r>
          </a:p>
        </p:txBody>
      </p:sp>
      <p:sp>
        <p:nvSpPr>
          <p:cNvPr id="5" name="Allocate quantity">
            <a:extLst xmlns:a="http://schemas.openxmlformats.org/drawingml/2006/main">
              <a:ext uri="{FF2B5EF4-FFF2-40B4-BE49-F238E27FC236}">
                <a16:creationId xmlns:a16="http://schemas.microsoft.com/office/drawing/2014/main" id="{472E82B3-2380-427A-8889-5885E0B2BC52}"/>
              </a:ext>
            </a:extLst>
          </p:cNvPr>
          <p:cNvSpPr>
            <a:spLocks xmlns:a="http://schemas.openxmlformats.org/drawingml/2006/main" noGrp="1"/>
          </p:cNvSpPr>
          <p:nvPr/>
        </p:nvSpPr>
        <p:spPr>
          <a:xfrm xmlns:a="http://schemas.openxmlformats.org/drawingml/2006/main">
            <a:off x="8420100" y="1857375"/>
            <a:ext cx="3143250" cy="1190625"/>
          </a:xfrm>
          <a:prstGeom xmlns:a="http://schemas.openxmlformats.org/drawingml/2006/main" prst="roundRect">
            <a:avLst>
              <a:gd name="adj" fmla="val 960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Allocate quantity</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Take min(stock, remaining)</a:t>
            </a:r>
          </a:p>
        </p:txBody>
      </p:sp>
      <p:sp>
        <p:nvSpPr>
          <p:cNvPr id="8" name="Return allocations, total and any shortfall">
            <a:extLst xmlns:a="http://schemas.openxmlformats.org/drawingml/2006/main">
              <a:ext uri="{FF2B5EF4-FFF2-40B4-BE49-F238E27FC236}">
                <a16:creationId xmlns:a16="http://schemas.microsoft.com/office/drawing/2014/main" id="{5B3034F0-AB14-45B7-90DA-F33FC75DB7FA}"/>
              </a:ext>
            </a:extLst>
          </p:cNvPr>
          <p:cNvSpPr>
            <a:spLocks xmlns:a="http://schemas.openxmlformats.org/drawingml/2006/main" noGrp="1"/>
          </p:cNvSpPr>
          <p:nvPr/>
        </p:nvSpPr>
        <p:spPr>
          <a:xfrm xmlns:a="http://schemas.openxmlformats.org/drawingml/2006/main">
            <a:off x="609600" y="38385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700" b="1">
                <a:solidFill>
                  <a:srgbClr val="173E33"/>
                </a:solidFill>
                <a:latin typeface="Arial"/>
                <a:ea typeface="Arial"/>
                <a:cs typeface="Arial"/>
              </a:defRPr>
            </a:defPPr>
          </a:lstStyle>
          <a:p xmlns:a="http://schemas.openxmlformats.org/drawingml/2006/main">
            <a:pPr algn="l">
              <a:defRPr sz="2700" b="1">
                <a:solidFill>
                  <a:srgbClr val="173E33"/>
                </a:solidFill>
                <a:latin typeface="Arial"/>
                <a:ea typeface="Arial"/>
                <a:cs typeface="Arial"/>
              </a:defRPr>
            </a:pPr>
            <a:r>
              <a:rPr sz="2700" b="1">
                <a:solidFill>
                  <a:srgbClr val="173E33"/>
                </a:solidFill>
                <a:latin typeface="Arial"/>
                <a:ea typeface="Arial"/>
                <a:cs typeface="Arial"/>
              </a:rPr>
              <a:t>Return allocations, total and any shortfall</a:t>
            </a:r>
          </a:p>
        </p:txBody>
      </p:sp>
      <p:sp>
        <p:nvSpPr>
          <p:cNvPr id="9" name="Example: demand 60 q → seller 1 supplies 40 q + seller ">
            <a:extLst xmlns:a="http://schemas.openxmlformats.org/drawingml/2006/main">
              <a:ext uri="{FF2B5EF4-FFF2-40B4-BE49-F238E27FC236}">
                <a16:creationId xmlns:a16="http://schemas.microsoft.com/office/drawing/2014/main" id="{DD39A1B0-1263-4099-9B43-49B6D12CEEF6}"/>
              </a:ext>
            </a:extLst>
          </p:cNvPr>
          <p:cNvSpPr>
            <a:spLocks xmlns:a="http://schemas.openxmlformats.org/drawingml/2006/main" noGrp="1"/>
          </p:cNvSpPr>
          <p:nvPr/>
        </p:nvSpPr>
        <p:spPr>
          <a:xfrm xmlns:a="http://schemas.openxmlformats.org/drawingml/2006/main">
            <a:off x="609600" y="47339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0">
                <a:solidFill>
                  <a:srgbClr val="51615B"/>
                </a:solidFill>
                <a:latin typeface="Arial"/>
                <a:ea typeface="Arial"/>
                <a:cs typeface="Arial"/>
              </a:defRPr>
            </a:defPPr>
          </a:lstStyle>
          <a:p xmlns:a="http://schemas.openxmlformats.org/drawingml/2006/main">
            <a:pPr algn="l">
              <a:defRPr sz="2175" b="0">
                <a:solidFill>
                  <a:srgbClr val="51615B"/>
                </a:solidFill>
                <a:latin typeface="Arial"/>
                <a:ea typeface="Arial"/>
                <a:cs typeface="Arial"/>
              </a:defRPr>
            </a:pPr>
            <a:r>
              <a:rPr sz="2175" b="0">
                <a:solidFill>
                  <a:srgbClr val="51615B"/>
                </a:solidFill>
                <a:latin typeface="Arial"/>
                <a:ea typeface="Arial"/>
                <a:cs typeface="Arial"/>
              </a:rPr>
              <a:t>Example: demand 60 q → seller 1 supplies 40 q + seller 2 supplies 20 q.</a:t>
            </a:r>
          </a:p>
        </p:txBody>
      </p:sp>
      <p:sp>
        <p:nvSpPr>
          <p:cNvPr id="10" name="This is deterministic greedy allocation; the project do">
            <a:extLst xmlns:a="http://schemas.openxmlformats.org/drawingml/2006/main">
              <a:ext uri="{FF2B5EF4-FFF2-40B4-BE49-F238E27FC236}">
                <a16:creationId xmlns:a16="http://schemas.microsoft.com/office/drawing/2014/main" id="{5E9DD257-EA3A-47A7-B99B-D2444BA39E16}"/>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This is deterministic greedy allocation; the project does not claim a globally optimal matching algorithm.</a:t>
            </a:r>
          </a:p>
        </p:txBody>
      </p:sp>
    </p:spTree>
    <p:extLst>
      <p:ext uri="{BB962C8B-B14F-4D97-AF65-F5344CB8AC3E}">
        <p14:creationId xmlns:p14="http://schemas.microsoft.com/office/powerpoint/2010/main" val="2091055307"/>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mplementation — offers and counter-offers">
            <a:extLst xmlns:a="http://schemas.openxmlformats.org/drawingml/2006/main">
              <a:ext uri="{FF2B5EF4-FFF2-40B4-BE49-F238E27FC236}">
                <a16:creationId xmlns:a16="http://schemas.microsoft.com/office/drawing/2014/main" id="{2A9455F0-198E-4EEF-A153-B40013861736}"/>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Implementation — offers and counter-offers</a:t>
            </a:r>
          </a:p>
        </p:txBody>
      </p:sp>
      <p:sp>
        <p:nvSpPr>
          <p:cNvPr id="2" name="18">
            <a:extLst xmlns:a="http://schemas.openxmlformats.org/drawingml/2006/main">
              <a:ext uri="{FF2B5EF4-FFF2-40B4-BE49-F238E27FC236}">
                <a16:creationId xmlns:a16="http://schemas.microsoft.com/office/drawing/2014/main" id="{EF56E10A-C45D-487C-B397-F319077B47C1}"/>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18</a:t>
            </a:r>
          </a:p>
        </p:txBody>
      </p:sp>
      <p:pic>
        <p:nvPicPr>
          <p:cNvPr id="3" name="">
            <a:extLst xmlns:a="http://schemas.openxmlformats.org/drawingml/2006/main">
              <a:ext uri="{FF2B5EF4-FFF2-40B4-BE49-F238E27FC236}">
                <a16:creationId xmlns:a16="http://schemas.microsoft.com/office/drawing/2014/main" id="{8EA1A907-9591-4D2D-84DF-BCAE81BAF18A}"/>
              </a:ext>
            </a:extLst>
          </p:cNvPr>
          <p:cNvPicPr>
            <a:picLocks xmlns:a="http://schemas.openxmlformats.org/drawingml/2006/main" noChangeAspect="1"/>
          </p:cNvPicPr>
          <p:nvPr/>
        </p:nvPicPr>
        <p:blipFill>
          <a:blip xmlns:r="http://schemas.openxmlformats.org/officeDocument/2006/relationships" xmlns:a="http://schemas.openxmlformats.org/drawingml/2006/main" r:embed="R276f0306f91c4f6e"/>
          <a:stretch xmlns:a="http://schemas.openxmlformats.org/drawingml/2006/main"/>
        </p:blipFill>
        <p:spPr>
          <a:xfrm xmlns:a="http://schemas.openxmlformats.org/drawingml/2006/main">
            <a:off x="6409519" y="1438275"/>
            <a:ext cx="4840312" cy="4695825"/>
          </a:xfrm>
          <a:prstGeom xmlns:a="http://schemas.openxmlformats.org/drawingml/2006/main" prst="rect">
            <a:avLst/>
          </a:prstGeom>
        </p:spPr>
      </p:pic>
      <p:sp>
        <p:nvSpPr>
          <p:cNvPr id="4" name="Buyer proposes">
            <a:extLst xmlns:a="http://schemas.openxmlformats.org/drawingml/2006/main">
              <a:ext uri="{FF2B5EF4-FFF2-40B4-BE49-F238E27FC236}">
                <a16:creationId xmlns:a16="http://schemas.microsoft.com/office/drawing/2014/main" id="{609F6E87-461B-4007-9D46-8E628E51DC99}"/>
              </a:ext>
            </a:extLst>
          </p:cNvPr>
          <p:cNvSpPr>
            <a:spLocks xmlns:a="http://schemas.openxmlformats.org/drawingml/2006/main" noGrp="1"/>
          </p:cNvSpPr>
          <p:nvPr/>
        </p:nvSpPr>
        <p:spPr>
          <a:xfrm xmlns:a="http://schemas.openxmlformats.org/drawingml/2006/main">
            <a:off x="609600" y="16859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Buyer proposes</a:t>
            </a:r>
          </a:p>
        </p:txBody>
      </p:sp>
      <p:sp>
        <p:nvSpPr>
          <p:cNvPr id="5" name="Choose a listing, quantity and unit price.">
            <a:extLst xmlns:a="http://schemas.openxmlformats.org/drawingml/2006/main">
              <a:ext uri="{FF2B5EF4-FFF2-40B4-BE49-F238E27FC236}">
                <a16:creationId xmlns:a16="http://schemas.microsoft.com/office/drawing/2014/main" id="{31399A2C-1C91-439F-BC52-4697B6027FAC}"/>
              </a:ext>
            </a:extLst>
          </p:cNvPr>
          <p:cNvSpPr>
            <a:spLocks xmlns:a="http://schemas.openxmlformats.org/drawingml/2006/main" noGrp="1"/>
          </p:cNvSpPr>
          <p:nvPr/>
        </p:nvSpPr>
        <p:spPr>
          <a:xfrm xmlns:a="http://schemas.openxmlformats.org/drawingml/2006/main">
            <a:off x="609600" y="209550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Choose a listing, quantity and unit price.</a:t>
            </a:r>
          </a:p>
        </p:txBody>
      </p:sp>
      <p:sp>
        <p:nvSpPr>
          <p:cNvPr id="6" name="Seller responds">
            <a:extLst xmlns:a="http://schemas.openxmlformats.org/drawingml/2006/main">
              <a:ext uri="{FF2B5EF4-FFF2-40B4-BE49-F238E27FC236}">
                <a16:creationId xmlns:a16="http://schemas.microsoft.com/office/drawing/2014/main" id="{9EC08A73-95E2-4775-AEAF-5D3F3784F329}"/>
              </a:ext>
            </a:extLst>
          </p:cNvPr>
          <p:cNvSpPr>
            <a:spLocks xmlns:a="http://schemas.openxmlformats.org/drawingml/2006/main" noGrp="1"/>
          </p:cNvSpPr>
          <p:nvPr/>
        </p:nvSpPr>
        <p:spPr>
          <a:xfrm xmlns:a="http://schemas.openxmlformats.org/drawingml/2006/main">
            <a:off x="609600" y="30670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Seller responds</a:t>
            </a:r>
          </a:p>
        </p:txBody>
      </p:sp>
      <p:sp>
        <p:nvSpPr>
          <p:cNvPr id="7" name="Accept, reject or propose a counter price.">
            <a:extLst xmlns:a="http://schemas.openxmlformats.org/drawingml/2006/main">
              <a:ext uri="{FF2B5EF4-FFF2-40B4-BE49-F238E27FC236}">
                <a16:creationId xmlns:a16="http://schemas.microsoft.com/office/drawing/2014/main" id="{F514342F-C8FA-4C74-B697-94B2C1ED884A}"/>
              </a:ext>
            </a:extLst>
          </p:cNvPr>
          <p:cNvSpPr>
            <a:spLocks xmlns:a="http://schemas.openxmlformats.org/drawingml/2006/main" noGrp="1"/>
          </p:cNvSpPr>
          <p:nvPr/>
        </p:nvSpPr>
        <p:spPr>
          <a:xfrm xmlns:a="http://schemas.openxmlformats.org/drawingml/2006/main">
            <a:off x="609600" y="347662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Accept, reject or propose a counter price.</a:t>
            </a:r>
          </a:p>
        </p:txBody>
      </p:sp>
      <p:sp>
        <p:nvSpPr>
          <p:cNvPr id="8" name="Buyer decides">
            <a:extLst xmlns:a="http://schemas.openxmlformats.org/drawingml/2006/main">
              <a:ext uri="{FF2B5EF4-FFF2-40B4-BE49-F238E27FC236}">
                <a16:creationId xmlns:a16="http://schemas.microsoft.com/office/drawing/2014/main" id="{AD6F4496-4A70-478D-ABDE-9BFABA97B2F4}"/>
              </a:ext>
            </a:extLst>
          </p:cNvPr>
          <p:cNvSpPr>
            <a:spLocks xmlns:a="http://schemas.openxmlformats.org/drawingml/2006/main" noGrp="1"/>
          </p:cNvSpPr>
          <p:nvPr/>
        </p:nvSpPr>
        <p:spPr>
          <a:xfrm xmlns:a="http://schemas.openxmlformats.org/drawingml/2006/main">
            <a:off x="609600" y="44481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Buyer decides</a:t>
            </a:r>
          </a:p>
        </p:txBody>
      </p:sp>
      <p:sp>
        <p:nvSpPr>
          <p:cNvPr id="9" name="A counter must be accepted before it becomes an order.">
            <a:extLst xmlns:a="http://schemas.openxmlformats.org/drawingml/2006/main">
              <a:ext uri="{FF2B5EF4-FFF2-40B4-BE49-F238E27FC236}">
                <a16:creationId xmlns:a16="http://schemas.microsoft.com/office/drawing/2014/main" id="{F1235413-3F4C-42B6-A12D-94FEC1151D9B}"/>
              </a:ext>
            </a:extLst>
          </p:cNvPr>
          <p:cNvSpPr>
            <a:spLocks xmlns:a="http://schemas.openxmlformats.org/drawingml/2006/main" noGrp="1"/>
          </p:cNvSpPr>
          <p:nvPr/>
        </p:nvSpPr>
        <p:spPr>
          <a:xfrm xmlns:a="http://schemas.openxmlformats.org/drawingml/2006/main">
            <a:off x="609600" y="485775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A counter must be accepted before it becomes an order.</a:t>
            </a:r>
          </a:p>
        </p:txBody>
      </p:sp>
      <p:sp>
        <p:nvSpPr>
          <p:cNvPr id="10" name="Prepared website example: 25 q × ₹4,520 = ₹1,13,000; co">
            <a:extLst xmlns:a="http://schemas.openxmlformats.org/drawingml/2006/main">
              <a:ext uri="{FF2B5EF4-FFF2-40B4-BE49-F238E27FC236}">
                <a16:creationId xmlns:a16="http://schemas.microsoft.com/office/drawing/2014/main" id="{BFAF7C39-E969-418E-A740-D59B8F594785}"/>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Prepared website example: 25 q × ₹4,520 = ₹1,13,000; counter is awaiting a buyer decision.</a:t>
            </a:r>
          </a:p>
        </p:txBody>
      </p:sp>
    </p:spTree>
    <p:extLst>
      <p:ext uri="{BB962C8B-B14F-4D97-AF65-F5344CB8AC3E}">
        <p14:creationId xmlns:p14="http://schemas.microsoft.com/office/powerpoint/2010/main" val="270607058"/>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mplementation — orders and complaints">
            <a:extLst xmlns:a="http://schemas.openxmlformats.org/drawingml/2006/main">
              <a:ext uri="{FF2B5EF4-FFF2-40B4-BE49-F238E27FC236}">
                <a16:creationId xmlns:a16="http://schemas.microsoft.com/office/drawing/2014/main" id="{B5494B54-54D3-40D2-8535-41BBE964284C}"/>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Implementation — orders and complaints</a:t>
            </a:r>
          </a:p>
        </p:txBody>
      </p:sp>
      <p:sp>
        <p:nvSpPr>
          <p:cNvPr id="2" name="19">
            <a:extLst xmlns:a="http://schemas.openxmlformats.org/drawingml/2006/main">
              <a:ext uri="{FF2B5EF4-FFF2-40B4-BE49-F238E27FC236}">
                <a16:creationId xmlns:a16="http://schemas.microsoft.com/office/drawing/2014/main" id="{82A6D84E-87DD-4AAD-AE7A-1DB6DCC38FA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AC197CF9-9062-49DE-BC2D-968F92CB874E}"/>
              </a:ext>
            </a:extLst>
          </p:cNvPr>
          <p:cNvPicPr>
            <a:picLocks xmlns:a="http://schemas.openxmlformats.org/drawingml/2006/main" noChangeAspect="1"/>
          </p:cNvPicPr>
          <p:nvPr/>
        </p:nvPicPr>
        <p:blipFill>
          <a:blip xmlns:r="http://schemas.openxmlformats.org/officeDocument/2006/relationships" xmlns:a="http://schemas.openxmlformats.org/drawingml/2006/main" r:embed="Ra197f2cf4e144f78"/>
          <a:stretch xmlns:a="http://schemas.openxmlformats.org/drawingml/2006/main"/>
        </p:blipFill>
        <p:spPr>
          <a:xfrm xmlns:a="http://schemas.openxmlformats.org/drawingml/2006/main">
            <a:off x="6421236" y="1457325"/>
            <a:ext cx="4816878" cy="4676775"/>
          </a:xfrm>
          <a:prstGeom xmlns:a="http://schemas.openxmlformats.org/drawingml/2006/main" prst="rect">
            <a:avLst/>
          </a:prstGeom>
        </p:spPr>
      </p:pic>
      <p:sp>
        <p:nvSpPr>
          <p:cNvPr id="4" name="Order record">
            <a:extLst xmlns:a="http://schemas.openxmlformats.org/drawingml/2006/main">
              <a:ext uri="{FF2B5EF4-FFF2-40B4-BE49-F238E27FC236}">
                <a16:creationId xmlns:a16="http://schemas.microsoft.com/office/drawing/2014/main" id="{E80D46FB-C076-44B7-B90A-837BB07A6E81}"/>
              </a:ext>
            </a:extLst>
          </p:cNvPr>
          <p:cNvSpPr>
            <a:spLocks xmlns:a="http://schemas.openxmlformats.org/drawingml/2006/main" noGrp="1"/>
          </p:cNvSpPr>
          <p:nvPr/>
        </p:nvSpPr>
        <p:spPr>
          <a:xfrm xmlns:a="http://schemas.openxmlformats.org/drawingml/2006/main">
            <a:off x="609600" y="16859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Order record</a:t>
            </a:r>
          </a:p>
        </p:txBody>
      </p:sp>
      <p:sp>
        <p:nvSpPr>
          <p:cNvPr id="5" name="Product, seller allocation, quantity, amount and status">
            <a:extLst xmlns:a="http://schemas.openxmlformats.org/drawingml/2006/main">
              <a:ext uri="{FF2B5EF4-FFF2-40B4-BE49-F238E27FC236}">
                <a16:creationId xmlns:a16="http://schemas.microsoft.com/office/drawing/2014/main" id="{10B24354-061B-462A-9D68-8E7B891CE1CD}"/>
              </a:ext>
            </a:extLst>
          </p:cNvPr>
          <p:cNvSpPr>
            <a:spLocks xmlns:a="http://schemas.openxmlformats.org/drawingml/2006/main" noGrp="1"/>
          </p:cNvSpPr>
          <p:nvPr/>
        </p:nvSpPr>
        <p:spPr>
          <a:xfrm xmlns:a="http://schemas.openxmlformats.org/drawingml/2006/main">
            <a:off x="609600" y="209550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Product, seller allocation, quantity, amount and status.</a:t>
            </a:r>
          </a:p>
        </p:txBody>
      </p:sp>
      <p:sp>
        <p:nvSpPr>
          <p:cNvPr id="6" name="Buyer complaint">
            <a:extLst xmlns:a="http://schemas.openxmlformats.org/drawingml/2006/main">
              <a:ext uri="{FF2B5EF4-FFF2-40B4-BE49-F238E27FC236}">
                <a16:creationId xmlns:a16="http://schemas.microsoft.com/office/drawing/2014/main" id="{1A678B37-2943-46E2-89B3-EA2736C76E35}"/>
              </a:ext>
            </a:extLst>
          </p:cNvPr>
          <p:cNvSpPr>
            <a:spLocks xmlns:a="http://schemas.openxmlformats.org/drawingml/2006/main" noGrp="1"/>
          </p:cNvSpPr>
          <p:nvPr/>
        </p:nvSpPr>
        <p:spPr>
          <a:xfrm xmlns:a="http://schemas.openxmlformats.org/drawingml/2006/main">
            <a:off x="609600" y="30670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Buyer complaint</a:t>
            </a:r>
          </a:p>
        </p:txBody>
      </p:sp>
      <p:sp>
        <p:nvSpPr>
          <p:cNvPr id="7" name="Describe a grade, quantity or quality problem.">
            <a:extLst xmlns:a="http://schemas.openxmlformats.org/drawingml/2006/main">
              <a:ext uri="{FF2B5EF4-FFF2-40B4-BE49-F238E27FC236}">
                <a16:creationId xmlns:a16="http://schemas.microsoft.com/office/drawing/2014/main" id="{7D333598-BB89-4DA5-9E6B-6E86205590FC}"/>
              </a:ext>
            </a:extLst>
          </p:cNvPr>
          <p:cNvSpPr>
            <a:spLocks xmlns:a="http://schemas.openxmlformats.org/drawingml/2006/main" noGrp="1"/>
          </p:cNvSpPr>
          <p:nvPr/>
        </p:nvSpPr>
        <p:spPr>
          <a:xfrm xmlns:a="http://schemas.openxmlformats.org/drawingml/2006/main">
            <a:off x="609600" y="347662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Describe a grade, quantity or quality problem.</a:t>
            </a:r>
          </a:p>
        </p:txBody>
      </p:sp>
      <p:sp>
        <p:nvSpPr>
          <p:cNvPr id="8" name="Staff resolution">
            <a:extLst xmlns:a="http://schemas.openxmlformats.org/drawingml/2006/main">
              <a:ext uri="{FF2B5EF4-FFF2-40B4-BE49-F238E27FC236}">
                <a16:creationId xmlns:a16="http://schemas.microsoft.com/office/drawing/2014/main" id="{9124C7B9-87BF-46CC-AB8C-02DEECEBC57D}"/>
              </a:ext>
            </a:extLst>
          </p:cNvPr>
          <p:cNvSpPr>
            <a:spLocks xmlns:a="http://schemas.openxmlformats.org/drawingml/2006/main" noGrp="1"/>
          </p:cNvSpPr>
          <p:nvPr/>
        </p:nvSpPr>
        <p:spPr>
          <a:xfrm xmlns:a="http://schemas.openxmlformats.org/drawingml/2006/main">
            <a:off x="609600" y="44481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Staff resolution</a:t>
            </a:r>
          </a:p>
        </p:txBody>
      </p:sp>
      <p:sp>
        <p:nvSpPr>
          <p:cNvPr id="9" name="Inspect and close the case with a recorded note.">
            <a:extLst xmlns:a="http://schemas.openxmlformats.org/drawingml/2006/main">
              <a:ext uri="{FF2B5EF4-FFF2-40B4-BE49-F238E27FC236}">
                <a16:creationId xmlns:a16="http://schemas.microsoft.com/office/drawing/2014/main" id="{7669F48E-6DA9-40E9-9884-7145C6C84960}"/>
              </a:ext>
            </a:extLst>
          </p:cNvPr>
          <p:cNvSpPr>
            <a:spLocks xmlns:a="http://schemas.openxmlformats.org/drawingml/2006/main" noGrp="1"/>
          </p:cNvSpPr>
          <p:nvPr/>
        </p:nvSpPr>
        <p:spPr>
          <a:xfrm xmlns:a="http://schemas.openxmlformats.org/drawingml/2006/main">
            <a:off x="609600" y="485775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Inspect and close the case with a recorded note.</a:t>
            </a:r>
          </a:p>
        </p:txBody>
      </p:sp>
      <p:sp>
        <p:nvSpPr>
          <p:cNvPr id="10" name="Evidence type: seeded complaint states in the running l">
            <a:extLst xmlns:a="http://schemas.openxmlformats.org/drawingml/2006/main">
              <a:ext uri="{FF2B5EF4-FFF2-40B4-BE49-F238E27FC236}">
                <a16:creationId xmlns:a16="http://schemas.microsoft.com/office/drawing/2014/main" id="{64F5AA5B-0995-40FA-8B29-3D56606C73EB}"/>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Evidence type: seeded complaint states in the running local database.</a:t>
            </a:r>
          </a:p>
        </p:txBody>
      </p:sp>
    </p:spTree>
    <p:extLst>
      <p:ext uri="{BB962C8B-B14F-4D97-AF65-F5344CB8AC3E}">
        <p14:creationId xmlns:p14="http://schemas.microsoft.com/office/powerpoint/2010/main" val="797047429"/>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Implementation — configurable quality checks">
            <a:extLst xmlns:a="http://schemas.openxmlformats.org/drawingml/2006/main">
              <a:ext uri="{FF2B5EF4-FFF2-40B4-BE49-F238E27FC236}">
                <a16:creationId xmlns:a16="http://schemas.microsoft.com/office/drawing/2014/main" id="{8C724483-E0ED-430B-AF2B-6D20AD5E3939}"/>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Implementation — configurable quality checks</a:t>
            </a:r>
          </a:p>
        </p:txBody>
      </p:sp>
      <p:sp>
        <p:nvSpPr>
          <p:cNvPr id="2" name="20">
            <a:extLst xmlns:a="http://schemas.openxmlformats.org/drawingml/2006/main">
              <a:ext uri="{FF2B5EF4-FFF2-40B4-BE49-F238E27FC236}">
                <a16:creationId xmlns:a16="http://schemas.microsoft.com/office/drawing/2014/main" id="{87252277-A4DF-4D70-ACB4-27C8F3E5F5F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E4573B8C-D4A3-487F-9820-4757D074CFD2}"/>
              </a:ext>
            </a:extLst>
          </p:cNvPr>
          <p:cNvPicPr>
            <a:picLocks xmlns:a="http://schemas.openxmlformats.org/drawingml/2006/main" noChangeAspect="1"/>
          </p:cNvPicPr>
          <p:nvPr/>
        </p:nvPicPr>
        <p:blipFill>
          <a:blip xmlns:r="http://schemas.openxmlformats.org/officeDocument/2006/relationships" xmlns:a="http://schemas.openxmlformats.org/drawingml/2006/main" r:embed="R059e573a0f694ca5"/>
          <a:stretch xmlns:a="http://schemas.openxmlformats.org/drawingml/2006/main"/>
        </p:blipFill>
        <p:spPr>
          <a:xfrm xmlns:a="http://schemas.openxmlformats.org/drawingml/2006/main">
            <a:off x="6419337" y="1457325"/>
            <a:ext cx="4820676" cy="4676775"/>
          </a:xfrm>
          <a:prstGeom xmlns:a="http://schemas.openxmlformats.org/drawingml/2006/main" prst="rect">
            <a:avLst/>
          </a:prstGeom>
        </p:spPr>
      </p:pic>
      <p:sp>
        <p:nvSpPr>
          <p:cNvPr id="4" name="Per-category attributes">
            <a:extLst xmlns:a="http://schemas.openxmlformats.org/drawingml/2006/main">
              <a:ext uri="{FF2B5EF4-FFF2-40B4-BE49-F238E27FC236}">
                <a16:creationId xmlns:a16="http://schemas.microsoft.com/office/drawing/2014/main" id="{228B7DE3-0482-441E-B8FD-A007D3A8FC7E}"/>
              </a:ext>
            </a:extLst>
          </p:cNvPr>
          <p:cNvSpPr>
            <a:spLocks xmlns:a="http://schemas.openxmlformats.org/drawingml/2006/main" noGrp="1"/>
          </p:cNvSpPr>
          <p:nvPr/>
        </p:nvSpPr>
        <p:spPr>
          <a:xfrm xmlns:a="http://schemas.openxmlformats.org/drawingml/2006/main">
            <a:off x="609600" y="16573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Per-category attributes</a:t>
            </a:r>
          </a:p>
        </p:txBody>
      </p:sp>
      <p:sp>
        <p:nvSpPr>
          <p:cNvPr id="5" name="Names, types, ranges and photo-analysis flags.">
            <a:extLst xmlns:a="http://schemas.openxmlformats.org/drawingml/2006/main">
              <a:ext uri="{FF2B5EF4-FFF2-40B4-BE49-F238E27FC236}">
                <a16:creationId xmlns:a16="http://schemas.microsoft.com/office/drawing/2014/main" id="{D6E0C4A4-A214-4F7D-9118-B9CA40871791}"/>
              </a:ext>
            </a:extLst>
          </p:cNvPr>
          <p:cNvSpPr>
            <a:spLocks xmlns:a="http://schemas.openxmlformats.org/drawingml/2006/main" noGrp="1"/>
          </p:cNvSpPr>
          <p:nvPr/>
        </p:nvSpPr>
        <p:spPr>
          <a:xfrm xmlns:a="http://schemas.openxmlformats.org/drawingml/2006/main">
            <a:off x="609600" y="206692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Names, types, ranges and photo-analysis flags.</a:t>
            </a:r>
          </a:p>
        </p:txBody>
      </p:sp>
      <p:sp>
        <p:nvSpPr>
          <p:cNvPr id="6" name="Explicit weights">
            <a:extLst xmlns:a="http://schemas.openxmlformats.org/drawingml/2006/main">
              <a:ext uri="{FF2B5EF4-FFF2-40B4-BE49-F238E27FC236}">
                <a16:creationId xmlns:a16="http://schemas.microsoft.com/office/drawing/2014/main" id="{34B6679F-AA7C-4409-A029-4CE55E274A36}"/>
              </a:ext>
            </a:extLst>
          </p:cNvPr>
          <p:cNvSpPr>
            <a:spLocks xmlns:a="http://schemas.openxmlformats.org/drawingml/2006/main" noGrp="1"/>
          </p:cNvSpPr>
          <p:nvPr/>
        </p:nvSpPr>
        <p:spPr>
          <a:xfrm xmlns:a="http://schemas.openxmlformats.org/drawingml/2006/main">
            <a:off x="609600" y="30384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Explicit weights</a:t>
            </a:r>
          </a:p>
        </p:txBody>
      </p:sp>
      <p:sp>
        <p:nvSpPr>
          <p:cNvPr id="7" name="Agriculture: 50% cleanliness + 50% whole grains.">
            <a:extLst xmlns:a="http://schemas.openxmlformats.org/drawingml/2006/main">
              <a:ext uri="{FF2B5EF4-FFF2-40B4-BE49-F238E27FC236}">
                <a16:creationId xmlns:a16="http://schemas.microsoft.com/office/drawing/2014/main" id="{B5B57DCF-2F1F-40DC-A108-D198EC4FC7BD}"/>
              </a:ext>
            </a:extLst>
          </p:cNvPr>
          <p:cNvSpPr>
            <a:spLocks xmlns:a="http://schemas.openxmlformats.org/drawingml/2006/main" noGrp="1"/>
          </p:cNvSpPr>
          <p:nvPr/>
        </p:nvSpPr>
        <p:spPr>
          <a:xfrm xmlns:a="http://schemas.openxmlformats.org/drawingml/2006/main">
            <a:off x="609600" y="344805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Agriculture: 50% cleanliness + 50% whole grains.</a:t>
            </a:r>
          </a:p>
        </p:txBody>
      </p:sp>
      <p:sp>
        <p:nvSpPr>
          <p:cNvPr id="8" name="Capability boundary">
            <a:extLst xmlns:a="http://schemas.openxmlformats.org/drawingml/2006/main">
              <a:ext uri="{FF2B5EF4-FFF2-40B4-BE49-F238E27FC236}">
                <a16:creationId xmlns:a16="http://schemas.microsoft.com/office/drawing/2014/main" id="{1FD1391E-721E-4BFC-B960-281C7F0D883B}"/>
              </a:ext>
            </a:extLst>
          </p:cNvPr>
          <p:cNvSpPr>
            <a:spLocks xmlns:a="http://schemas.openxmlformats.org/drawingml/2006/main" noGrp="1"/>
          </p:cNvSpPr>
          <p:nvPr/>
        </p:nvSpPr>
        <p:spPr>
          <a:xfrm xmlns:a="http://schemas.openxmlformats.org/drawingml/2006/main">
            <a:off x="609600" y="44196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Capability boundary</a:t>
            </a:r>
          </a:p>
        </p:txBody>
      </p:sp>
      <p:sp>
        <p:nvSpPr>
          <p:cNvPr id="9" name="A configuration switch does not train a new visual meas">
            <a:extLst xmlns:a="http://schemas.openxmlformats.org/drawingml/2006/main">
              <a:ext uri="{FF2B5EF4-FFF2-40B4-BE49-F238E27FC236}">
                <a16:creationId xmlns:a16="http://schemas.microsoft.com/office/drawing/2014/main" id="{20B92178-7C38-49E0-A6AE-EDCF9F85E2FE}"/>
              </a:ext>
            </a:extLst>
          </p:cNvPr>
          <p:cNvSpPr>
            <a:spLocks xmlns:a="http://schemas.openxmlformats.org/drawingml/2006/main" noGrp="1"/>
          </p:cNvSpPr>
          <p:nvPr/>
        </p:nvSpPr>
        <p:spPr>
          <a:xfrm xmlns:a="http://schemas.openxmlformats.org/drawingml/2006/main">
            <a:off x="609600" y="482917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A configuration switch does not train a new visual measurement.</a:t>
            </a:r>
          </a:p>
        </p:txBody>
      </p:sp>
    </p:spTree>
    <p:extLst>
      <p:ext uri="{BB962C8B-B14F-4D97-AF65-F5344CB8AC3E}">
        <p14:creationId xmlns:p14="http://schemas.microsoft.com/office/powerpoint/2010/main" val="1897160604"/>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Implementation — price rules and records">
            <a:extLst xmlns:a="http://schemas.openxmlformats.org/drawingml/2006/main">
              <a:ext uri="{FF2B5EF4-FFF2-40B4-BE49-F238E27FC236}">
                <a16:creationId xmlns:a16="http://schemas.microsoft.com/office/drawing/2014/main" id="{7FEFC19E-5ADA-44A3-9B02-593AF59BFCA0}"/>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Implementation — price rules and records</a:t>
            </a:r>
          </a:p>
        </p:txBody>
      </p:sp>
      <p:sp>
        <p:nvSpPr>
          <p:cNvPr id="2" name="21">
            <a:extLst xmlns:a="http://schemas.openxmlformats.org/drawingml/2006/main">
              <a:ext uri="{FF2B5EF4-FFF2-40B4-BE49-F238E27FC236}">
                <a16:creationId xmlns:a16="http://schemas.microsoft.com/office/drawing/2014/main" id="{E5066BEF-C37D-4608-A122-A537751BF65D}"/>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21</a:t>
            </a:r>
          </a:p>
        </p:txBody>
      </p:sp>
      <p:pic>
        <p:nvPicPr>
          <p:cNvPr id="3" name="">
            <a:extLst xmlns:a="http://schemas.openxmlformats.org/drawingml/2006/main">
              <a:ext uri="{FF2B5EF4-FFF2-40B4-BE49-F238E27FC236}">
                <a16:creationId xmlns:a16="http://schemas.microsoft.com/office/drawing/2014/main" id="{03EEC6CC-BCDF-4F7B-909D-ABEC1ACD8E8C}"/>
              </a:ext>
            </a:extLst>
          </p:cNvPr>
          <p:cNvPicPr>
            <a:picLocks xmlns:a="http://schemas.openxmlformats.org/drawingml/2006/main" noChangeAspect="1"/>
          </p:cNvPicPr>
          <p:nvPr/>
        </p:nvPicPr>
        <p:blipFill>
          <a:blip xmlns:r="http://schemas.openxmlformats.org/officeDocument/2006/relationships" xmlns:a="http://schemas.openxmlformats.org/drawingml/2006/main" r:embed="R00ec87560dfc4ac1"/>
          <a:stretch xmlns:a="http://schemas.openxmlformats.org/drawingml/2006/main"/>
        </p:blipFill>
        <p:spPr>
          <a:xfrm xmlns:a="http://schemas.openxmlformats.org/drawingml/2006/main">
            <a:off x="6421236" y="1457325"/>
            <a:ext cx="4816878" cy="4676775"/>
          </a:xfrm>
          <a:prstGeom xmlns:a="http://schemas.openxmlformats.org/drawingml/2006/main" prst="rect">
            <a:avLst/>
          </a:prstGeom>
        </p:spPr>
      </p:pic>
      <p:sp>
        <p:nvSpPr>
          <p:cNvPr id="4" name="Grade adjustments">
            <a:extLst xmlns:a="http://schemas.openxmlformats.org/drawingml/2006/main">
              <a:ext uri="{FF2B5EF4-FFF2-40B4-BE49-F238E27FC236}">
                <a16:creationId xmlns:a16="http://schemas.microsoft.com/office/drawing/2014/main" id="{C874DBCD-9B3B-45AB-9070-A9D9FBD2BE84}"/>
              </a:ext>
            </a:extLst>
          </p:cNvPr>
          <p:cNvSpPr>
            <a:spLocks xmlns:a="http://schemas.openxmlformats.org/drawingml/2006/main" noGrp="1"/>
          </p:cNvSpPr>
          <p:nvPr/>
        </p:nvSpPr>
        <p:spPr>
          <a:xfrm xmlns:a="http://schemas.openxmlformats.org/drawingml/2006/main">
            <a:off x="609600" y="16859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Grade adjustments</a:t>
            </a:r>
          </a:p>
        </p:txBody>
      </p:sp>
      <p:sp>
        <p:nvSpPr>
          <p:cNvPr id="5" name="A +10% · B 0% · C −12%.">
            <a:extLst xmlns:a="http://schemas.openxmlformats.org/drawingml/2006/main">
              <a:ext uri="{FF2B5EF4-FFF2-40B4-BE49-F238E27FC236}">
                <a16:creationId xmlns:a16="http://schemas.microsoft.com/office/drawing/2014/main" id="{EA286D15-0AB7-4D3D-AA45-8C349F3E17D9}"/>
              </a:ext>
            </a:extLst>
          </p:cNvPr>
          <p:cNvSpPr>
            <a:spLocks xmlns:a="http://schemas.openxmlformats.org/drawingml/2006/main" noGrp="1"/>
          </p:cNvSpPr>
          <p:nvPr/>
        </p:nvSpPr>
        <p:spPr>
          <a:xfrm xmlns:a="http://schemas.openxmlformats.org/drawingml/2006/main">
            <a:off x="609600" y="209550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A +10% · B 0% · C −12%.</a:t>
            </a:r>
          </a:p>
        </p:txBody>
      </p:sp>
      <p:sp>
        <p:nvSpPr>
          <p:cNvPr id="6" name="Bulk tiers">
            <a:extLst xmlns:a="http://schemas.openxmlformats.org/drawingml/2006/main">
              <a:ext uri="{FF2B5EF4-FFF2-40B4-BE49-F238E27FC236}">
                <a16:creationId xmlns:a16="http://schemas.microsoft.com/office/drawing/2014/main" id="{50F60AA1-06DA-46A7-9232-DBDD22ABD964}"/>
              </a:ext>
            </a:extLst>
          </p:cNvPr>
          <p:cNvSpPr>
            <a:spLocks xmlns:a="http://schemas.openxmlformats.org/drawingml/2006/main" noGrp="1"/>
          </p:cNvSpPr>
          <p:nvPr/>
        </p:nvSpPr>
        <p:spPr>
          <a:xfrm xmlns:a="http://schemas.openxmlformats.org/drawingml/2006/main">
            <a:off x="609600" y="30670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Bulk tiers</a:t>
            </a:r>
          </a:p>
        </p:txBody>
      </p:sp>
      <p:sp>
        <p:nvSpPr>
          <p:cNvPr id="7" name="50 q: 2% off · 200 q: 5% off.">
            <a:extLst xmlns:a="http://schemas.openxmlformats.org/drawingml/2006/main">
              <a:ext uri="{FF2B5EF4-FFF2-40B4-BE49-F238E27FC236}">
                <a16:creationId xmlns:a16="http://schemas.microsoft.com/office/drawing/2014/main" id="{02DA2D2F-0F79-4EA7-991D-0EDC06040AE6}"/>
              </a:ext>
            </a:extLst>
          </p:cNvPr>
          <p:cNvSpPr>
            <a:spLocks xmlns:a="http://schemas.openxmlformats.org/drawingml/2006/main" noGrp="1"/>
          </p:cNvSpPr>
          <p:nvPr/>
        </p:nvSpPr>
        <p:spPr>
          <a:xfrm xmlns:a="http://schemas.openxmlformats.org/drawingml/2006/main">
            <a:off x="609600" y="347662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50 q: 2% off · 200 q: 5% off.</a:t>
            </a:r>
          </a:p>
        </p:txBody>
      </p:sp>
      <p:sp>
        <p:nvSpPr>
          <p:cNvPr id="8" name="Price records">
            <a:extLst xmlns:a="http://schemas.openxmlformats.org/drawingml/2006/main">
              <a:ext uri="{FF2B5EF4-FFF2-40B4-BE49-F238E27FC236}">
                <a16:creationId xmlns:a16="http://schemas.microsoft.com/office/drawing/2014/main" id="{33E0150A-D491-40DE-A12D-AF3599530A59}"/>
              </a:ext>
            </a:extLst>
          </p:cNvPr>
          <p:cNvSpPr>
            <a:spLocks xmlns:a="http://schemas.openxmlformats.org/drawingml/2006/main" noGrp="1"/>
          </p:cNvSpPr>
          <p:nvPr/>
        </p:nvSpPr>
        <p:spPr>
          <a:xfrm xmlns:a="http://schemas.openxmlformats.org/drawingml/2006/main">
            <a:off x="609600" y="44481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Price records</a:t>
            </a:r>
          </a:p>
        </p:txBody>
      </p:sp>
      <p:sp>
        <p:nvSpPr>
          <p:cNvPr id="9" name="Manual or feed-labeled sources; local history supports ">
            <a:extLst xmlns:a="http://schemas.openxmlformats.org/drawingml/2006/main">
              <a:ext uri="{FF2B5EF4-FFF2-40B4-BE49-F238E27FC236}">
                <a16:creationId xmlns:a16="http://schemas.microsoft.com/office/drawing/2014/main" id="{0EA04FD5-50C3-4ADC-A43F-3B9FF01B9EF5}"/>
              </a:ext>
            </a:extLst>
          </p:cNvPr>
          <p:cNvSpPr>
            <a:spLocks xmlns:a="http://schemas.openxmlformats.org/drawingml/2006/main" noGrp="1"/>
          </p:cNvSpPr>
          <p:nvPr/>
        </p:nvSpPr>
        <p:spPr>
          <a:xfrm xmlns:a="http://schemas.openxmlformats.org/drawingml/2006/main">
            <a:off x="609600" y="485775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Manual or feed-labeled sources; local history supports the demo.</a:t>
            </a:r>
          </a:p>
        </p:txBody>
      </p:sp>
    </p:spTree>
    <p:extLst>
      <p:ext uri="{BB962C8B-B14F-4D97-AF65-F5344CB8AC3E}">
        <p14:creationId xmlns:p14="http://schemas.microsoft.com/office/powerpoint/2010/main" val="1536187401"/>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Results">
            <a:extLst xmlns:a="http://schemas.openxmlformats.org/drawingml/2006/main">
              <a:ext uri="{FF2B5EF4-FFF2-40B4-BE49-F238E27FC236}">
                <a16:creationId xmlns:a16="http://schemas.microsoft.com/office/drawing/2014/main" id="{3B654231-9AAA-499F-A8AE-98A3E0338A96}"/>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a:t>
            </a:r>
          </a:p>
        </p:txBody>
      </p:sp>
      <p:sp>
        <p:nvSpPr>
          <p:cNvPr id="2" name="22">
            <a:extLst xmlns:a="http://schemas.openxmlformats.org/drawingml/2006/main">
              <a:ext uri="{FF2B5EF4-FFF2-40B4-BE49-F238E27FC236}">
                <a16:creationId xmlns:a16="http://schemas.microsoft.com/office/drawing/2014/main" id="{572CC2C6-4A38-4670-AA20-05559DB2F5EF}"/>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22</a:t>
            </a:r>
          </a:p>
        </p:txBody>
      </p:sp>
      <p:sp>
        <p:nvSpPr>
          <p:cNvPr id="3" name="Local integration is demonstrable;&#10;model reliability ne">
            <a:extLst xmlns:a="http://schemas.openxmlformats.org/drawingml/2006/main">
              <a:ext uri="{FF2B5EF4-FFF2-40B4-BE49-F238E27FC236}">
                <a16:creationId xmlns:a16="http://schemas.microsoft.com/office/drawing/2014/main" id="{B189F7F1-25F3-41FC-9152-796F16B43F89}"/>
              </a:ext>
            </a:extLst>
          </p:cNvPr>
          <p:cNvSpPr>
            <a:spLocks xmlns:a="http://schemas.openxmlformats.org/drawingml/2006/main" noGrp="1"/>
          </p:cNvSpPr>
          <p:nvPr/>
        </p:nvSpPr>
        <p:spPr>
          <a:xfrm xmlns:a="http://schemas.openxmlformats.org/drawingml/2006/main">
            <a:off x="609600" y="153352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775" b="1">
                <a:solidFill>
                  <a:srgbClr val="173E33"/>
                </a:solidFill>
                <a:latin typeface="Arial"/>
                <a:ea typeface="Arial"/>
                <a:cs typeface="Arial"/>
              </a:defRPr>
            </a:defPPr>
          </a:lstStyle>
          <a:p xmlns:a="http://schemas.openxmlformats.org/drawingml/2006/main">
            <a:pPr algn="l">
              <a:defRPr sz="2775" b="1">
                <a:solidFill>
                  <a:srgbClr val="173E33"/>
                </a:solidFill>
                <a:latin typeface="Arial"/>
                <a:ea typeface="Arial"/>
                <a:cs typeface="Arial"/>
              </a:defRPr>
            </a:pPr>
            <a:r>
              <a:rPr sz="2775" b="1">
                <a:solidFill>
                  <a:srgbClr val="173E33"/>
                </a:solidFill>
                <a:latin typeface="Arial"/>
                <a:ea typeface="Arial"/>
                <a:cs typeface="Arial"/>
              </a:rPr>
              <a:t>Local integration is demonstrable;</a:t>
            </a:r>
          </a:p>
          <a:p xmlns:a="http://schemas.openxmlformats.org/drawingml/2006/main">
            <a:pPr algn="l">
              <a:defRPr sz="2775" b="1">
                <a:solidFill>
                  <a:srgbClr val="173E33"/>
                </a:solidFill>
                <a:latin typeface="Arial"/>
                <a:ea typeface="Arial"/>
                <a:cs typeface="Arial"/>
              </a:defRPr>
            </a:pPr>
            <a:r>
              <a:rPr sz="2775" b="1">
                <a:solidFill>
                  <a:srgbClr val="173E33"/>
                </a:solidFill>
                <a:latin typeface="Arial"/>
                <a:ea typeface="Arial"/>
                <a:cs typeface="Arial"/>
              </a:rPr>
              <a:t>model reliability needs a separate assessment.</a:t>
            </a:r>
          </a:p>
        </p:txBody>
      </p:sp>
      <p:graphicFrame>
        <p:nvGraphicFramePr>
          <p:cNvPr id="4" name="">
            <a:extLst xmlns:a="http://schemas.openxmlformats.org/drawingml/2006/main">
              <a:ext uri="{FF2B5EF4-FFF2-40B4-BE49-F238E27FC236}">
                <a16:creationId xmlns:a16="http://schemas.microsoft.com/office/drawing/2014/main" id="{70188E70-1B57-47F7-8A0B-D7212BBE7D94}"/>
              </a:ext>
            </a:extLst>
          </p:cNvPr>
          <p:cNvGraphicFramePr/>
          <p:nvPr/>
        </p:nvGraphicFramePr>
        <p:xfrm>
          <a:off xmlns:a="http://schemas.openxmlformats.org/drawingml/2006/main" x="609600" y="2924175"/>
          <a:ext xmlns:a="http://schemas.openxmlformats.org/drawingml/2006/main" cx="10972800" cy="2800350"/>
        </p:xfrm>
        <a:graphic xmlns:a="http://schemas.openxmlformats.org/drawingml/2006/main">
          <a:graphicData uri="http://schemas.openxmlformats.org/drawingml/2006/table">
            <a:tbl>
              <a:tblPr/>
              <a:tblGrid>
                <a:gridCol w="3524250"/>
                <a:gridCol w="2857500"/>
                <a:gridCol w="4591050"/>
              </a:tblGrid>
              <a:tr h="560070">
                <a:tc>
                  <a:txBody>
                    <a:bodyPr/>
                    <a:lstStyle/>
                    <a:p>
                      <a:r>
                        <a:rPr sz="1800" b="1">
                          <a:solidFill>
                            <a:srgbClr val="F7F5EF"/>
                          </a:solidFill>
                          <a:latin typeface="Arial"/>
                          <a:ea typeface="Arial"/>
                          <a:cs typeface="Arial"/>
                        </a:rPr>
                        <a:t>Evidence</a:t>
                      </a:r>
                    </a:p>
                  </a:txBody>
                  <a:tcPr marL="133350" marR="133350" marT="76200" marB="66675" anchor="ctr">
                    <a:solidFill>
                      <a:srgbClr val="173E33"/>
                    </a:solidFill>
                  </a:tcPr>
                </a:tc>
                <a:tc>
                  <a:txBody>
                    <a:bodyPr/>
                    <a:lstStyle/>
                    <a:p>
                      <a:r>
                        <a:rPr sz="1800" b="1">
                          <a:solidFill>
                            <a:srgbClr val="F7F5EF"/>
                          </a:solidFill>
                          <a:latin typeface="Arial"/>
                          <a:ea typeface="Arial"/>
                          <a:cs typeface="Arial"/>
                        </a:rPr>
                        <a:t>Observed result</a:t>
                      </a:r>
                    </a:p>
                  </a:txBody>
                  <a:tcPr marL="133350" marR="133350" marT="76200" marB="66675" anchor="ctr">
                    <a:solidFill>
                      <a:srgbClr val="173E33"/>
                    </a:solidFill>
                  </a:tcPr>
                </a:tc>
                <a:tc>
                  <a:txBody>
                    <a:bodyPr/>
                    <a:lstStyle/>
                    <a:p>
                      <a:r>
                        <a:rPr sz="1800" b="1">
                          <a:solidFill>
                            <a:srgbClr val="F7F5EF"/>
                          </a:solidFill>
                          <a:latin typeface="Arial"/>
                          <a:ea typeface="Arial"/>
                          <a:cs typeface="Arial"/>
                        </a:rPr>
                        <a:t>What it establishes</a:t>
                      </a:r>
                    </a:p>
                  </a:txBody>
                  <a:tcPr marL="133350" marR="133350" marT="76200" marB="66675" anchor="ctr">
                    <a:solidFill>
                      <a:srgbClr val="173E33"/>
                    </a:solidFill>
                  </a:tcPr>
                </a:tc>
              </a:tr>
              <a:tr h="560070">
                <a:tc>
                  <a:txBody>
                    <a:bodyPr/>
                    <a:lstStyle/>
                    <a:p>
                      <a:r>
                        <a:rPr sz="1800">
                          <a:solidFill>
                            <a:srgbClr val="173E33"/>
                          </a:solidFill>
                          <a:latin typeface="Arial"/>
                          <a:ea typeface="Arial"/>
                          <a:cs typeface="Arial"/>
                        </a:rPr>
                        <a:t>Local readiness checks</a:t>
                      </a:r>
                    </a:p>
                  </a:txBody>
                  <a:tcPr marL="133350" marR="133350" marT="76200" marB="66675" anchor="ctr">
                    <a:solidFill>
                      <a:srgbClr val="F7F5EF"/>
                    </a:solidFill>
                  </a:tcPr>
                </a:tc>
                <a:tc>
                  <a:txBody>
                    <a:bodyPr/>
                    <a:lstStyle/>
                    <a:p>
                      <a:r>
                        <a:rPr sz="1800">
                          <a:solidFill>
                            <a:srgbClr val="173E33"/>
                          </a:solidFill>
                          <a:latin typeface="Arial"/>
                          <a:ea typeface="Arial"/>
                          <a:cs typeface="Arial"/>
                        </a:rPr>
                        <a:t>34 / 34 passed</a:t>
                      </a:r>
                    </a:p>
                  </a:txBody>
                  <a:tcPr marL="133350" marR="133350" marT="76200" marB="66675" anchor="ctr">
                    <a:solidFill>
                      <a:srgbClr val="F7F5EF"/>
                    </a:solidFill>
                  </a:tcPr>
                </a:tc>
                <a:tc>
                  <a:txBody>
                    <a:bodyPr/>
                    <a:lstStyle/>
                    <a:p>
                      <a:r>
                        <a:rPr sz="1800">
                          <a:solidFill>
                            <a:srgbClr val="173E33"/>
                          </a:solidFill>
                          <a:latin typeface="Arial"/>
                          <a:ea typeface="Arial"/>
                          <a:cs typeface="Arial"/>
                        </a:rPr>
                        <a:t>Services and selected API routes</a:t>
                      </a:r>
                    </a:p>
                  </a:txBody>
                  <a:tcPr marL="133350" marR="133350" marT="76200" marB="66675" anchor="ctr">
                    <a:solidFill>
                      <a:srgbClr val="F7F5EF"/>
                    </a:solidFill>
                  </a:tcPr>
                </a:tc>
              </a:tr>
              <a:tr h="560070">
                <a:tc>
                  <a:txBody>
                    <a:bodyPr/>
                    <a:lstStyle/>
                    <a:p>
                      <a:r>
                        <a:rPr sz="1800">
                          <a:solidFill>
                            <a:srgbClr val="173E33"/>
                          </a:solidFill>
                          <a:latin typeface="Arial"/>
                          <a:ea typeface="Arial"/>
                          <a:cs typeface="Arial"/>
                        </a:rPr>
                        <a:t>Android core suite</a:t>
                      </a:r>
                    </a:p>
                  </a:txBody>
                  <a:tcPr marL="133350" marR="133350" marT="76200" marB="66675" anchor="ctr">
                    <a:solidFill>
                      <a:srgbClr val="F7F5EF"/>
                    </a:solidFill>
                  </a:tcPr>
                </a:tc>
                <a:tc>
                  <a:txBody>
                    <a:bodyPr/>
                    <a:lstStyle/>
                    <a:p>
                      <a:r>
                        <a:rPr sz="1800">
                          <a:solidFill>
                            <a:srgbClr val="173E33"/>
                          </a:solidFill>
                          <a:latin typeface="Arial"/>
                          <a:ea typeface="Arial"/>
                          <a:cs typeface="Arial"/>
                        </a:rPr>
                        <a:t>34 passed; 1 skipped</a:t>
                      </a:r>
                    </a:p>
                  </a:txBody>
                  <a:tcPr marL="133350" marR="133350" marT="76200" marB="66675" anchor="ctr">
                    <a:solidFill>
                      <a:srgbClr val="F7F5EF"/>
                    </a:solidFill>
                  </a:tcPr>
                </a:tc>
                <a:tc>
                  <a:txBody>
                    <a:bodyPr/>
                    <a:lstStyle/>
                    <a:p>
                      <a:r>
                        <a:rPr sz="1800">
                          <a:solidFill>
                            <a:srgbClr val="173E33"/>
                          </a:solidFill>
                          <a:latin typeface="Arial"/>
                          <a:ea typeface="Arial"/>
                          <a:cs typeface="Arial"/>
                        </a:rPr>
                        <a:t>Executed core cases passed</a:t>
                      </a:r>
                    </a:p>
                  </a:txBody>
                  <a:tcPr marL="133350" marR="133350" marT="76200" marB="66675" anchor="ctr">
                    <a:solidFill>
                      <a:srgbClr val="F7F5EF"/>
                    </a:solidFill>
                  </a:tcPr>
                </a:tc>
              </a:tr>
              <a:tr h="560070">
                <a:tc>
                  <a:txBody>
                    <a:bodyPr/>
                    <a:lstStyle/>
                    <a:p>
                      <a:r>
                        <a:rPr sz="1800">
                          <a:solidFill>
                            <a:srgbClr val="173E33"/>
                          </a:solidFill>
                          <a:latin typeface="Arial"/>
                          <a:ea typeface="Arial"/>
                          <a:cs typeface="Arial"/>
                        </a:rPr>
                        <a:t>Android live-backend case</a:t>
                      </a:r>
                    </a:p>
                  </a:txBody>
                  <a:tcPr marL="133350" marR="133350" marT="76200" marB="66675" anchor="ctr">
                    <a:solidFill>
                      <a:srgbClr val="F7F5EF"/>
                    </a:solidFill>
                  </a:tcPr>
                </a:tc>
                <a:tc>
                  <a:txBody>
                    <a:bodyPr/>
                    <a:lstStyle/>
                    <a:p>
                      <a:r>
                        <a:rPr sz="1800">
                          <a:solidFill>
                            <a:srgbClr val="173E33"/>
                          </a:solidFill>
                          <a:latin typeface="Arial"/>
                          <a:ea typeface="Arial"/>
                          <a:cs typeface="Arial"/>
                        </a:rPr>
                        <a:t>1 passed</a:t>
                      </a:r>
                    </a:p>
                  </a:txBody>
                  <a:tcPr marL="133350" marR="133350" marT="76200" marB="66675" anchor="ctr">
                    <a:solidFill>
                      <a:srgbClr val="F7F5EF"/>
                    </a:solidFill>
                  </a:tcPr>
                </a:tc>
                <a:tc>
                  <a:txBody>
                    <a:bodyPr/>
                    <a:lstStyle/>
                    <a:p>
                      <a:r>
                        <a:rPr sz="1800">
                          <a:solidFill>
                            <a:srgbClr val="173E33"/>
                          </a:solidFill>
                          <a:latin typeface="Arial"/>
                          <a:ea typeface="Arial"/>
                          <a:cs typeface="Arial"/>
                        </a:rPr>
                        <a:t>Client used the live backend</a:t>
                      </a:r>
                    </a:p>
                  </a:txBody>
                  <a:tcPr marL="133350" marR="133350" marT="76200" marB="66675" anchor="ctr">
                    <a:solidFill>
                      <a:srgbClr val="F7F5EF"/>
                    </a:solidFill>
                  </a:tcPr>
                </a:tc>
              </a:tr>
              <a:tr h="560070">
                <a:tc>
                  <a:txBody>
                    <a:bodyPr/>
                    <a:lstStyle/>
                    <a:p>
                      <a:r>
                        <a:rPr sz="1800">
                          <a:solidFill>
                            <a:srgbClr val="173E33"/>
                          </a:solidFill>
                          <a:latin typeface="Arial"/>
                          <a:ea typeface="Arial"/>
                          <a:cs typeface="Arial"/>
                        </a:rPr>
                        <a:t>Browser run receipt</a:t>
                      </a:r>
                    </a:p>
                  </a:txBody>
                  <a:tcPr marL="133350" marR="133350" marT="76200" marB="66675" anchor="ctr">
                    <a:solidFill>
                      <a:srgbClr val="F7F5EF"/>
                    </a:solidFill>
                  </a:tcPr>
                </a:tc>
                <a:tc>
                  <a:txBody>
                    <a:bodyPr/>
                    <a:lstStyle/>
                    <a:p>
                      <a:r>
                        <a:rPr sz="1800">
                          <a:solidFill>
                            <a:srgbClr val="173E33"/>
                          </a:solidFill>
                          <a:latin typeface="Arial"/>
                          <a:ea typeface="Arial"/>
                          <a:cs typeface="Arial"/>
                        </a:rPr>
                        <a:t>Passed</a:t>
                      </a:r>
                    </a:p>
                  </a:txBody>
                  <a:tcPr marL="133350" marR="133350" marT="76200" marB="66675" anchor="ctr">
                    <a:solidFill>
                      <a:srgbClr val="F7F5EF"/>
                    </a:solidFill>
                  </a:tcPr>
                </a:tc>
                <a:tc>
                  <a:txBody>
                    <a:bodyPr/>
                    <a:lstStyle/>
                    <a:p>
                      <a:r>
                        <a:rPr sz="1800">
                          <a:solidFill>
                            <a:srgbClr val="173E33"/>
                          </a:solidFill>
                          <a:latin typeface="Arial"/>
                          <a:ea typeface="Arial"/>
                          <a:cs typeface="Arial"/>
                        </a:rPr>
                        <a:t>Website flow; count not claimed</a:t>
                      </a:r>
                    </a:p>
                  </a:txBody>
                  <a:tcPr marL="133350" marR="133350" marT="76200" marB="66675" anchor="ctr">
                    <a:solidFill>
                      <a:srgbClr val="F7F5EF"/>
                    </a:solidFill>
                  </a:tcPr>
                </a:tc>
              </a:tr>
            </a:tbl>
          </a:graphicData>
        </a:graphic>
      </p:graphicFrame>
      <p:sp>
        <p:nvSpPr>
          <p:cNvPr id="5" name="Saved run receipts from the review preparation. These c">
            <a:extLst xmlns:a="http://schemas.openxmlformats.org/drawingml/2006/main">
              <a:ext uri="{FF2B5EF4-FFF2-40B4-BE49-F238E27FC236}">
                <a16:creationId xmlns:a16="http://schemas.microsoft.com/office/drawing/2014/main" id="{C3A13DE3-07CD-41E0-8259-11895486D2F2}"/>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Saved run receipts from the review preparation. These counts are not classification accuracy.</a:t>
            </a:r>
          </a:p>
        </p:txBody>
      </p:sp>
    </p:spTree>
    <p:extLst>
      <p:ext uri="{BB962C8B-B14F-4D97-AF65-F5344CB8AC3E}">
        <p14:creationId xmlns:p14="http://schemas.microsoft.com/office/powerpoint/2010/main" val="1352967155"/>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B8CB20DF-7F2A-4412-87E4-359464DE8FEE}"/>
              </a:ext>
            </a:extLst>
          </p:cNvPr>
          <p:cNvCxnSpPr>
            <a:stCxn xmlns:a="http://schemas.openxmlformats.org/drawingml/2006/main" id="6" idx="3"/>
            <a:endCxn xmlns:a="http://schemas.openxmlformats.org/drawingml/2006/main" id="7" idx="1"/>
          </p:cNvCxnSpPr>
          <p:nvPr/>
        </p:nvCxnSpPr>
        <p:spPr>
          <a:xfrm xmlns:a="http://schemas.openxmlformats.org/drawingml/2006/main">
            <a:off x="7705725" y="4667250"/>
            <a:ext cx="619125"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8" name="">
            <a:extLst xmlns:a="http://schemas.openxmlformats.org/drawingml/2006/main">
              <a:ext uri="{FF2B5EF4-FFF2-40B4-BE49-F238E27FC236}">
                <a16:creationId xmlns:a16="http://schemas.microsoft.com/office/drawing/2014/main" id="{4B25D0E0-E7BC-4362-829D-3DC431724B6A}"/>
              </a:ext>
            </a:extLst>
          </p:cNvPr>
          <p:cNvCxnSpPr>
            <a:stCxn xmlns:a="http://schemas.openxmlformats.org/drawingml/2006/main" id="5" idx="3"/>
            <a:endCxn xmlns:a="http://schemas.openxmlformats.org/drawingml/2006/main" id="6" idx="1"/>
          </p:cNvCxnSpPr>
          <p:nvPr/>
        </p:nvCxnSpPr>
        <p:spPr>
          <a:xfrm xmlns:a="http://schemas.openxmlformats.org/drawingml/2006/main">
            <a:off x="3848100" y="4667250"/>
            <a:ext cx="619125" cy="0"/>
          </a:xfrm>
          <a:prstGeom xmlns:a="http://schemas.openxmlformats.org/drawingml/2006/main" prst="straightConnector1">
            <a:avLst/>
          </a:prstGeom>
          <a:ln xmlns:a="http://schemas.openxmlformats.org/drawingml/2006/main" w="19050">
            <a:solidFill>
              <a:srgbClr val="173E33"/>
            </a:solidFill>
            <a:tailEnd type="triangle" w="med" len="med"/>
          </a:ln>
        </p:spPr>
      </p:cxnSp>
      <p:sp>
        <p:nvSpPr>
          <p:cNvPr id="11" name="Results — original photos preserved">
            <a:extLst xmlns:a="http://schemas.openxmlformats.org/drawingml/2006/main">
              <a:ext uri="{FF2B5EF4-FFF2-40B4-BE49-F238E27FC236}">
                <a16:creationId xmlns:a16="http://schemas.microsoft.com/office/drawing/2014/main" id="{FE7A195C-B26E-49FC-A8C8-A5A9B6CB92B3}"/>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original photos preserved</a:t>
            </a:r>
          </a:p>
        </p:txBody>
      </p:sp>
      <p:sp>
        <p:nvSpPr>
          <p:cNvPr id="2" name="23">
            <a:extLst xmlns:a="http://schemas.openxmlformats.org/drawingml/2006/main">
              <a:ext uri="{FF2B5EF4-FFF2-40B4-BE49-F238E27FC236}">
                <a16:creationId xmlns:a16="http://schemas.microsoft.com/office/drawing/2014/main" id="{2E5B4224-1212-4AD5-80ED-E06DB2A66735}"/>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23</a:t>
            </a:r>
          </a:p>
        </p:txBody>
      </p:sp>
      <p:sp>
        <p:nvSpPr>
          <p:cNvPr id="3" name="15 / 15">
            <a:extLst xmlns:a="http://schemas.openxmlformats.org/drawingml/2006/main">
              <a:ext uri="{FF2B5EF4-FFF2-40B4-BE49-F238E27FC236}">
                <a16:creationId xmlns:a16="http://schemas.microsoft.com/office/drawing/2014/main" id="{A21C7FC6-F997-449D-8967-10EAB6A86DB0}"/>
              </a:ext>
            </a:extLst>
          </p:cNvPr>
          <p:cNvSpPr>
            <a:spLocks xmlns:a="http://schemas.openxmlformats.org/drawingml/2006/main" noGrp="1"/>
          </p:cNvSpPr>
          <p:nvPr/>
        </p:nvSpPr>
        <p:spPr>
          <a:xfrm xmlns:a="http://schemas.openxmlformats.org/drawingml/2006/main">
            <a:off x="609600" y="1533525"/>
            <a:ext cx="6667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450" b="1">
                <a:solidFill>
                  <a:srgbClr val="173E33"/>
                </a:solidFill>
                <a:latin typeface="Arial"/>
                <a:ea typeface="Arial"/>
                <a:cs typeface="Arial"/>
              </a:defRPr>
            </a:defPPr>
          </a:lstStyle>
          <a:p xmlns:a="http://schemas.openxmlformats.org/drawingml/2006/main">
            <a:pPr algn="l">
              <a:defRPr sz="6450" b="1">
                <a:solidFill>
                  <a:srgbClr val="173E33"/>
                </a:solidFill>
                <a:latin typeface="Arial"/>
                <a:ea typeface="Arial"/>
                <a:cs typeface="Arial"/>
              </a:defRPr>
            </a:pPr>
            <a:r>
              <a:rPr sz="6450" b="1">
                <a:solidFill>
                  <a:srgbClr val="173E33"/>
                </a:solidFill>
                <a:latin typeface="Arial"/>
                <a:ea typeface="Arial"/>
                <a:cs typeface="Arial"/>
              </a:rPr>
              <a:t>15 / 15</a:t>
            </a:r>
          </a:p>
        </p:txBody>
      </p:sp>
      <p:sp>
        <p:nvSpPr>
          <p:cNvPr id="4" name="Original files verified on phone and backend">
            <a:extLst xmlns:a="http://schemas.openxmlformats.org/drawingml/2006/main">
              <a:ext uri="{FF2B5EF4-FFF2-40B4-BE49-F238E27FC236}">
                <a16:creationId xmlns:a16="http://schemas.microsoft.com/office/drawing/2014/main" id="{755F205D-759A-4B57-9795-C68DF1CEECDD}"/>
              </a:ext>
            </a:extLst>
          </p:cNvPr>
          <p:cNvSpPr>
            <a:spLocks xmlns:a="http://schemas.openxmlformats.org/drawingml/2006/main" noGrp="1"/>
          </p:cNvSpPr>
          <p:nvPr/>
        </p:nvSpPr>
        <p:spPr>
          <a:xfrm xmlns:a="http://schemas.openxmlformats.org/drawingml/2006/main">
            <a:off x="609600" y="2809875"/>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550" b="1">
                <a:solidFill>
                  <a:srgbClr val="173E33"/>
                </a:solidFill>
                <a:latin typeface="Arial"/>
                <a:ea typeface="Arial"/>
                <a:cs typeface="Arial"/>
              </a:defRPr>
            </a:defPPr>
          </a:lstStyle>
          <a:p xmlns:a="http://schemas.openxmlformats.org/drawingml/2006/main">
            <a:pPr algn="l">
              <a:defRPr sz="2550" b="1">
                <a:solidFill>
                  <a:srgbClr val="173E33"/>
                </a:solidFill>
                <a:latin typeface="Arial"/>
                <a:ea typeface="Arial"/>
                <a:cs typeface="Arial"/>
              </a:defRPr>
            </a:pPr>
            <a:r>
              <a:rPr sz="2550" b="1">
                <a:solidFill>
                  <a:srgbClr val="173E33"/>
                </a:solidFill>
                <a:latin typeface="Arial"/>
                <a:ea typeface="Arial"/>
                <a:cs typeface="Arial"/>
              </a:rPr>
              <a:t>Original files verified on phone and backend</a:t>
            </a:r>
          </a:p>
        </p:txBody>
      </p:sp>
      <p:sp>
        <p:nvSpPr>
          <p:cNvPr id="5" name="Dataset originals">
            <a:extLst xmlns:a="http://schemas.openxmlformats.org/drawingml/2006/main">
              <a:ext uri="{FF2B5EF4-FFF2-40B4-BE49-F238E27FC236}">
                <a16:creationId xmlns:a16="http://schemas.microsoft.com/office/drawing/2014/main" id="{F96605FD-DEE6-4A07-9E1E-1C66160550D0}"/>
              </a:ext>
            </a:extLst>
          </p:cNvPr>
          <p:cNvSpPr>
            <a:spLocks xmlns:a="http://schemas.openxmlformats.org/drawingml/2006/main" noGrp="1"/>
          </p:cNvSpPr>
          <p:nvPr/>
        </p:nvSpPr>
        <p:spPr>
          <a:xfrm xmlns:a="http://schemas.openxmlformats.org/drawingml/2006/main">
            <a:off x="609600" y="4057650"/>
            <a:ext cx="3238500" cy="1219200"/>
          </a:xfrm>
          <a:prstGeom xmlns:a="http://schemas.openxmlformats.org/drawingml/2006/main" prst="roundRect">
            <a:avLst>
              <a:gd name="adj" fmla="val 937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Dataset originals</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Public source + file manifest</a:t>
            </a:r>
          </a:p>
        </p:txBody>
      </p:sp>
      <p:sp>
        <p:nvSpPr>
          <p:cNvPr id="6" name="Phone album">
            <a:extLst xmlns:a="http://schemas.openxmlformats.org/drawingml/2006/main">
              <a:ext uri="{FF2B5EF4-FFF2-40B4-BE49-F238E27FC236}">
                <a16:creationId xmlns:a16="http://schemas.microsoft.com/office/drawing/2014/main" id="{64948EFD-5D8C-4050-9547-3E68223A5862}"/>
              </a:ext>
            </a:extLst>
          </p:cNvPr>
          <p:cNvSpPr>
            <a:spLocks xmlns:a="http://schemas.openxmlformats.org/drawingml/2006/main" noGrp="1"/>
          </p:cNvSpPr>
          <p:nvPr/>
        </p:nvSpPr>
        <p:spPr>
          <a:xfrm xmlns:a="http://schemas.openxmlformats.org/drawingml/2006/main">
            <a:off x="4467225" y="4057650"/>
            <a:ext cx="3238500" cy="1219200"/>
          </a:xfrm>
          <a:prstGeom xmlns:a="http://schemas.openxmlformats.org/drawingml/2006/main" prst="roundRect">
            <a:avLst>
              <a:gd name="adj" fmla="val 937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Phone album</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Pictures/YieldnYarnReal</a:t>
            </a:r>
          </a:p>
        </p:txBody>
      </p:sp>
      <p:sp>
        <p:nvSpPr>
          <p:cNvPr id="7" name="Stored + served media">
            <a:extLst xmlns:a="http://schemas.openxmlformats.org/drawingml/2006/main">
              <a:ext uri="{FF2B5EF4-FFF2-40B4-BE49-F238E27FC236}">
                <a16:creationId xmlns:a16="http://schemas.microsoft.com/office/drawing/2014/main" id="{9B06C37A-978F-4950-998A-2770FCAA08AA}"/>
              </a:ext>
            </a:extLst>
          </p:cNvPr>
          <p:cNvSpPr>
            <a:spLocks xmlns:a="http://schemas.openxmlformats.org/drawingml/2006/main" noGrp="1"/>
          </p:cNvSpPr>
          <p:nvPr/>
        </p:nvSpPr>
        <p:spPr>
          <a:xfrm xmlns:a="http://schemas.openxmlformats.org/drawingml/2006/main">
            <a:off x="8324850" y="4057650"/>
            <a:ext cx="3238500" cy="1219200"/>
          </a:xfrm>
          <a:prstGeom xmlns:a="http://schemas.openxmlformats.org/drawingml/2006/main" prst="roundRect">
            <a:avLst>
              <a:gd name="adj" fmla="val 937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Stored + served media</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SHA-256 matches</a:t>
            </a:r>
          </a:p>
        </p:txBody>
      </p:sp>
      <p:sp>
        <p:nvSpPr>
          <p:cNvPr id="10" name="File integrity proves preservation of inputs; it does n">
            <a:extLst xmlns:a="http://schemas.openxmlformats.org/drawingml/2006/main">
              <a:ext uri="{FF2B5EF4-FFF2-40B4-BE49-F238E27FC236}">
                <a16:creationId xmlns:a16="http://schemas.microsoft.com/office/drawing/2014/main" id="{9E90A81A-2E49-442C-8199-1BB0ACE07DAC}"/>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File integrity proves preservation of inputs; it does not prove correct quality predictions.</a:t>
            </a:r>
          </a:p>
        </p:txBody>
      </p:sp>
    </p:spTree>
    <p:extLst>
      <p:ext uri="{BB962C8B-B14F-4D97-AF65-F5344CB8AC3E}">
        <p14:creationId xmlns:p14="http://schemas.microsoft.com/office/powerpoint/2010/main" val="934302072"/>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Results — real-world input rehearsal">
            <a:extLst xmlns:a="http://schemas.openxmlformats.org/drawingml/2006/main">
              <a:ext uri="{FF2B5EF4-FFF2-40B4-BE49-F238E27FC236}">
                <a16:creationId xmlns:a16="http://schemas.microsoft.com/office/drawing/2014/main" id="{D65AF0AD-A6CD-45B0-AF2C-47EE8F6D62E7}"/>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real-world input rehearsal</a:t>
            </a:r>
          </a:p>
        </p:txBody>
      </p:sp>
      <p:sp>
        <p:nvSpPr>
          <p:cNvPr id="2" name="24">
            <a:extLst xmlns:a="http://schemas.openxmlformats.org/drawingml/2006/main">
              <a:ext uri="{FF2B5EF4-FFF2-40B4-BE49-F238E27FC236}">
                <a16:creationId xmlns:a16="http://schemas.microsoft.com/office/drawing/2014/main" id="{C66A413B-3E09-4347-B473-5836F69690AA}"/>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24</a:t>
            </a:r>
          </a:p>
        </p:txBody>
      </p:sp>
      <p:pic>
        <p:nvPicPr>
          <p:cNvPr id="3" name="">
            <a:extLst xmlns:a="http://schemas.openxmlformats.org/drawingml/2006/main">
              <a:ext uri="{FF2B5EF4-FFF2-40B4-BE49-F238E27FC236}">
                <a16:creationId xmlns:a16="http://schemas.microsoft.com/office/drawing/2014/main" id="{FC72ED97-ECA7-4F92-902C-096A6D09B807}"/>
              </a:ext>
            </a:extLst>
          </p:cNvPr>
          <p:cNvPicPr>
            <a:picLocks xmlns:a="http://schemas.openxmlformats.org/drawingml/2006/main" noChangeAspect="1"/>
          </p:cNvPicPr>
          <p:nvPr/>
        </p:nvPicPr>
        <p:blipFill>
          <a:blip xmlns:r="http://schemas.openxmlformats.org/officeDocument/2006/relationships" xmlns:a="http://schemas.openxmlformats.org/drawingml/2006/main" r:embed="R7dd24ffda5184f5f"/>
          <a:stretch xmlns:a="http://schemas.openxmlformats.org/drawingml/2006/main"/>
        </p:blipFill>
        <p:spPr>
          <a:xfrm xmlns:a="http://schemas.openxmlformats.org/drawingml/2006/main">
            <a:off x="1014413" y="1714500"/>
            <a:ext cx="3286125" cy="328612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956276FB-0CD6-45A6-9098-7D221B2644D1}"/>
              </a:ext>
            </a:extLst>
          </p:cNvPr>
          <p:cNvPicPr>
            <a:picLocks xmlns:a="http://schemas.openxmlformats.org/drawingml/2006/main" noChangeAspect="1"/>
          </p:cNvPicPr>
          <p:nvPr/>
        </p:nvPicPr>
        <p:blipFill>
          <a:blip xmlns:r="http://schemas.openxmlformats.org/officeDocument/2006/relationships" xmlns:a="http://schemas.openxmlformats.org/drawingml/2006/main" r:embed="Rd599d51f73c94a63"/>
          <a:stretch xmlns:a="http://schemas.openxmlformats.org/drawingml/2006/main"/>
        </p:blipFill>
        <p:spPr>
          <a:xfrm xmlns:a="http://schemas.openxmlformats.org/drawingml/2006/main">
            <a:off x="5076825" y="1785938"/>
            <a:ext cx="3143250" cy="3143250"/>
          </a:xfrm>
          <a:prstGeom xmlns:a="http://schemas.openxmlformats.org/drawingml/2006/main" prst="rect">
            <a:avLst/>
          </a:prstGeom>
        </p:spPr>
      </p:pic>
      <p:sp>
        <p:nvSpPr>
          <p:cNvPr id="5" name="8 cases">
            <a:extLst xmlns:a="http://schemas.openxmlformats.org/drawingml/2006/main">
              <a:ext uri="{FF2B5EF4-FFF2-40B4-BE49-F238E27FC236}">
                <a16:creationId xmlns:a16="http://schemas.microsoft.com/office/drawing/2014/main" id="{E5F726DD-F683-4891-9867-DDE8323E68EE}"/>
              </a:ext>
            </a:extLst>
          </p:cNvPr>
          <p:cNvSpPr>
            <a:spLocks xmlns:a="http://schemas.openxmlformats.org/drawingml/2006/main" noGrp="1"/>
          </p:cNvSpPr>
          <p:nvPr/>
        </p:nvSpPr>
        <p:spPr>
          <a:xfrm xmlns:a="http://schemas.openxmlformats.org/drawingml/2006/main">
            <a:off x="8801100" y="17240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000" b="1">
                <a:solidFill>
                  <a:srgbClr val="173E33"/>
                </a:solidFill>
                <a:latin typeface="Arial"/>
                <a:ea typeface="Arial"/>
                <a:cs typeface="Arial"/>
              </a:defRPr>
            </a:defPPr>
          </a:lstStyle>
          <a:p xmlns:a="http://schemas.openxmlformats.org/drawingml/2006/main">
            <a:pPr algn="l">
              <a:defRPr sz="3000" b="1">
                <a:solidFill>
                  <a:srgbClr val="173E33"/>
                </a:solidFill>
                <a:latin typeface="Arial"/>
                <a:ea typeface="Arial"/>
                <a:cs typeface="Arial"/>
              </a:defRPr>
            </a:pPr>
            <a:r>
              <a:rPr sz="3000" b="1">
                <a:solidFill>
                  <a:srgbClr val="173E33"/>
                </a:solidFill>
                <a:latin typeface="Arial"/>
                <a:ea typeface="Arial"/>
                <a:cs typeface="Arial"/>
              </a:rPr>
              <a:t>8 cases</a:t>
            </a:r>
          </a:p>
        </p:txBody>
      </p:sp>
      <p:sp>
        <p:nvSpPr>
          <p:cNvPr id="6" name="3 wheat pairs&#10;4 fabric pairs&#10;1 source-overlap reference">
            <a:extLst xmlns:a="http://schemas.openxmlformats.org/drawingml/2006/main">
              <a:ext uri="{FF2B5EF4-FFF2-40B4-BE49-F238E27FC236}">
                <a16:creationId xmlns:a16="http://schemas.microsoft.com/office/drawing/2014/main" id="{ABDCF0CC-0258-4946-B6D9-DF8A47096353}"/>
              </a:ext>
            </a:extLst>
          </p:cNvPr>
          <p:cNvSpPr>
            <a:spLocks xmlns:a="http://schemas.openxmlformats.org/drawingml/2006/main" noGrp="1"/>
          </p:cNvSpPr>
          <p:nvPr/>
        </p:nvSpPr>
        <p:spPr>
          <a:xfrm xmlns:a="http://schemas.openxmlformats.org/drawingml/2006/main">
            <a:off x="8801100" y="2619375"/>
            <a:ext cx="27336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3 wheat pairs</a:t>
            </a:r>
          </a:p>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4 fabric pairs</a:t>
            </a:r>
          </a:p>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1 source-overlap reference</a:t>
            </a:r>
          </a:p>
        </p:txBody>
      </p:sp>
      <p:sp>
        <p:nvSpPr>
          <p:cNvPr id="7" name="Original dataset images. This is an integration rehears">
            <a:extLst xmlns:a="http://schemas.openxmlformats.org/drawingml/2006/main">
              <a:ext uri="{FF2B5EF4-FFF2-40B4-BE49-F238E27FC236}">
                <a16:creationId xmlns:a16="http://schemas.microsoft.com/office/drawing/2014/main" id="{88EBAEC2-4095-433E-A5D4-723D81E04F3C}"/>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Original dataset images. This is an integration rehearsal, not a representative model benchmark.</a:t>
            </a:r>
          </a:p>
        </p:txBody>
      </p:sp>
    </p:spTree>
    <p:extLst>
      <p:ext uri="{BB962C8B-B14F-4D97-AF65-F5344CB8AC3E}">
        <p14:creationId xmlns:p14="http://schemas.microsoft.com/office/powerpoint/2010/main" val="840841129"/>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Results — saved model validation">
            <a:extLst xmlns:a="http://schemas.openxmlformats.org/drawingml/2006/main">
              <a:ext uri="{FF2B5EF4-FFF2-40B4-BE49-F238E27FC236}">
                <a16:creationId xmlns:a16="http://schemas.microsoft.com/office/drawing/2014/main" id="{E8361BAC-93B9-4A30-AEBA-2C34ABE1C820}"/>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saved model validation</a:t>
            </a:r>
          </a:p>
        </p:txBody>
      </p:sp>
      <p:sp>
        <p:nvSpPr>
          <p:cNvPr id="2" name="25">
            <a:extLst xmlns:a="http://schemas.openxmlformats.org/drawingml/2006/main">
              <a:ext uri="{FF2B5EF4-FFF2-40B4-BE49-F238E27FC236}">
                <a16:creationId xmlns:a16="http://schemas.microsoft.com/office/drawing/2014/main" id="{C1869262-74C0-4692-8C44-60C957E12A8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25</a:t>
            </a:r>
          </a:p>
        </p:txBody>
      </p:sp>
      <p:graphicFrame>
        <p:nvGraphicFramePr>
          <p:cNvPr id="3" name="Chart">
            <a:extLst xmlns:a="http://schemas.openxmlformats.org/drawingml/2006/main">
              <a:ext uri="{FF2B5EF4-FFF2-40B4-BE49-F238E27FC236}">
                <a16:creationId xmlns:a16="http://schemas.microsoft.com/office/drawing/2014/main" id="{3F5C2E58-A610-4232-81C8-46069202DF6F}"/>
              </a:ext>
            </a:extLst>
          </p:cNvPr>
          <p:cNvGraphicFramePr/>
          <p:nvPr/>
        </p:nvGraphicFramePr>
        <p:xfrm>
          <a:off xmlns:a="http://schemas.openxmlformats.org/drawingml/2006/main" x="609600" y="1676400"/>
          <a:ext xmlns:a="http://schemas.openxmlformats.org/drawingml/2006/main" cx="6572250" cy="3781425"/>
        </p:xfrm>
        <a:graphic xmlns:a="http://schemas.openxmlformats.org/drawingml/2006/main">
          <a:graphicData uri="http://schemas.openxmlformats.org/drawingml/2006/chart">
            <c:chart xmlns:r="http://schemas.openxmlformats.org/officeDocument/2006/relationships" xmlns:c="http://schemas.openxmlformats.org/drawingml/2006/chart" r:id="R903b484ed19244f5"/>
          </a:graphicData>
        </a:graphic>
      </p:graphicFrame>
      <p:sp>
        <p:nvSpPr>
          <p:cNvPr id="4" name="57–58%">
            <a:extLst xmlns:a="http://schemas.openxmlformats.org/drawingml/2006/main">
              <a:ext uri="{FF2B5EF4-FFF2-40B4-BE49-F238E27FC236}">
                <a16:creationId xmlns:a16="http://schemas.microsoft.com/office/drawing/2014/main" id="{53EFCE9F-3C6F-4925-9490-4F303C50E1DF}"/>
              </a:ext>
            </a:extLst>
          </p:cNvPr>
          <p:cNvSpPr>
            <a:spLocks xmlns:a="http://schemas.openxmlformats.org/drawingml/2006/main" noGrp="1"/>
          </p:cNvSpPr>
          <p:nvPr/>
        </p:nvSpPr>
        <p:spPr>
          <a:xfrm xmlns:a="http://schemas.openxmlformats.org/drawingml/2006/main">
            <a:off x="7943850" y="1847850"/>
            <a:ext cx="3486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4050" b="1">
                <a:solidFill>
                  <a:srgbClr val="173E33"/>
                </a:solidFill>
                <a:latin typeface="Arial"/>
                <a:ea typeface="Arial"/>
                <a:cs typeface="Arial"/>
              </a:defRPr>
            </a:defPPr>
          </a:lstStyle>
          <a:p xmlns:a="http://schemas.openxmlformats.org/drawingml/2006/main">
            <a:pPr algn="l">
              <a:defRPr sz="4050" b="1">
                <a:solidFill>
                  <a:srgbClr val="173E33"/>
                </a:solidFill>
                <a:latin typeface="Arial"/>
                <a:ea typeface="Arial"/>
                <a:cs typeface="Arial"/>
              </a:defRPr>
            </a:pPr>
            <a:r>
              <a:rPr sz="4050" b="1">
                <a:solidFill>
                  <a:srgbClr val="173E33"/>
                </a:solidFill>
                <a:latin typeface="Arial"/>
                <a:ea typeface="Arial"/>
                <a:cs typeface="Arial"/>
              </a:rPr>
              <a:t>57–58%</a:t>
            </a:r>
          </a:p>
        </p:txBody>
      </p:sp>
      <p:sp>
        <p:nvSpPr>
          <p:cNvPr id="5" name="Balanced accuracy limits&#10;automatic confidence.">
            <a:extLst xmlns:a="http://schemas.openxmlformats.org/drawingml/2006/main">
              <a:ext uri="{FF2B5EF4-FFF2-40B4-BE49-F238E27FC236}">
                <a16:creationId xmlns:a16="http://schemas.microsoft.com/office/drawing/2014/main" id="{BF0C8A07-F476-4AD9-BBB8-7BADDC8E7BA0}"/>
              </a:ext>
            </a:extLst>
          </p:cNvPr>
          <p:cNvSpPr>
            <a:spLocks xmlns:a="http://schemas.openxmlformats.org/drawingml/2006/main" noGrp="1"/>
          </p:cNvSpPr>
          <p:nvPr/>
        </p:nvSpPr>
        <p:spPr>
          <a:xfrm xmlns:a="http://schemas.openxmlformats.org/drawingml/2006/main">
            <a:off x="7943850" y="2895600"/>
            <a:ext cx="35052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0">
                <a:solidFill>
                  <a:srgbClr val="51615B"/>
                </a:solidFill>
                <a:latin typeface="Arial"/>
                <a:ea typeface="Arial"/>
                <a:cs typeface="Arial"/>
              </a:defRPr>
            </a:defPPr>
          </a:lstStyle>
          <a:p xmlns:a="http://schemas.openxmlformats.org/drawingml/2006/main">
            <a:pPr algn="l">
              <a:defRPr sz="2250" b="0">
                <a:solidFill>
                  <a:srgbClr val="51615B"/>
                </a:solidFill>
                <a:latin typeface="Arial"/>
                <a:ea typeface="Arial"/>
                <a:cs typeface="Arial"/>
              </a:defRPr>
            </a:pPr>
            <a:r>
              <a:rPr sz="2250" b="0">
                <a:solidFill>
                  <a:srgbClr val="51615B"/>
                </a:solidFill>
                <a:latin typeface="Arial"/>
                <a:ea typeface="Arial"/>
                <a:cs typeface="Arial"/>
              </a:rPr>
              <a:t>Balanced accuracy limits</a:t>
            </a:r>
          </a:p>
          <a:p xmlns:a="http://schemas.openxmlformats.org/drawingml/2006/main">
            <a:pPr algn="l">
              <a:defRPr sz="2250" b="0">
                <a:solidFill>
                  <a:srgbClr val="51615B"/>
                </a:solidFill>
                <a:latin typeface="Arial"/>
                <a:ea typeface="Arial"/>
                <a:cs typeface="Arial"/>
              </a:defRPr>
            </a:pPr>
            <a:r>
              <a:rPr sz="2250" b="0">
                <a:solidFill>
                  <a:srgbClr val="51615B"/>
                </a:solidFill>
                <a:latin typeface="Arial"/>
                <a:ea typeface="Arial"/>
                <a:cs typeface="Arial"/>
              </a:rPr>
              <a:t>automatic confidence.</a:t>
            </a:r>
          </a:p>
        </p:txBody>
      </p:sp>
      <p:sp>
        <p:nvSpPr>
          <p:cNvPr id="6" name="These are saved validation results,&#10;not new independent">
            <a:extLst xmlns:a="http://schemas.openxmlformats.org/drawingml/2006/main">
              <a:ext uri="{FF2B5EF4-FFF2-40B4-BE49-F238E27FC236}">
                <a16:creationId xmlns:a16="http://schemas.microsoft.com/office/drawing/2014/main" id="{B0D8F797-EF66-49F7-8270-440DD41523FB}"/>
              </a:ext>
            </a:extLst>
          </p:cNvPr>
          <p:cNvSpPr>
            <a:spLocks xmlns:a="http://schemas.openxmlformats.org/drawingml/2006/main" noGrp="1"/>
          </p:cNvSpPr>
          <p:nvPr/>
        </p:nvSpPr>
        <p:spPr>
          <a:xfrm xmlns:a="http://schemas.openxmlformats.org/drawingml/2006/main">
            <a:off x="7943850" y="4495800"/>
            <a:ext cx="34861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1">
                <a:solidFill>
                  <a:srgbClr val="9B3C2E"/>
                </a:solidFill>
                <a:latin typeface="Arial"/>
                <a:ea typeface="Arial"/>
                <a:cs typeface="Arial"/>
              </a:defRPr>
            </a:defPPr>
          </a:lstStyle>
          <a:p xmlns:a="http://schemas.openxmlformats.org/drawingml/2006/main">
            <a:pPr algn="l">
              <a:defRPr sz="1950" b="1">
                <a:solidFill>
                  <a:srgbClr val="9B3C2E"/>
                </a:solidFill>
                <a:latin typeface="Arial"/>
                <a:ea typeface="Arial"/>
                <a:cs typeface="Arial"/>
              </a:defRPr>
            </a:pPr>
            <a:r>
              <a:rPr sz="1950" b="1">
                <a:solidFill>
                  <a:srgbClr val="9B3C2E"/>
                </a:solidFill>
                <a:latin typeface="Arial"/>
                <a:ea typeface="Arial"/>
                <a:cs typeface="Arial"/>
              </a:rPr>
              <a:t>These are saved validation results,</a:t>
            </a:r>
          </a:p>
          <a:p xmlns:a="http://schemas.openxmlformats.org/drawingml/2006/main">
            <a:pPr algn="l">
              <a:defRPr sz="1950" b="1">
                <a:solidFill>
                  <a:srgbClr val="9B3C2E"/>
                </a:solidFill>
                <a:latin typeface="Arial"/>
                <a:ea typeface="Arial"/>
                <a:cs typeface="Arial"/>
              </a:defRPr>
            </a:pPr>
            <a:r>
              <a:rPr sz="1950" b="1">
                <a:solidFill>
                  <a:srgbClr val="9B3C2E"/>
                </a:solidFill>
                <a:latin typeface="Arial"/>
                <a:ea typeface="Arial"/>
                <a:cs typeface="Arial"/>
              </a:rPr>
              <a:t>not new independent-photo accuracy.</a:t>
            </a:r>
          </a:p>
        </p:txBody>
      </p:sp>
      <p:sp>
        <p:nvSpPr>
          <p:cNvPr id="7" name="Metric: item balanced accuracy (%) from the existing mo">
            <a:extLst xmlns:a="http://schemas.openxmlformats.org/drawingml/2006/main">
              <a:ext uri="{FF2B5EF4-FFF2-40B4-BE49-F238E27FC236}">
                <a16:creationId xmlns:a16="http://schemas.microsoft.com/office/drawing/2014/main" id="{F33DDCC1-C7C1-419A-81C1-FD94C33DDF95}"/>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Metric: item balanced accuracy (%) from the existing model reports. Native chart data is editable.</a:t>
            </a:r>
          </a:p>
        </p:txBody>
      </p:sp>
    </p:spTree>
    <p:extLst>
      <p:ext uri="{BB962C8B-B14F-4D97-AF65-F5344CB8AC3E}">
        <p14:creationId xmlns:p14="http://schemas.microsoft.com/office/powerpoint/2010/main" val="983473533"/>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sults — precision does not equal recall">
            <a:extLst xmlns:a="http://schemas.openxmlformats.org/drawingml/2006/main">
              <a:ext uri="{FF2B5EF4-FFF2-40B4-BE49-F238E27FC236}">
                <a16:creationId xmlns:a16="http://schemas.microsoft.com/office/drawing/2014/main" id="{A16F5F3C-542E-4DAA-8E3B-215348F2EEF1}"/>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precision does not equal recall</a:t>
            </a:r>
          </a:p>
        </p:txBody>
      </p:sp>
      <p:sp>
        <p:nvSpPr>
          <p:cNvPr id="2" name="26">
            <a:extLst xmlns:a="http://schemas.openxmlformats.org/drawingml/2006/main">
              <a:ext uri="{FF2B5EF4-FFF2-40B4-BE49-F238E27FC236}">
                <a16:creationId xmlns:a16="http://schemas.microsoft.com/office/drawing/2014/main" id="{A417927C-0D9C-4D2E-A8F0-7DAED81CC211}"/>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26</a:t>
            </a:r>
          </a:p>
        </p:txBody>
      </p:sp>
      <p:graphicFrame>
        <p:nvGraphicFramePr>
          <p:cNvPr id="3" name="Chart">
            <a:extLst xmlns:a="http://schemas.openxmlformats.org/drawingml/2006/main">
              <a:ext uri="{FF2B5EF4-FFF2-40B4-BE49-F238E27FC236}">
                <a16:creationId xmlns:a16="http://schemas.microsoft.com/office/drawing/2014/main" id="{3396C2A6-5F48-47C9-9BDC-94C4D757CF80}"/>
              </a:ext>
            </a:extLst>
          </p:cNvPr>
          <p:cNvGraphicFramePr/>
          <p:nvPr/>
        </p:nvGraphicFramePr>
        <p:xfrm>
          <a:off xmlns:a="http://schemas.openxmlformats.org/drawingml/2006/main" x="609600" y="1666875"/>
          <a:ext xmlns:a="http://schemas.openxmlformats.org/drawingml/2006/main" cx="6991350" cy="3933825"/>
        </p:xfrm>
        <a:graphic xmlns:a="http://schemas.openxmlformats.org/drawingml/2006/main">
          <a:graphicData uri="http://schemas.openxmlformats.org/drawingml/2006/chart">
            <c:chart xmlns:r="http://schemas.openxmlformats.org/officeDocument/2006/relationships" xmlns:c="http://schemas.openxmlformats.org/drawingml/2006/chart" r:id="R5a00d4a8bc4d4ad3"/>
          </a:graphicData>
        </a:graphic>
      </p:graphicFrame>
      <p:sp>
        <p:nvSpPr>
          <p:cNvPr id="4" name="Missed defects remain&#10;a major limitation.">
            <a:extLst xmlns:a="http://schemas.openxmlformats.org/drawingml/2006/main">
              <a:ext uri="{FF2B5EF4-FFF2-40B4-BE49-F238E27FC236}">
                <a16:creationId xmlns:a16="http://schemas.microsoft.com/office/drawing/2014/main" id="{BA666374-9DD8-4CAD-80C9-E3483B7ECC52}"/>
              </a:ext>
            </a:extLst>
          </p:cNvPr>
          <p:cNvSpPr>
            <a:spLocks xmlns:a="http://schemas.openxmlformats.org/drawingml/2006/main" noGrp="1"/>
          </p:cNvSpPr>
          <p:nvPr/>
        </p:nvSpPr>
        <p:spPr>
          <a:xfrm xmlns:a="http://schemas.openxmlformats.org/drawingml/2006/main">
            <a:off x="8191500" y="2143125"/>
            <a:ext cx="32575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700" b="1">
                <a:solidFill>
                  <a:srgbClr val="173E33"/>
                </a:solidFill>
                <a:latin typeface="Arial"/>
                <a:ea typeface="Arial"/>
                <a:cs typeface="Arial"/>
              </a:defRPr>
            </a:defPPr>
          </a:lstStyle>
          <a:p xmlns:a="http://schemas.openxmlformats.org/drawingml/2006/main">
            <a:pPr algn="l">
              <a:defRPr sz="2700" b="1">
                <a:solidFill>
                  <a:srgbClr val="173E33"/>
                </a:solidFill>
                <a:latin typeface="Arial"/>
                <a:ea typeface="Arial"/>
                <a:cs typeface="Arial"/>
              </a:defRPr>
            </a:pPr>
            <a:r>
              <a:rPr sz="2700" b="1">
                <a:solidFill>
                  <a:srgbClr val="173E33"/>
                </a:solidFill>
                <a:latin typeface="Arial"/>
                <a:ea typeface="Arial"/>
                <a:cs typeface="Arial"/>
              </a:rPr>
              <a:t>Missed defects remain</a:t>
            </a:r>
          </a:p>
          <a:p xmlns:a="http://schemas.openxmlformats.org/drawingml/2006/main">
            <a:pPr algn="l">
              <a:defRPr sz="2700" b="1">
                <a:solidFill>
                  <a:srgbClr val="173E33"/>
                </a:solidFill>
                <a:latin typeface="Arial"/>
                <a:ea typeface="Arial"/>
                <a:cs typeface="Arial"/>
              </a:defRPr>
            </a:pPr>
            <a:r>
              <a:rPr sz="2700" b="1">
                <a:solidFill>
                  <a:srgbClr val="173E33"/>
                </a:solidFill>
                <a:latin typeface="Arial"/>
                <a:ea typeface="Arial"/>
                <a:cs typeface="Arial"/>
              </a:rPr>
              <a:t>a major limitation.</a:t>
            </a:r>
          </a:p>
        </p:txBody>
      </p:sp>
      <p:sp>
        <p:nvSpPr>
          <p:cNvPr id="5" name="Photo-level flagging and&#10;patch-level recall measure&#10;dif">
            <a:extLst xmlns:a="http://schemas.openxmlformats.org/drawingml/2006/main">
              <a:ext uri="{FF2B5EF4-FFF2-40B4-BE49-F238E27FC236}">
                <a16:creationId xmlns:a16="http://schemas.microsoft.com/office/drawing/2014/main" id="{1A135E45-94B4-4211-84BF-AD68A884A7F3}"/>
              </a:ext>
            </a:extLst>
          </p:cNvPr>
          <p:cNvSpPr>
            <a:spLocks xmlns:a="http://schemas.openxmlformats.org/drawingml/2006/main" noGrp="1"/>
          </p:cNvSpPr>
          <p:nvPr/>
        </p:nvSpPr>
        <p:spPr>
          <a:xfrm xmlns:a="http://schemas.openxmlformats.org/drawingml/2006/main">
            <a:off x="8191500" y="3905250"/>
            <a:ext cx="32956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0">
                <a:solidFill>
                  <a:srgbClr val="51615B"/>
                </a:solidFill>
                <a:latin typeface="Arial"/>
                <a:ea typeface="Arial"/>
                <a:cs typeface="Arial"/>
              </a:defRPr>
            </a:defPPr>
          </a:lstStyle>
          <a:p xmlns:a="http://schemas.openxmlformats.org/drawingml/2006/main">
            <a:pPr algn="l">
              <a:defRPr sz="2175" b="0">
                <a:solidFill>
                  <a:srgbClr val="51615B"/>
                </a:solidFill>
                <a:latin typeface="Arial"/>
                <a:ea typeface="Arial"/>
                <a:cs typeface="Arial"/>
              </a:defRPr>
            </a:pPr>
            <a:r>
              <a:rPr sz="2175" b="0">
                <a:solidFill>
                  <a:srgbClr val="51615B"/>
                </a:solidFill>
                <a:latin typeface="Arial"/>
                <a:ea typeface="Arial"/>
                <a:cs typeface="Arial"/>
              </a:rPr>
              <a:t>Photo-level flagging and</a:t>
            </a:r>
          </a:p>
          <a:p xmlns:a="http://schemas.openxmlformats.org/drawingml/2006/main">
            <a:pPr algn="l">
              <a:defRPr sz="2175" b="0">
                <a:solidFill>
                  <a:srgbClr val="51615B"/>
                </a:solidFill>
                <a:latin typeface="Arial"/>
                <a:ea typeface="Arial"/>
                <a:cs typeface="Arial"/>
              </a:defRPr>
            </a:pPr>
            <a:r>
              <a:rPr sz="2175" b="0">
                <a:solidFill>
                  <a:srgbClr val="51615B"/>
                </a:solidFill>
                <a:latin typeface="Arial"/>
                <a:ea typeface="Arial"/>
                <a:cs typeface="Arial"/>
              </a:rPr>
              <a:t>patch-level recall measure</a:t>
            </a:r>
          </a:p>
          <a:p xmlns:a="http://schemas.openxmlformats.org/drawingml/2006/main">
            <a:pPr algn="l">
              <a:defRPr sz="2175" b="0">
                <a:solidFill>
                  <a:srgbClr val="51615B"/>
                </a:solidFill>
                <a:latin typeface="Arial"/>
                <a:ea typeface="Arial"/>
                <a:cs typeface="Arial"/>
              </a:defRPr>
            </a:pPr>
            <a:r>
              <a:rPr sz="2175" b="0">
                <a:solidFill>
                  <a:srgbClr val="51615B"/>
                </a:solidFill>
                <a:latin typeface="Arial"/>
                <a:ea typeface="Arial"/>
                <a:cs typeface="Arial"/>
              </a:rPr>
              <a:t>different things.</a:t>
            </a:r>
          </a:p>
        </p:txBody>
      </p:sp>
      <p:sp>
        <p:nvSpPr>
          <p:cNvPr id="6" name="Saved held-out fabric report. 100% photo flagging in th">
            <a:extLst xmlns:a="http://schemas.openxmlformats.org/drawingml/2006/main">
              <a:ext uri="{FF2B5EF4-FFF2-40B4-BE49-F238E27FC236}">
                <a16:creationId xmlns:a16="http://schemas.microsoft.com/office/drawing/2014/main" id="{6EA748D5-443A-47CD-84FD-6B449CA27D4C}"/>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Saved held-out fabric report. 100% photo flagging in that set is not general accuracy.</a:t>
            </a:r>
          </a:p>
        </p:txBody>
      </p:sp>
    </p:spTree>
    <p:extLst>
      <p:ext uri="{BB962C8B-B14F-4D97-AF65-F5344CB8AC3E}">
        <p14:creationId xmlns:p14="http://schemas.microsoft.com/office/powerpoint/2010/main" val="699839554"/>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sults — wheat exposes a failure case">
            <a:extLst xmlns:a="http://schemas.openxmlformats.org/drawingml/2006/main">
              <a:ext uri="{FF2B5EF4-FFF2-40B4-BE49-F238E27FC236}">
                <a16:creationId xmlns:a16="http://schemas.microsoft.com/office/drawing/2014/main" id="{FD9E9F95-24E3-4E84-8658-D8B64EB80334}"/>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wheat exposes a failure case</a:t>
            </a:r>
          </a:p>
        </p:txBody>
      </p:sp>
      <p:sp>
        <p:nvSpPr>
          <p:cNvPr id="2" name="27">
            <a:extLst xmlns:a="http://schemas.openxmlformats.org/drawingml/2006/main">
              <a:ext uri="{FF2B5EF4-FFF2-40B4-BE49-F238E27FC236}">
                <a16:creationId xmlns:a16="http://schemas.microsoft.com/office/drawing/2014/main" id="{3A3D4EFC-7F79-442A-8B1C-92A61C3AAD59}"/>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15F78C3A-0E18-4D92-A1F3-8572E52704ED}"/>
              </a:ext>
            </a:extLst>
          </p:cNvPr>
          <p:cNvPicPr>
            <a:picLocks xmlns:a="http://schemas.openxmlformats.org/drawingml/2006/main" noChangeAspect="1"/>
          </p:cNvPicPr>
          <p:nvPr/>
        </p:nvPicPr>
        <p:blipFill>
          <a:blip xmlns:r="http://schemas.openxmlformats.org/officeDocument/2006/relationships" xmlns:a="http://schemas.openxmlformats.org/drawingml/2006/main" r:embed="R7b22d50fff904348"/>
          <a:stretch xmlns:a="http://schemas.openxmlformats.org/drawingml/2006/main"/>
        </p:blipFill>
        <p:spPr>
          <a:xfrm xmlns:a="http://schemas.openxmlformats.org/drawingml/2006/main">
            <a:off x="866775" y="1524000"/>
            <a:ext cx="4295775" cy="4295775"/>
          </a:xfrm>
          <a:prstGeom xmlns:a="http://schemas.openxmlformats.org/drawingml/2006/main" prst="rect">
            <a:avLst/>
          </a:prstGeom>
        </p:spPr>
      </p:pic>
      <p:sp>
        <p:nvSpPr>
          <p:cNvPr id="4" name="Automatic output: Grade C">
            <a:extLst xmlns:a="http://schemas.openxmlformats.org/drawingml/2006/main">
              <a:ext uri="{FF2B5EF4-FFF2-40B4-BE49-F238E27FC236}">
                <a16:creationId xmlns:a16="http://schemas.microsoft.com/office/drawing/2014/main" id="{7DF9830F-7595-476B-898C-1483276BC6D4}"/>
              </a:ext>
            </a:extLst>
          </p:cNvPr>
          <p:cNvSpPr>
            <a:spLocks xmlns:a="http://schemas.openxmlformats.org/drawingml/2006/main" noGrp="1"/>
          </p:cNvSpPr>
          <p:nvPr/>
        </p:nvSpPr>
        <p:spPr>
          <a:xfrm xmlns:a="http://schemas.openxmlformats.org/drawingml/2006/main">
            <a:off x="6067425" y="1571625"/>
            <a:ext cx="54197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400" b="1">
                <a:solidFill>
                  <a:srgbClr val="173E33"/>
                </a:solidFill>
                <a:latin typeface="Arial"/>
                <a:ea typeface="Arial"/>
                <a:cs typeface="Arial"/>
              </a:defRPr>
            </a:defPPr>
          </a:lstStyle>
          <a:p xmlns:a="http://schemas.openxmlformats.org/drawingml/2006/main">
            <a:pPr algn="l">
              <a:defRPr sz="2400" b="1">
                <a:solidFill>
                  <a:srgbClr val="173E33"/>
                </a:solidFill>
                <a:latin typeface="Arial"/>
                <a:ea typeface="Arial"/>
                <a:cs typeface="Arial"/>
              </a:defRPr>
            </a:pPr>
            <a:r>
              <a:rPr sz="2400" b="1">
                <a:solidFill>
                  <a:srgbClr val="173E33"/>
                </a:solidFill>
                <a:latin typeface="Arial"/>
                <a:ea typeface="Arial"/>
                <a:cs typeface="Arial"/>
              </a:rPr>
              <a:t>Automatic output: Grade C</a:t>
            </a:r>
          </a:p>
        </p:txBody>
      </p:sp>
      <p:graphicFrame>
        <p:nvGraphicFramePr>
          <p:cNvPr id="5" name="">
            <a:extLst xmlns:a="http://schemas.openxmlformats.org/drawingml/2006/main">
              <a:ext uri="{FF2B5EF4-FFF2-40B4-BE49-F238E27FC236}">
                <a16:creationId xmlns:a16="http://schemas.microsoft.com/office/drawing/2014/main" id="{67A6C545-BC97-47C5-915E-BE11D230311E}"/>
              </a:ext>
            </a:extLst>
          </p:cNvPr>
          <p:cNvGraphicFramePr/>
          <p:nvPr/>
        </p:nvGraphicFramePr>
        <p:xfrm>
          <a:off xmlns:a="http://schemas.openxmlformats.org/drawingml/2006/main" x="6067425" y="2476500"/>
          <a:ext xmlns:a="http://schemas.openxmlformats.org/drawingml/2006/main" cx="5419725" cy="2790825"/>
        </p:xfrm>
        <a:graphic xmlns:a="http://schemas.openxmlformats.org/drawingml/2006/main">
          <a:graphicData uri="http://schemas.openxmlformats.org/drawingml/2006/table">
            <a:tbl>
              <a:tblPr/>
              <a:tblGrid>
                <a:gridCol w="3143250"/>
                <a:gridCol w="2276475"/>
              </a:tblGrid>
              <a:tr h="558165">
                <a:tc>
                  <a:txBody>
                    <a:bodyPr/>
                    <a:lstStyle/>
                    <a:p>
                      <a:r>
                        <a:rPr sz="1875" b="1">
                          <a:solidFill>
                            <a:srgbClr val="F7F5EF"/>
                          </a:solidFill>
                          <a:latin typeface="Arial"/>
                          <a:ea typeface="Arial"/>
                          <a:cs typeface="Arial"/>
                        </a:rPr>
                        <a:t>Quality measure</a:t>
                      </a:r>
                    </a:p>
                  </a:txBody>
                  <a:tcPr marL="133350" marR="133350" marT="76200" marB="66675" anchor="ctr">
                    <a:solidFill>
                      <a:srgbClr val="173E33"/>
                    </a:solidFill>
                  </a:tcPr>
                </a:tc>
                <a:tc>
                  <a:txBody>
                    <a:bodyPr/>
                    <a:lstStyle/>
                    <a:p>
                      <a:r>
                        <a:rPr sz="1875" b="1">
                          <a:solidFill>
                            <a:srgbClr val="F7F5EF"/>
                          </a:solidFill>
                          <a:latin typeface="Arial"/>
                          <a:ea typeface="Arial"/>
                          <a:cs typeface="Arial"/>
                        </a:rPr>
                        <a:t>Model score</a:t>
                      </a:r>
                    </a:p>
                  </a:txBody>
                  <a:tcPr marL="133350" marR="133350" marT="76200" marB="66675" anchor="ctr">
                    <a:solidFill>
                      <a:srgbClr val="173E33"/>
                    </a:solidFill>
                  </a:tcPr>
                </a:tc>
              </a:tr>
              <a:tr h="558165">
                <a:tc>
                  <a:txBody>
                    <a:bodyPr/>
                    <a:lstStyle/>
                    <a:p>
                      <a:r>
                        <a:rPr sz="1875">
                          <a:solidFill>
                            <a:srgbClr val="173E33"/>
                          </a:solidFill>
                          <a:latin typeface="Arial"/>
                          <a:ea typeface="Arial"/>
                          <a:cs typeface="Arial"/>
                        </a:rPr>
                        <a:t>Cleanliness</a:t>
                      </a:r>
                    </a:p>
                  </a:txBody>
                  <a:tcPr marL="133350" marR="133350" marT="76200" marB="66675" anchor="ctr">
                    <a:solidFill>
                      <a:srgbClr val="F7F5EF"/>
                    </a:solidFill>
                  </a:tcPr>
                </a:tc>
                <a:tc>
                  <a:txBody>
                    <a:bodyPr/>
                    <a:lstStyle/>
                    <a:p>
                      <a:r>
                        <a:rPr sz="1875">
                          <a:solidFill>
                            <a:srgbClr val="173E33"/>
                          </a:solidFill>
                          <a:latin typeface="Arial"/>
                          <a:ea typeface="Arial"/>
                          <a:cs typeface="Arial"/>
                        </a:rPr>
                        <a:t>0%</a:t>
                      </a:r>
                    </a:p>
                  </a:txBody>
                  <a:tcPr marL="133350" marR="133350" marT="76200" marB="66675" anchor="ctr">
                    <a:solidFill>
                      <a:srgbClr val="F7F5EF"/>
                    </a:solidFill>
                  </a:tcPr>
                </a:tc>
              </a:tr>
              <a:tr h="558165">
                <a:tc>
                  <a:txBody>
                    <a:bodyPr/>
                    <a:lstStyle/>
                    <a:p>
                      <a:r>
                        <a:rPr sz="1875">
                          <a:solidFill>
                            <a:srgbClr val="173E33"/>
                          </a:solidFill>
                          <a:latin typeface="Arial"/>
                          <a:ea typeface="Arial"/>
                          <a:cs typeface="Arial"/>
                        </a:rPr>
                        <a:t>Whole-grain quality</a:t>
                      </a:r>
                    </a:p>
                  </a:txBody>
                  <a:tcPr marL="133350" marR="133350" marT="76200" marB="66675" anchor="ctr">
                    <a:solidFill>
                      <a:srgbClr val="F7F5EF"/>
                    </a:solidFill>
                  </a:tcPr>
                </a:tc>
                <a:tc>
                  <a:txBody>
                    <a:bodyPr/>
                    <a:lstStyle/>
                    <a:p>
                      <a:r>
                        <a:rPr sz="1875">
                          <a:solidFill>
                            <a:srgbClr val="173E33"/>
                          </a:solidFill>
                          <a:latin typeface="Arial"/>
                          <a:ea typeface="Arial"/>
                          <a:cs typeface="Arial"/>
                        </a:rPr>
                        <a:t>97.5%</a:t>
                      </a:r>
                    </a:p>
                  </a:txBody>
                  <a:tcPr marL="133350" marR="133350" marT="76200" marB="66675" anchor="ctr">
                    <a:solidFill>
                      <a:srgbClr val="F7F5EF"/>
                    </a:solidFill>
                  </a:tcPr>
                </a:tc>
              </a:tr>
              <a:tr h="558165">
                <a:tc>
                  <a:txBody>
                    <a:bodyPr/>
                    <a:lstStyle/>
                    <a:p>
                      <a:r>
                        <a:rPr sz="1875">
                          <a:solidFill>
                            <a:srgbClr val="173E33"/>
                          </a:solidFill>
                          <a:latin typeface="Arial"/>
                          <a:ea typeface="Arial"/>
                          <a:cs typeface="Arial"/>
                        </a:rPr>
                        <a:t>Weighted quality</a:t>
                      </a:r>
                    </a:p>
                  </a:txBody>
                  <a:tcPr marL="133350" marR="133350" marT="76200" marB="66675" anchor="ctr">
                    <a:solidFill>
                      <a:srgbClr val="F7F5EF"/>
                    </a:solidFill>
                  </a:tcPr>
                </a:tc>
                <a:tc>
                  <a:txBody>
                    <a:bodyPr/>
                    <a:lstStyle/>
                    <a:p>
                      <a:r>
                        <a:rPr sz="1875">
                          <a:solidFill>
                            <a:srgbClr val="173E33"/>
                          </a:solidFill>
                          <a:latin typeface="Arial"/>
                          <a:ea typeface="Arial"/>
                          <a:cs typeface="Arial"/>
                        </a:rPr>
                        <a:t>48.75%</a:t>
                      </a:r>
                    </a:p>
                  </a:txBody>
                  <a:tcPr marL="133350" marR="133350" marT="76200" marB="66675" anchor="ctr">
                    <a:solidFill>
                      <a:srgbClr val="F7F5EF"/>
                    </a:solidFill>
                  </a:tcPr>
                </a:tc>
              </a:tr>
              <a:tr h="558165">
                <a:tc>
                  <a:txBody>
                    <a:bodyPr/>
                    <a:lstStyle/>
                    <a:p>
                      <a:r>
                        <a:rPr sz="1875">
                          <a:solidFill>
                            <a:srgbClr val="173E33"/>
                          </a:solidFill>
                          <a:latin typeface="Arial"/>
                          <a:ea typeface="Arial"/>
                          <a:cs typeface="Arial"/>
                        </a:rPr>
                        <a:t>Confidence</a:t>
                      </a:r>
                    </a:p>
                  </a:txBody>
                  <a:tcPr marL="133350" marR="133350" marT="76200" marB="66675" anchor="ctr">
                    <a:solidFill>
                      <a:srgbClr val="F7F5EF"/>
                    </a:solidFill>
                  </a:tcPr>
                </a:tc>
                <a:tc>
                  <a:txBody>
                    <a:bodyPr/>
                    <a:lstStyle/>
                    <a:p>
                      <a:r>
                        <a:rPr sz="1875">
                          <a:solidFill>
                            <a:srgbClr val="173E33"/>
                          </a:solidFill>
                          <a:latin typeface="Arial"/>
                          <a:ea typeface="Arial"/>
                          <a:cs typeface="Arial"/>
                        </a:rPr>
                        <a:t>57.92% → review</a:t>
                      </a:r>
                    </a:p>
                  </a:txBody>
                  <a:tcPr marL="133350" marR="133350" marT="76200" marB="66675" anchor="ctr">
                    <a:solidFill>
                      <a:srgbClr val="F7F5EF"/>
                    </a:solidFill>
                  </a:tcPr>
                </a:tc>
              </a:tr>
            </a:tbl>
          </a:graphicData>
        </a:graphic>
      </p:graphicFrame>
      <p:sp>
        <p:nvSpPr>
          <p:cNvPr id="6" name="Source-A response: 48.9% predicted foreign share. This ">
            <a:extLst xmlns:a="http://schemas.openxmlformats.org/drawingml/2006/main">
              <a:ext uri="{FF2B5EF4-FFF2-40B4-BE49-F238E27FC236}">
                <a16:creationId xmlns:a16="http://schemas.microsoft.com/office/drawing/2014/main" id="{F3F94A2F-E85D-4E12-A18E-4D32CA9F78B0}"/>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Source-A response: 48.9% predicted foreign share. This is an observed mismatch, not a laboratory measurement.</a:t>
            </a:r>
          </a:p>
        </p:txBody>
      </p:sp>
    </p:spTree>
    <p:extLst>
      <p:ext uri="{BB962C8B-B14F-4D97-AF65-F5344CB8AC3E}">
        <p14:creationId xmlns:p14="http://schemas.microsoft.com/office/powerpoint/2010/main" val="522296599"/>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Results — fabric predictions vary">
            <a:extLst xmlns:a="http://schemas.openxmlformats.org/drawingml/2006/main">
              <a:ext uri="{FF2B5EF4-FFF2-40B4-BE49-F238E27FC236}">
                <a16:creationId xmlns:a16="http://schemas.microsoft.com/office/drawing/2014/main" id="{0AF3B56E-5057-4A54-B86B-6E9E9DCD116A}"/>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fabric predictions vary</a:t>
            </a:r>
          </a:p>
        </p:txBody>
      </p:sp>
      <p:sp>
        <p:nvSpPr>
          <p:cNvPr id="2" name="28">
            <a:extLst xmlns:a="http://schemas.openxmlformats.org/drawingml/2006/main">
              <a:ext uri="{FF2B5EF4-FFF2-40B4-BE49-F238E27FC236}">
                <a16:creationId xmlns:a16="http://schemas.microsoft.com/office/drawing/2014/main" id="{BA05F0B7-FB95-4D9F-8EDD-BE54A09C914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28</a:t>
            </a:r>
          </a:p>
        </p:txBody>
      </p:sp>
      <p:pic>
        <p:nvPicPr>
          <p:cNvPr id="3" name="">
            <a:extLst xmlns:a="http://schemas.openxmlformats.org/drawingml/2006/main">
              <a:ext uri="{FF2B5EF4-FFF2-40B4-BE49-F238E27FC236}">
                <a16:creationId xmlns:a16="http://schemas.microsoft.com/office/drawing/2014/main" id="{345C6BED-0B3A-4965-B3C7-98364D7EDB15}"/>
              </a:ext>
            </a:extLst>
          </p:cNvPr>
          <p:cNvPicPr>
            <a:picLocks xmlns:a="http://schemas.openxmlformats.org/drawingml/2006/main" noChangeAspect="1"/>
          </p:cNvPicPr>
          <p:nvPr/>
        </p:nvPicPr>
        <p:blipFill>
          <a:blip xmlns:r="http://schemas.openxmlformats.org/officeDocument/2006/relationships" xmlns:a="http://schemas.openxmlformats.org/drawingml/2006/main" r:embed="Ra8cccf73c0cd4cce"/>
          <a:stretch xmlns:a="http://schemas.openxmlformats.org/drawingml/2006/main"/>
        </p:blipFill>
        <p:spPr>
          <a:xfrm xmlns:a="http://schemas.openxmlformats.org/drawingml/2006/main">
            <a:off x="1409700" y="1609725"/>
            <a:ext cx="3095625" cy="309562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9F25CB5-DDD3-468E-B43E-1F617B1D7098}"/>
              </a:ext>
            </a:extLst>
          </p:cNvPr>
          <p:cNvPicPr>
            <a:picLocks xmlns:a="http://schemas.openxmlformats.org/drawingml/2006/main" noChangeAspect="1"/>
          </p:cNvPicPr>
          <p:nvPr/>
        </p:nvPicPr>
        <p:blipFill>
          <a:blip xmlns:r="http://schemas.openxmlformats.org/officeDocument/2006/relationships" xmlns:a="http://schemas.openxmlformats.org/drawingml/2006/main" r:embed="Raf7859dda9ff4466"/>
          <a:stretch xmlns:a="http://schemas.openxmlformats.org/drawingml/2006/main"/>
        </p:blipFill>
        <p:spPr>
          <a:xfrm xmlns:a="http://schemas.openxmlformats.org/drawingml/2006/main">
            <a:off x="7248525" y="1609725"/>
            <a:ext cx="3095625" cy="3095625"/>
          </a:xfrm>
          <a:prstGeom xmlns:a="http://schemas.openxmlformats.org/drawingml/2006/main" prst="rect">
            <a:avLst/>
          </a:prstGeom>
        </p:spPr>
      </p:pic>
      <p:sp>
        <p:nvSpPr>
          <p:cNvPr id="5" name="Hole: 6.2% bad patches&#10;57.5% quality · Grade C">
            <a:extLst xmlns:a="http://schemas.openxmlformats.org/drawingml/2006/main">
              <a:ext uri="{FF2B5EF4-FFF2-40B4-BE49-F238E27FC236}">
                <a16:creationId xmlns:a16="http://schemas.microsoft.com/office/drawing/2014/main" id="{AFFC8010-AB70-4F9E-B9B2-C869D68B959F}"/>
              </a:ext>
            </a:extLst>
          </p:cNvPr>
          <p:cNvSpPr>
            <a:spLocks xmlns:a="http://schemas.openxmlformats.org/drawingml/2006/main" noGrp="1"/>
          </p:cNvSpPr>
          <p:nvPr/>
        </p:nvSpPr>
        <p:spPr>
          <a:xfrm xmlns:a="http://schemas.openxmlformats.org/drawingml/2006/main">
            <a:off x="609600" y="50006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Hole: 6.2% bad patches</a:t>
            </a:r>
          </a:p>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57.5% quality · Grade C</a:t>
            </a:r>
          </a:p>
        </p:txBody>
      </p:sp>
      <p:sp>
        <p:nvSpPr>
          <p:cNvPr id="6" name="Oil: 14.9% bad patches&#10;0% quality · Grade C">
            <a:extLst xmlns:a="http://schemas.openxmlformats.org/drawingml/2006/main">
              <a:ext uri="{FF2B5EF4-FFF2-40B4-BE49-F238E27FC236}">
                <a16:creationId xmlns:a16="http://schemas.microsoft.com/office/drawing/2014/main" id="{AE680F56-B0B0-4662-BDAE-D58B6802760E}"/>
              </a:ext>
            </a:extLst>
          </p:cNvPr>
          <p:cNvSpPr>
            <a:spLocks xmlns:a="http://schemas.openxmlformats.org/drawingml/2006/main" noGrp="1"/>
          </p:cNvSpPr>
          <p:nvPr/>
        </p:nvSpPr>
        <p:spPr>
          <a:xfrm xmlns:a="http://schemas.openxmlformats.org/drawingml/2006/main">
            <a:off x="6448425" y="50006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Oil: 14.9% bad patches</a:t>
            </a:r>
          </a:p>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0% quality · Grade C</a:t>
            </a:r>
          </a:p>
        </p:txBody>
      </p:sp>
      <p:sp>
        <p:nvSpPr>
          <p:cNvPr id="7" name="Both require a human decision. The predicted patch shar">
            <a:extLst xmlns:a="http://schemas.openxmlformats.org/drawingml/2006/main">
              <a:ext uri="{FF2B5EF4-FFF2-40B4-BE49-F238E27FC236}">
                <a16:creationId xmlns:a16="http://schemas.microsoft.com/office/drawing/2014/main" id="{69D46993-E8D5-4901-8E39-13AD302CAE6D}"/>
              </a:ext>
            </a:extLst>
          </p:cNvPr>
          <p:cNvSpPr>
            <a:spLocks xmlns:a="http://schemas.openxmlformats.org/drawingml/2006/main" noGrp="1"/>
          </p:cNvSpPr>
          <p:nvPr/>
        </p:nvSpPr>
        <p:spPr>
          <a:xfrm xmlns:a="http://schemas.openxmlformats.org/drawingml/2006/main">
            <a:off x="609600" y="61531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Both require a human decision. The predicted patch share is not the ground-truth defect area.</a:t>
            </a:r>
          </a:p>
        </p:txBody>
      </p:sp>
    </p:spTree>
    <p:extLst>
      <p:ext uri="{BB962C8B-B14F-4D97-AF65-F5344CB8AC3E}">
        <p14:creationId xmlns:p14="http://schemas.microsoft.com/office/powerpoint/2010/main" val="411075419"/>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Results — a human decision was persisted">
            <a:extLst xmlns:a="http://schemas.openxmlformats.org/drawingml/2006/main">
              <a:ext uri="{FF2B5EF4-FFF2-40B4-BE49-F238E27FC236}">
                <a16:creationId xmlns:a16="http://schemas.microsoft.com/office/drawing/2014/main" id="{2FC09F93-9304-4731-8441-0774ACF16214}"/>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a human decision was persisted</a:t>
            </a:r>
          </a:p>
        </p:txBody>
      </p:sp>
      <p:sp>
        <p:nvSpPr>
          <p:cNvPr id="2" name="29">
            <a:extLst xmlns:a="http://schemas.openxmlformats.org/drawingml/2006/main">
              <a:ext uri="{FF2B5EF4-FFF2-40B4-BE49-F238E27FC236}">
                <a16:creationId xmlns:a16="http://schemas.microsoft.com/office/drawing/2014/main" id="{A67AF097-0958-46F9-AC39-AF538541017F}"/>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29</a:t>
            </a:r>
          </a:p>
        </p:txBody>
      </p:sp>
      <p:pic>
        <p:nvPicPr>
          <p:cNvPr id="3" name="">
            <a:extLst xmlns:a="http://schemas.openxmlformats.org/drawingml/2006/main">
              <a:ext uri="{FF2B5EF4-FFF2-40B4-BE49-F238E27FC236}">
                <a16:creationId xmlns:a16="http://schemas.microsoft.com/office/drawing/2014/main" id="{583C1A20-9A0C-4CB6-BB6C-9DFBB135E133}"/>
              </a:ext>
            </a:extLst>
          </p:cNvPr>
          <p:cNvPicPr>
            <a:picLocks xmlns:a="http://schemas.openxmlformats.org/drawingml/2006/main" noChangeAspect="1"/>
          </p:cNvPicPr>
          <p:nvPr/>
        </p:nvPicPr>
        <p:blipFill>
          <a:blip xmlns:r="http://schemas.openxmlformats.org/officeDocument/2006/relationships" xmlns:a="http://schemas.openxmlformats.org/drawingml/2006/main" r:embed="R4f91a5feaf264b46"/>
          <a:stretch xmlns:a="http://schemas.openxmlformats.org/drawingml/2006/main"/>
        </p:blipFill>
        <p:spPr>
          <a:xfrm xmlns:a="http://schemas.openxmlformats.org/drawingml/2006/main">
            <a:off x="6421236" y="1457325"/>
            <a:ext cx="4816878" cy="4676775"/>
          </a:xfrm>
          <a:prstGeom xmlns:a="http://schemas.openxmlformats.org/drawingml/2006/main" prst="rect">
            <a:avLst/>
          </a:prstGeom>
        </p:spPr>
      </p:pic>
      <p:sp>
        <p:nvSpPr>
          <p:cNvPr id="4" name="AI decision">
            <a:extLst xmlns:a="http://schemas.openxmlformats.org/drawingml/2006/main">
              <a:ext uri="{FF2B5EF4-FFF2-40B4-BE49-F238E27FC236}">
                <a16:creationId xmlns:a16="http://schemas.microsoft.com/office/drawing/2014/main" id="{3BC665EE-95F7-48B4-BC18-473846EF153D}"/>
              </a:ext>
            </a:extLst>
          </p:cNvPr>
          <p:cNvSpPr>
            <a:spLocks xmlns:a="http://schemas.openxmlformats.org/drawingml/2006/main" noGrp="1"/>
          </p:cNvSpPr>
          <p:nvPr/>
        </p:nvSpPr>
        <p:spPr>
          <a:xfrm xmlns:a="http://schemas.openxmlformats.org/drawingml/2006/main">
            <a:off x="609600" y="167640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AI decision</a:t>
            </a:r>
          </a:p>
        </p:txBody>
      </p:sp>
      <p:sp>
        <p:nvSpPr>
          <p:cNvPr id="5" name="Grade C · 57.92% confidence · queued.">
            <a:extLst xmlns:a="http://schemas.openxmlformats.org/drawingml/2006/main">
              <a:ext uri="{FF2B5EF4-FFF2-40B4-BE49-F238E27FC236}">
                <a16:creationId xmlns:a16="http://schemas.microsoft.com/office/drawing/2014/main" id="{5AC73F7E-F640-4D8D-B682-85E0AFC1401D}"/>
              </a:ext>
            </a:extLst>
          </p:cNvPr>
          <p:cNvSpPr>
            <a:spLocks xmlns:a="http://schemas.openxmlformats.org/drawingml/2006/main" noGrp="1"/>
          </p:cNvSpPr>
          <p:nvPr/>
        </p:nvSpPr>
        <p:spPr>
          <a:xfrm xmlns:a="http://schemas.openxmlformats.org/drawingml/2006/main">
            <a:off x="609600" y="2085975"/>
            <a:ext cx="5476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Grade C · 57.92% confidence · queued.</a:t>
            </a:r>
          </a:p>
        </p:txBody>
      </p:sp>
      <p:sp>
        <p:nvSpPr>
          <p:cNvPr id="6" name="Illustrative human correction">
            <a:extLst xmlns:a="http://schemas.openxmlformats.org/drawingml/2006/main">
              <a:ext uri="{FF2B5EF4-FFF2-40B4-BE49-F238E27FC236}">
                <a16:creationId xmlns:a16="http://schemas.microsoft.com/office/drawing/2014/main" id="{296CCA8D-3070-4288-88C7-7C9034B8062F}"/>
              </a:ext>
            </a:extLst>
          </p:cNvPr>
          <p:cNvSpPr>
            <a:spLocks xmlns:a="http://schemas.openxmlformats.org/drawingml/2006/main" noGrp="1"/>
          </p:cNvSpPr>
          <p:nvPr/>
        </p:nvSpPr>
        <p:spPr>
          <a:xfrm xmlns:a="http://schemas.openxmlformats.org/drawingml/2006/main">
            <a:off x="609600" y="3057525"/>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Illustrative human correction</a:t>
            </a:r>
          </a:p>
        </p:txBody>
      </p:sp>
      <p:sp>
        <p:nvSpPr>
          <p:cNvPr id="7" name="95% cleanliness + 95% whole-grain quality.">
            <a:extLst xmlns:a="http://schemas.openxmlformats.org/drawingml/2006/main">
              <a:ext uri="{FF2B5EF4-FFF2-40B4-BE49-F238E27FC236}">
                <a16:creationId xmlns:a16="http://schemas.microsoft.com/office/drawing/2014/main" id="{C6BE21D2-E39B-4626-95AE-3EE76D5C194C}"/>
              </a:ext>
            </a:extLst>
          </p:cNvPr>
          <p:cNvSpPr>
            <a:spLocks xmlns:a="http://schemas.openxmlformats.org/drawingml/2006/main" noGrp="1"/>
          </p:cNvSpPr>
          <p:nvPr/>
        </p:nvSpPr>
        <p:spPr>
          <a:xfrm xmlns:a="http://schemas.openxmlformats.org/drawingml/2006/main">
            <a:off x="609600" y="3467100"/>
            <a:ext cx="5476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95% cleanliness + 95% whole-grain quality.</a:t>
            </a:r>
          </a:p>
        </p:txBody>
      </p:sp>
      <p:sp>
        <p:nvSpPr>
          <p:cNvPr id="8" name="Persisted outcome">
            <a:extLst xmlns:a="http://schemas.openxmlformats.org/drawingml/2006/main">
              <a:ext uri="{FF2B5EF4-FFF2-40B4-BE49-F238E27FC236}">
                <a16:creationId xmlns:a16="http://schemas.microsoft.com/office/drawing/2014/main" id="{A45685F1-63D6-4194-8896-C07540D4FDF5}"/>
              </a:ext>
            </a:extLst>
          </p:cNvPr>
          <p:cNvSpPr>
            <a:spLocks xmlns:a="http://schemas.openxmlformats.org/drawingml/2006/main" noGrp="1"/>
          </p:cNvSpPr>
          <p:nvPr/>
        </p:nvSpPr>
        <p:spPr>
          <a:xfrm xmlns:a="http://schemas.openxmlformats.org/drawingml/2006/main">
            <a:off x="609600" y="44386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Persisted outcome</a:t>
            </a:r>
          </a:p>
        </p:txBody>
      </p:sp>
      <p:sp>
        <p:nvSpPr>
          <p:cNvPr id="9" name="Grade A · ACTIVE · listing #85.">
            <a:extLst xmlns:a="http://schemas.openxmlformats.org/drawingml/2006/main">
              <a:ext uri="{FF2B5EF4-FFF2-40B4-BE49-F238E27FC236}">
                <a16:creationId xmlns:a16="http://schemas.microsoft.com/office/drawing/2014/main" id="{47CF6B51-3E8A-4CCC-B770-0FE4710973A6}"/>
              </a:ext>
            </a:extLst>
          </p:cNvPr>
          <p:cNvSpPr>
            <a:spLocks xmlns:a="http://schemas.openxmlformats.org/drawingml/2006/main" noGrp="1"/>
          </p:cNvSpPr>
          <p:nvPr/>
        </p:nvSpPr>
        <p:spPr>
          <a:xfrm xmlns:a="http://schemas.openxmlformats.org/drawingml/2006/main">
            <a:off x="609600" y="4848225"/>
            <a:ext cx="5476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Grade A · ACTIVE · listing #85.</a:t>
            </a:r>
          </a:p>
        </p:txBody>
      </p:sp>
      <p:sp>
        <p:nvSpPr>
          <p:cNvPr id="10" name="Manual percentages demonstrate the review workflow; the">
            <a:extLst xmlns:a="http://schemas.openxmlformats.org/drawingml/2006/main">
              <a:ext uri="{FF2B5EF4-FFF2-40B4-BE49-F238E27FC236}">
                <a16:creationId xmlns:a16="http://schemas.microsoft.com/office/drawing/2014/main" id="{6E236C19-7807-400F-8F08-0BDB80332D6F}"/>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Manual percentages demonstrate the review workflow; they are not new model performance measurements.</a:t>
            </a:r>
          </a:p>
        </p:txBody>
      </p:sp>
    </p:spTree>
    <p:extLst>
      <p:ext uri="{BB962C8B-B14F-4D97-AF65-F5344CB8AC3E}">
        <p14:creationId xmlns:p14="http://schemas.microsoft.com/office/powerpoint/2010/main" val="1363510701"/>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Results — negotiated order and stock">
            <a:extLst xmlns:a="http://schemas.openxmlformats.org/drawingml/2006/main">
              <a:ext uri="{FF2B5EF4-FFF2-40B4-BE49-F238E27FC236}">
                <a16:creationId xmlns:a16="http://schemas.microsoft.com/office/drawing/2014/main" id="{28A82576-604C-4807-97DE-67A5AA7BCA27}"/>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negotiated order and stock</a:t>
            </a:r>
          </a:p>
        </p:txBody>
      </p:sp>
      <p:sp>
        <p:nvSpPr>
          <p:cNvPr id="2" name="30">
            <a:extLst xmlns:a="http://schemas.openxmlformats.org/drawingml/2006/main">
              <a:ext uri="{FF2B5EF4-FFF2-40B4-BE49-F238E27FC236}">
                <a16:creationId xmlns:a16="http://schemas.microsoft.com/office/drawing/2014/main" id="{2B1CDA0B-423A-427A-A85D-09D0D448F2D7}"/>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30</a:t>
            </a:r>
          </a:p>
        </p:txBody>
      </p:sp>
      <p:pic>
        <p:nvPicPr>
          <p:cNvPr id="3" name="">
            <a:extLst xmlns:a="http://schemas.openxmlformats.org/drawingml/2006/main">
              <a:ext uri="{FF2B5EF4-FFF2-40B4-BE49-F238E27FC236}">
                <a16:creationId xmlns:a16="http://schemas.microsoft.com/office/drawing/2014/main" id="{B04A9707-678E-4894-8A46-12E8DA15790E}"/>
              </a:ext>
            </a:extLst>
          </p:cNvPr>
          <p:cNvPicPr>
            <a:picLocks xmlns:a="http://schemas.openxmlformats.org/drawingml/2006/main" noChangeAspect="1"/>
          </p:cNvPicPr>
          <p:nvPr/>
        </p:nvPicPr>
        <p:blipFill>
          <a:blip xmlns:r="http://schemas.openxmlformats.org/officeDocument/2006/relationships" xmlns:a="http://schemas.openxmlformats.org/drawingml/2006/main" r:embed="R32475b24de6f42b6"/>
          <a:stretch xmlns:a="http://schemas.openxmlformats.org/drawingml/2006/main"/>
        </p:blipFill>
        <p:spPr>
          <a:xfrm xmlns:a="http://schemas.openxmlformats.org/drawingml/2006/main">
            <a:off x="6421236" y="1457325"/>
            <a:ext cx="4816878" cy="4676775"/>
          </a:xfrm>
          <a:prstGeom xmlns:a="http://schemas.openxmlformats.org/drawingml/2006/main" prst="rect">
            <a:avLst/>
          </a:prstGeom>
        </p:spPr>
      </p:pic>
      <p:sp>
        <p:nvSpPr>
          <p:cNvPr id="4" name="₹2,300 → ₹2,400">
            <a:extLst xmlns:a="http://schemas.openxmlformats.org/drawingml/2006/main">
              <a:ext uri="{FF2B5EF4-FFF2-40B4-BE49-F238E27FC236}">
                <a16:creationId xmlns:a16="http://schemas.microsoft.com/office/drawing/2014/main" id="{5E167BAB-DD8D-4029-888E-B7D9E5247DDA}"/>
              </a:ext>
            </a:extLst>
          </p:cNvPr>
          <p:cNvSpPr>
            <a:spLocks xmlns:a="http://schemas.openxmlformats.org/drawingml/2006/main" noGrp="1"/>
          </p:cNvSpPr>
          <p:nvPr/>
        </p:nvSpPr>
        <p:spPr>
          <a:xfrm xmlns:a="http://schemas.openxmlformats.org/drawingml/2006/main">
            <a:off x="609600" y="16383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a:solidFill>
                  <a:srgbClr val="173E33"/>
                </a:solidFill>
                <a:latin typeface="Arial"/>
                <a:ea typeface="Arial"/>
                <a:cs typeface="Arial"/>
              </a:defRPr>
            </a:defPPr>
          </a:lstStyle>
          <a:p xmlns:a="http://schemas.openxmlformats.org/drawingml/2006/main">
            <a:pPr algn="l">
              <a:defRPr sz="2175" b="1">
                <a:solidFill>
                  <a:srgbClr val="173E33"/>
                </a:solidFill>
                <a:latin typeface="Arial"/>
                <a:ea typeface="Arial"/>
                <a:cs typeface="Arial"/>
              </a:defRPr>
            </a:pPr>
            <a:r>
              <a:rPr sz="2175" b="1">
                <a:solidFill>
                  <a:srgbClr val="173E33"/>
                </a:solidFill>
                <a:latin typeface="Arial"/>
                <a:ea typeface="Arial"/>
                <a:cs typeface="Arial"/>
              </a:rPr>
              <a:t>₹2,300 → ₹2,400</a:t>
            </a:r>
          </a:p>
        </p:txBody>
      </p:sp>
      <p:sp>
        <p:nvSpPr>
          <p:cNvPr id="5" name="Buyer offer → seller counter → buyer acceptance.">
            <a:extLst xmlns:a="http://schemas.openxmlformats.org/drawingml/2006/main">
              <a:ext uri="{FF2B5EF4-FFF2-40B4-BE49-F238E27FC236}">
                <a16:creationId xmlns:a16="http://schemas.microsoft.com/office/drawing/2014/main" id="{42CBC28E-FE90-4DD4-B54F-416C55F99E20}"/>
              </a:ext>
            </a:extLst>
          </p:cNvPr>
          <p:cNvSpPr>
            <a:spLocks xmlns:a="http://schemas.openxmlformats.org/drawingml/2006/main" noGrp="1"/>
          </p:cNvSpPr>
          <p:nvPr/>
        </p:nvSpPr>
        <p:spPr>
          <a:xfrm xmlns:a="http://schemas.openxmlformats.org/drawingml/2006/main">
            <a:off x="609600" y="204787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0">
                <a:solidFill>
                  <a:srgbClr val="51615B"/>
                </a:solidFill>
                <a:latin typeface="Arial"/>
                <a:ea typeface="Arial"/>
                <a:cs typeface="Arial"/>
              </a:defRPr>
            </a:defPPr>
          </a:lstStyle>
          <a:p xmlns:a="http://schemas.openxmlformats.org/drawingml/2006/main">
            <a:pPr algn="l">
              <a:defRPr sz="2025" b="0">
                <a:solidFill>
                  <a:srgbClr val="51615B"/>
                </a:solidFill>
                <a:latin typeface="Arial"/>
                <a:ea typeface="Arial"/>
                <a:cs typeface="Arial"/>
              </a:defRPr>
            </a:pPr>
            <a:r>
              <a:rPr sz="2025" b="0">
                <a:solidFill>
                  <a:srgbClr val="51615B"/>
                </a:solidFill>
                <a:latin typeface="Arial"/>
                <a:ea typeface="Arial"/>
                <a:cs typeface="Arial"/>
              </a:rPr>
              <a:t>Buyer offer → seller counter → buyer acceptance.</a:t>
            </a:r>
          </a:p>
        </p:txBody>
      </p:sp>
      <p:sp>
        <p:nvSpPr>
          <p:cNvPr id="6" name="Order #20: CONFIRMED">
            <a:extLst xmlns:a="http://schemas.openxmlformats.org/drawingml/2006/main">
              <a:ext uri="{FF2B5EF4-FFF2-40B4-BE49-F238E27FC236}">
                <a16:creationId xmlns:a16="http://schemas.microsoft.com/office/drawing/2014/main" id="{7D2C8849-12F1-4C8B-AFE1-8CA1F3ADD3D1}"/>
              </a:ext>
            </a:extLst>
          </p:cNvPr>
          <p:cNvSpPr>
            <a:spLocks xmlns:a="http://schemas.openxmlformats.org/drawingml/2006/main" noGrp="1"/>
          </p:cNvSpPr>
          <p:nvPr/>
        </p:nvSpPr>
        <p:spPr>
          <a:xfrm xmlns:a="http://schemas.openxmlformats.org/drawingml/2006/main">
            <a:off x="609600" y="30384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a:solidFill>
                  <a:srgbClr val="173E33"/>
                </a:solidFill>
                <a:latin typeface="Arial"/>
                <a:ea typeface="Arial"/>
                <a:cs typeface="Arial"/>
              </a:defRPr>
            </a:defPPr>
          </a:lstStyle>
          <a:p xmlns:a="http://schemas.openxmlformats.org/drawingml/2006/main">
            <a:pPr algn="l">
              <a:defRPr sz="2175" b="1">
                <a:solidFill>
                  <a:srgbClr val="173E33"/>
                </a:solidFill>
                <a:latin typeface="Arial"/>
                <a:ea typeface="Arial"/>
                <a:cs typeface="Arial"/>
              </a:defRPr>
            </a:pPr>
            <a:r>
              <a:rPr sz="2175" b="1">
                <a:solidFill>
                  <a:srgbClr val="173E33"/>
                </a:solidFill>
                <a:latin typeface="Arial"/>
                <a:ea typeface="Arial"/>
                <a:cs typeface="Arial"/>
              </a:rPr>
              <a:t>Order #20: CONFIRMED</a:t>
            </a:r>
          </a:p>
        </p:txBody>
      </p:sp>
      <p:sp>
        <p:nvSpPr>
          <p:cNvPr id="7" name="1 quintal × ₹2,400 = ₹2,400.">
            <a:extLst xmlns:a="http://schemas.openxmlformats.org/drawingml/2006/main">
              <a:ext uri="{FF2B5EF4-FFF2-40B4-BE49-F238E27FC236}">
                <a16:creationId xmlns:a16="http://schemas.microsoft.com/office/drawing/2014/main" id="{1081574C-661B-4EE0-8F13-65278C8EEB43}"/>
              </a:ext>
            </a:extLst>
          </p:cNvPr>
          <p:cNvSpPr>
            <a:spLocks xmlns:a="http://schemas.openxmlformats.org/drawingml/2006/main" noGrp="1"/>
          </p:cNvSpPr>
          <p:nvPr/>
        </p:nvSpPr>
        <p:spPr>
          <a:xfrm xmlns:a="http://schemas.openxmlformats.org/drawingml/2006/main">
            <a:off x="609600" y="34480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0">
                <a:solidFill>
                  <a:srgbClr val="51615B"/>
                </a:solidFill>
                <a:latin typeface="Arial"/>
                <a:ea typeface="Arial"/>
                <a:cs typeface="Arial"/>
              </a:defRPr>
            </a:defPPr>
          </a:lstStyle>
          <a:p xmlns:a="http://schemas.openxmlformats.org/drawingml/2006/main">
            <a:pPr algn="l">
              <a:defRPr sz="2025" b="0">
                <a:solidFill>
                  <a:srgbClr val="51615B"/>
                </a:solidFill>
                <a:latin typeface="Arial"/>
                <a:ea typeface="Arial"/>
                <a:cs typeface="Arial"/>
              </a:defRPr>
            </a:pPr>
            <a:r>
              <a:rPr sz="2025" b="0">
                <a:solidFill>
                  <a:srgbClr val="51615B"/>
                </a:solidFill>
                <a:latin typeface="Arial"/>
                <a:ea typeface="Arial"/>
                <a:cs typeface="Arial"/>
              </a:rPr>
              <a:t>1 quintal × ₹2,400 = ₹2,400.</a:t>
            </a:r>
          </a:p>
        </p:txBody>
      </p:sp>
      <p:sp>
        <p:nvSpPr>
          <p:cNvPr id="8" name="Stock: 2 q → 1 q">
            <a:extLst xmlns:a="http://schemas.openxmlformats.org/drawingml/2006/main">
              <a:ext uri="{FF2B5EF4-FFF2-40B4-BE49-F238E27FC236}">
                <a16:creationId xmlns:a16="http://schemas.microsoft.com/office/drawing/2014/main" id="{B86898D2-85A3-4125-93DF-983D08E72D9A}"/>
              </a:ext>
            </a:extLst>
          </p:cNvPr>
          <p:cNvSpPr>
            <a:spLocks xmlns:a="http://schemas.openxmlformats.org/drawingml/2006/main" noGrp="1"/>
          </p:cNvSpPr>
          <p:nvPr/>
        </p:nvSpPr>
        <p:spPr>
          <a:xfrm xmlns:a="http://schemas.openxmlformats.org/drawingml/2006/main">
            <a:off x="609600" y="44386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a:solidFill>
                  <a:srgbClr val="173E33"/>
                </a:solidFill>
                <a:latin typeface="Arial"/>
                <a:ea typeface="Arial"/>
                <a:cs typeface="Arial"/>
              </a:defRPr>
            </a:defPPr>
          </a:lstStyle>
          <a:p xmlns:a="http://schemas.openxmlformats.org/drawingml/2006/main">
            <a:pPr algn="l">
              <a:defRPr sz="2175" b="1">
                <a:solidFill>
                  <a:srgbClr val="173E33"/>
                </a:solidFill>
                <a:latin typeface="Arial"/>
                <a:ea typeface="Arial"/>
                <a:cs typeface="Arial"/>
              </a:defRPr>
            </a:pPr>
            <a:r>
              <a:rPr sz="2175" b="1">
                <a:solidFill>
                  <a:srgbClr val="173E33"/>
                </a:solidFill>
                <a:latin typeface="Arial"/>
                <a:ea typeface="Arial"/>
                <a:cs typeface="Arial"/>
              </a:rPr>
              <a:t>Stock: 2 q → 1 q</a:t>
            </a:r>
          </a:p>
        </p:txBody>
      </p:sp>
      <p:sp>
        <p:nvSpPr>
          <p:cNvPr id="9" name="Remaining listing stayed ACTIVE.">
            <a:extLst xmlns:a="http://schemas.openxmlformats.org/drawingml/2006/main">
              <a:ext uri="{FF2B5EF4-FFF2-40B4-BE49-F238E27FC236}">
                <a16:creationId xmlns:a16="http://schemas.microsoft.com/office/drawing/2014/main" id="{EA831159-3533-461A-84B9-03176EA7C8D6}"/>
              </a:ext>
            </a:extLst>
          </p:cNvPr>
          <p:cNvSpPr>
            <a:spLocks xmlns:a="http://schemas.openxmlformats.org/drawingml/2006/main" noGrp="1"/>
          </p:cNvSpPr>
          <p:nvPr/>
        </p:nvSpPr>
        <p:spPr>
          <a:xfrm xmlns:a="http://schemas.openxmlformats.org/drawingml/2006/main">
            <a:off x="609600" y="48482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0">
                <a:solidFill>
                  <a:srgbClr val="51615B"/>
                </a:solidFill>
                <a:latin typeface="Arial"/>
                <a:ea typeface="Arial"/>
                <a:cs typeface="Arial"/>
              </a:defRPr>
            </a:defPPr>
          </a:lstStyle>
          <a:p xmlns:a="http://schemas.openxmlformats.org/drawingml/2006/main">
            <a:pPr algn="l">
              <a:defRPr sz="2025" b="0">
                <a:solidFill>
                  <a:srgbClr val="51615B"/>
                </a:solidFill>
                <a:latin typeface="Arial"/>
                <a:ea typeface="Arial"/>
                <a:cs typeface="Arial"/>
              </a:defRPr>
            </a:pPr>
            <a:r>
              <a:rPr sz="2025" b="0">
                <a:solidFill>
                  <a:srgbClr val="51615B"/>
                </a:solidFill>
                <a:latin typeface="Arial"/>
                <a:ea typeface="Arial"/>
                <a:cs typeface="Arial"/>
              </a:rPr>
              <a:t>Remaining listing stayed ACTIVE.</a:t>
            </a:r>
          </a:p>
        </p:txBody>
      </p:sp>
      <p:sp>
        <p:nvSpPr>
          <p:cNvPr id="10" name="Fresh local API integration proof; the screenshot shows">
            <a:extLst xmlns:a="http://schemas.openxmlformats.org/drawingml/2006/main">
              <a:ext uri="{FF2B5EF4-FFF2-40B4-BE49-F238E27FC236}">
                <a16:creationId xmlns:a16="http://schemas.microsoft.com/office/drawing/2014/main" id="{39AEBB54-3B89-4BA9-B583-34AE58542820}"/>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Fresh local API integration proof; the screenshot shows the persisted website order.</a:t>
            </a:r>
          </a:p>
        </p:txBody>
      </p:sp>
    </p:spTree>
    <p:extLst>
      <p:ext uri="{BB962C8B-B14F-4D97-AF65-F5344CB8AC3E}">
        <p14:creationId xmlns:p14="http://schemas.microsoft.com/office/powerpoint/2010/main" val="1323432461"/>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Results — multi-seller allocation">
            <a:extLst xmlns:a="http://schemas.openxmlformats.org/drawingml/2006/main">
              <a:ext uri="{FF2B5EF4-FFF2-40B4-BE49-F238E27FC236}">
                <a16:creationId xmlns:a16="http://schemas.microsoft.com/office/drawing/2014/main" id="{AB8F6E5B-79C4-4AE9-AC94-F9BDC30A6052}"/>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multi-seller allocation</a:t>
            </a:r>
          </a:p>
        </p:txBody>
      </p:sp>
      <p:sp>
        <p:nvSpPr>
          <p:cNvPr id="2" name="31">
            <a:extLst xmlns:a="http://schemas.openxmlformats.org/drawingml/2006/main">
              <a:ext uri="{FF2B5EF4-FFF2-40B4-BE49-F238E27FC236}">
                <a16:creationId xmlns:a16="http://schemas.microsoft.com/office/drawing/2014/main" id="{EDA5F7D6-0259-4523-A325-AAEEAB076D5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31</a:t>
            </a:r>
          </a:p>
        </p:txBody>
      </p:sp>
      <p:graphicFrame>
        <p:nvGraphicFramePr>
          <p:cNvPr id="3" name="">
            <a:extLst xmlns:a="http://schemas.openxmlformats.org/drawingml/2006/main">
              <a:ext uri="{FF2B5EF4-FFF2-40B4-BE49-F238E27FC236}">
                <a16:creationId xmlns:a16="http://schemas.microsoft.com/office/drawing/2014/main" id="{A0939C3E-5BDC-4929-B813-F48BA83DDCFE}"/>
              </a:ext>
            </a:extLst>
          </p:cNvPr>
          <p:cNvGraphicFramePr/>
          <p:nvPr/>
        </p:nvGraphicFramePr>
        <p:xfrm>
          <a:off xmlns:a="http://schemas.openxmlformats.org/drawingml/2006/main" x="609600" y="1724025"/>
          <a:ext xmlns:a="http://schemas.openxmlformats.org/drawingml/2006/main" cx="10972800" cy="2638425"/>
        </p:xfrm>
        <a:graphic xmlns:a="http://schemas.openxmlformats.org/drawingml/2006/main">
          <a:graphicData uri="http://schemas.openxmlformats.org/drawingml/2006/table">
            <a:tbl>
              <a:tblPr/>
              <a:tblGrid>
                <a:gridCol w="3048000"/>
                <a:gridCol w="2428875"/>
                <a:gridCol w="2638425"/>
                <a:gridCol w="2857500"/>
              </a:tblGrid>
              <a:tr h="659606">
                <a:tc>
                  <a:txBody>
                    <a:bodyPr/>
                    <a:lstStyle/>
                    <a:p>
                      <a:r>
                        <a:rPr sz="2100" b="1">
                          <a:solidFill>
                            <a:srgbClr val="F7F5EF"/>
                          </a:solidFill>
                          <a:latin typeface="Arial"/>
                          <a:ea typeface="Arial"/>
                          <a:cs typeface="Arial"/>
                        </a:rPr>
                        <a:t>Allocation</a:t>
                      </a:r>
                    </a:p>
                  </a:txBody>
                  <a:tcPr marL="133350" marR="133350" marT="76200" marB="66675" anchor="ctr">
                    <a:solidFill>
                      <a:srgbClr val="173E33"/>
                    </a:solidFill>
                  </a:tcPr>
                </a:tc>
                <a:tc>
                  <a:txBody>
                    <a:bodyPr/>
                    <a:lstStyle/>
                    <a:p>
                      <a:r>
                        <a:rPr sz="2100" b="1">
                          <a:solidFill>
                            <a:srgbClr val="F7F5EF"/>
                          </a:solidFill>
                          <a:latin typeface="Arial"/>
                          <a:ea typeface="Arial"/>
                          <a:cs typeface="Arial"/>
                        </a:rPr>
                        <a:t>Quantity</a:t>
                      </a:r>
                    </a:p>
                  </a:txBody>
                  <a:tcPr marL="133350" marR="133350" marT="76200" marB="66675" anchor="ctr">
                    <a:solidFill>
                      <a:srgbClr val="173E33"/>
                    </a:solidFill>
                  </a:tcPr>
                </a:tc>
                <a:tc>
                  <a:txBody>
                    <a:bodyPr/>
                    <a:lstStyle/>
                    <a:p>
                      <a:r>
                        <a:rPr sz="2100" b="1">
                          <a:solidFill>
                            <a:srgbClr val="F7F5EF"/>
                          </a:solidFill>
                          <a:latin typeface="Arial"/>
                          <a:ea typeface="Arial"/>
                          <a:cs typeface="Arial"/>
                        </a:rPr>
                        <a:t>Unit price</a:t>
                      </a:r>
                    </a:p>
                  </a:txBody>
                  <a:tcPr marL="133350" marR="133350" marT="76200" marB="66675" anchor="ctr">
                    <a:solidFill>
                      <a:srgbClr val="173E33"/>
                    </a:solidFill>
                  </a:tcPr>
                </a:tc>
                <a:tc>
                  <a:txBody>
                    <a:bodyPr/>
                    <a:lstStyle/>
                    <a:p>
                      <a:r>
                        <a:rPr sz="2100" b="1">
                          <a:solidFill>
                            <a:srgbClr val="F7F5EF"/>
                          </a:solidFill>
                          <a:latin typeface="Arial"/>
                          <a:ea typeface="Arial"/>
                          <a:cs typeface="Arial"/>
                        </a:rPr>
                        <a:t>Amount</a:t>
                      </a:r>
                    </a:p>
                  </a:txBody>
                  <a:tcPr marL="133350" marR="133350" marT="76200" marB="66675" anchor="ctr">
                    <a:solidFill>
                      <a:srgbClr val="173E33"/>
                    </a:solidFill>
                  </a:tcPr>
                </a:tc>
              </a:tr>
              <a:tr h="659606">
                <a:tc>
                  <a:txBody>
                    <a:bodyPr/>
                    <a:lstStyle/>
                    <a:p>
                      <a:r>
                        <a:rPr sz="2100">
                          <a:solidFill>
                            <a:srgbClr val="173E33"/>
                          </a:solidFill>
                          <a:latin typeface="Arial"/>
                          <a:ea typeface="Arial"/>
                          <a:cs typeface="Arial"/>
                        </a:rPr>
                        <a:t>Listing 72</a:t>
                      </a:r>
                    </a:p>
                  </a:txBody>
                  <a:tcPr marL="133350" marR="133350" marT="76200" marB="66675" anchor="ctr">
                    <a:solidFill>
                      <a:srgbClr val="F7F5EF"/>
                    </a:solidFill>
                  </a:tcPr>
                </a:tc>
                <a:tc>
                  <a:txBody>
                    <a:bodyPr/>
                    <a:lstStyle/>
                    <a:p>
                      <a:r>
                        <a:rPr sz="2100">
                          <a:solidFill>
                            <a:srgbClr val="173E33"/>
                          </a:solidFill>
                          <a:latin typeface="Arial"/>
                          <a:ea typeface="Arial"/>
                          <a:cs typeface="Arial"/>
                        </a:rPr>
                        <a:t>40 q</a:t>
                      </a:r>
                    </a:p>
                  </a:txBody>
                  <a:tcPr marL="133350" marR="133350" marT="76200" marB="66675" anchor="ctr">
                    <a:solidFill>
                      <a:srgbClr val="F7F5EF"/>
                    </a:solidFill>
                  </a:tcPr>
                </a:tc>
                <a:tc>
                  <a:txBody>
                    <a:bodyPr/>
                    <a:lstStyle/>
                    <a:p>
                      <a:r>
                        <a:rPr sz="2100">
                          <a:solidFill>
                            <a:srgbClr val="173E33"/>
                          </a:solidFill>
                          <a:latin typeface="Arial"/>
                          <a:ea typeface="Arial"/>
                          <a:cs typeface="Arial"/>
                        </a:rPr>
                        <a:t>₹2,000</a:t>
                      </a:r>
                    </a:p>
                  </a:txBody>
                  <a:tcPr marL="133350" marR="133350" marT="76200" marB="66675" anchor="ctr">
                    <a:solidFill>
                      <a:srgbClr val="F7F5EF"/>
                    </a:solidFill>
                  </a:tcPr>
                </a:tc>
                <a:tc>
                  <a:txBody>
                    <a:bodyPr/>
                    <a:lstStyle/>
                    <a:p>
                      <a:r>
                        <a:rPr sz="2100">
                          <a:solidFill>
                            <a:srgbClr val="173E33"/>
                          </a:solidFill>
                          <a:latin typeface="Arial"/>
                          <a:ea typeface="Arial"/>
                          <a:cs typeface="Arial"/>
                        </a:rPr>
                        <a:t>₹80,000</a:t>
                      </a:r>
                    </a:p>
                  </a:txBody>
                  <a:tcPr marL="133350" marR="133350" marT="76200" marB="66675" anchor="ctr">
                    <a:solidFill>
                      <a:srgbClr val="F7F5EF"/>
                    </a:solidFill>
                  </a:tcPr>
                </a:tc>
              </a:tr>
              <a:tr h="659606">
                <a:tc>
                  <a:txBody>
                    <a:bodyPr/>
                    <a:lstStyle/>
                    <a:p>
                      <a:r>
                        <a:rPr sz="2100">
                          <a:solidFill>
                            <a:srgbClr val="173E33"/>
                          </a:solidFill>
                          <a:latin typeface="Arial"/>
                          <a:ea typeface="Arial"/>
                          <a:cs typeface="Arial"/>
                        </a:rPr>
                        <a:t>Listing 73</a:t>
                      </a:r>
                    </a:p>
                  </a:txBody>
                  <a:tcPr marL="133350" marR="133350" marT="76200" marB="66675" anchor="ctr">
                    <a:solidFill>
                      <a:srgbClr val="F7F5EF"/>
                    </a:solidFill>
                  </a:tcPr>
                </a:tc>
                <a:tc>
                  <a:txBody>
                    <a:bodyPr/>
                    <a:lstStyle/>
                    <a:p>
                      <a:r>
                        <a:rPr sz="2100">
                          <a:solidFill>
                            <a:srgbClr val="173E33"/>
                          </a:solidFill>
                          <a:latin typeface="Arial"/>
                          <a:ea typeface="Arial"/>
                          <a:cs typeface="Arial"/>
                        </a:rPr>
                        <a:t>20 q</a:t>
                      </a:r>
                    </a:p>
                  </a:txBody>
                  <a:tcPr marL="133350" marR="133350" marT="76200" marB="66675" anchor="ctr">
                    <a:solidFill>
                      <a:srgbClr val="F7F5EF"/>
                    </a:solidFill>
                  </a:tcPr>
                </a:tc>
                <a:tc>
                  <a:txBody>
                    <a:bodyPr/>
                    <a:lstStyle/>
                    <a:p>
                      <a:r>
                        <a:rPr sz="2100">
                          <a:solidFill>
                            <a:srgbClr val="173E33"/>
                          </a:solidFill>
                          <a:latin typeface="Arial"/>
                          <a:ea typeface="Arial"/>
                          <a:cs typeface="Arial"/>
                        </a:rPr>
                        <a:t>₹2,000</a:t>
                      </a:r>
                    </a:p>
                  </a:txBody>
                  <a:tcPr marL="133350" marR="133350" marT="76200" marB="66675" anchor="ctr">
                    <a:solidFill>
                      <a:srgbClr val="F7F5EF"/>
                    </a:solidFill>
                  </a:tcPr>
                </a:tc>
                <a:tc>
                  <a:txBody>
                    <a:bodyPr/>
                    <a:lstStyle/>
                    <a:p>
                      <a:r>
                        <a:rPr sz="2100">
                          <a:solidFill>
                            <a:srgbClr val="173E33"/>
                          </a:solidFill>
                          <a:latin typeface="Arial"/>
                          <a:ea typeface="Arial"/>
                          <a:cs typeface="Arial"/>
                        </a:rPr>
                        <a:t>₹40,000</a:t>
                      </a:r>
                    </a:p>
                  </a:txBody>
                  <a:tcPr marL="133350" marR="133350" marT="76200" marB="66675" anchor="ctr">
                    <a:solidFill>
                      <a:srgbClr val="F7F5EF"/>
                    </a:solidFill>
                  </a:tcPr>
                </a:tc>
              </a:tr>
              <a:tr h="659606">
                <a:tc>
                  <a:txBody>
                    <a:bodyPr/>
                    <a:lstStyle/>
                    <a:p>
                      <a:r>
                        <a:rPr sz="2100">
                          <a:solidFill>
                            <a:srgbClr val="173E33"/>
                          </a:solidFill>
                          <a:latin typeface="Arial"/>
                          <a:ea typeface="Arial"/>
                          <a:cs typeface="Arial"/>
                        </a:rPr>
                        <a:t>Total</a:t>
                      </a:r>
                    </a:p>
                  </a:txBody>
                  <a:tcPr marL="133350" marR="133350" marT="76200" marB="66675" anchor="ctr">
                    <a:solidFill>
                      <a:srgbClr val="F7F5EF"/>
                    </a:solidFill>
                  </a:tcPr>
                </a:tc>
                <a:tc>
                  <a:txBody>
                    <a:bodyPr/>
                    <a:lstStyle/>
                    <a:p>
                      <a:r>
                        <a:rPr sz="2100">
                          <a:solidFill>
                            <a:srgbClr val="173E33"/>
                          </a:solidFill>
                          <a:latin typeface="Arial"/>
                          <a:ea typeface="Arial"/>
                          <a:cs typeface="Arial"/>
                        </a:rPr>
                        <a:t>60 q</a:t>
                      </a:r>
                    </a:p>
                  </a:txBody>
                  <a:tcPr marL="133350" marR="133350" marT="76200" marB="66675" anchor="ctr">
                    <a:solidFill>
                      <a:srgbClr val="F7F5EF"/>
                    </a:solidFill>
                  </a:tcPr>
                </a:tc>
                <a:tc>
                  <a:txBody>
                    <a:bodyPr/>
                    <a:lstStyle/>
                    <a:p>
                      <a:r>
                        <a:rPr sz="2100">
                          <a:solidFill>
                            <a:srgbClr val="173E33"/>
                          </a:solidFill>
                          <a:latin typeface="Arial"/>
                          <a:ea typeface="Arial"/>
                          <a:cs typeface="Arial"/>
                        </a:rPr>
                        <a:t>—</a:t>
                      </a:r>
                    </a:p>
                  </a:txBody>
                  <a:tcPr marL="133350" marR="133350" marT="76200" marB="66675" anchor="ctr">
                    <a:solidFill>
                      <a:srgbClr val="F7F5EF"/>
                    </a:solidFill>
                  </a:tcPr>
                </a:tc>
                <a:tc>
                  <a:txBody>
                    <a:bodyPr/>
                    <a:lstStyle/>
                    <a:p>
                      <a:r>
                        <a:rPr sz="2100">
                          <a:solidFill>
                            <a:srgbClr val="173E33"/>
                          </a:solidFill>
                          <a:latin typeface="Arial"/>
                          <a:ea typeface="Arial"/>
                          <a:cs typeface="Arial"/>
                        </a:rPr>
                        <a:t>₹1,20,000</a:t>
                      </a:r>
                    </a:p>
                  </a:txBody>
                  <a:tcPr marL="133350" marR="133350" marT="76200" marB="66675" anchor="ctr">
                    <a:solidFill>
                      <a:srgbClr val="F7F5EF"/>
                    </a:solidFill>
                  </a:tcPr>
                </a:tc>
              </a:tr>
            </a:tbl>
          </a:graphicData>
        </a:graphic>
      </p:graphicFrame>
      <p:sp>
        <p:nvSpPr>
          <p:cNvPr id="4" name="Fully fulfilled · 2 allocations · 0 q shortfall">
            <a:extLst xmlns:a="http://schemas.openxmlformats.org/drawingml/2006/main">
              <a:ext uri="{FF2B5EF4-FFF2-40B4-BE49-F238E27FC236}">
                <a16:creationId xmlns:a16="http://schemas.microsoft.com/office/drawing/2014/main" id="{DE005FF6-89F9-4670-9948-414618A4F04F}"/>
              </a:ext>
            </a:extLst>
          </p:cNvPr>
          <p:cNvSpPr>
            <a:spLocks xmlns:a="http://schemas.openxmlformats.org/drawingml/2006/main" noGrp="1"/>
          </p:cNvSpPr>
          <p:nvPr/>
        </p:nvSpPr>
        <p:spPr>
          <a:xfrm xmlns:a="http://schemas.openxmlformats.org/drawingml/2006/main">
            <a:off x="609600" y="491490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700" b="1">
                <a:solidFill>
                  <a:srgbClr val="173E33"/>
                </a:solidFill>
                <a:latin typeface="Arial"/>
                <a:ea typeface="Arial"/>
                <a:cs typeface="Arial"/>
              </a:defRPr>
            </a:defPPr>
          </a:lstStyle>
          <a:p xmlns:a="http://schemas.openxmlformats.org/drawingml/2006/main">
            <a:pPr algn="l">
              <a:defRPr sz="2700" b="1">
                <a:solidFill>
                  <a:srgbClr val="173E33"/>
                </a:solidFill>
                <a:latin typeface="Arial"/>
                <a:ea typeface="Arial"/>
                <a:cs typeface="Arial"/>
              </a:defRPr>
            </a:pPr>
            <a:r>
              <a:rPr sz="2700" b="1">
                <a:solidFill>
                  <a:srgbClr val="173E33"/>
                </a:solidFill>
                <a:latin typeface="Arial"/>
                <a:ea typeface="Arial"/>
                <a:cs typeface="Arial"/>
              </a:rPr>
              <a:t>Fully fulfilled · 2 allocations · 0 q shortfall</a:t>
            </a:r>
          </a:p>
        </p:txBody>
      </p:sp>
      <p:sp>
        <p:nvSpPr>
          <p:cNvPr id="5" name="Evidence type: saved integration response; these tempor">
            <a:extLst xmlns:a="http://schemas.openxmlformats.org/drawingml/2006/main">
              <a:ext uri="{FF2B5EF4-FFF2-40B4-BE49-F238E27FC236}">
                <a16:creationId xmlns:a16="http://schemas.microsoft.com/office/drawing/2014/main" id="{EB7EAD98-A90B-4DAB-8A97-2298EF9F2098}"/>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Evidence type: saved integration response; these temporary listings and order are no longer in the live demo database.</a:t>
            </a:r>
          </a:p>
        </p:txBody>
      </p:sp>
    </p:spTree>
    <p:extLst>
      <p:ext uri="{BB962C8B-B14F-4D97-AF65-F5344CB8AC3E}">
        <p14:creationId xmlns:p14="http://schemas.microsoft.com/office/powerpoint/2010/main" val="1430476693"/>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Results — price calculation visible on screen">
            <a:extLst xmlns:a="http://schemas.openxmlformats.org/drawingml/2006/main">
              <a:ext uri="{FF2B5EF4-FFF2-40B4-BE49-F238E27FC236}">
                <a16:creationId xmlns:a16="http://schemas.microsoft.com/office/drawing/2014/main" id="{B8C12926-FC9E-4F31-B725-7C013F646DD3}"/>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price calculation visible on screen</a:t>
            </a:r>
          </a:p>
        </p:txBody>
      </p:sp>
      <p:sp>
        <p:nvSpPr>
          <p:cNvPr id="2" name="32">
            <a:extLst xmlns:a="http://schemas.openxmlformats.org/drawingml/2006/main">
              <a:ext uri="{FF2B5EF4-FFF2-40B4-BE49-F238E27FC236}">
                <a16:creationId xmlns:a16="http://schemas.microsoft.com/office/drawing/2014/main" id="{B83439CC-7793-486A-8FBB-042068B78A4C}"/>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32</a:t>
            </a:r>
          </a:p>
        </p:txBody>
      </p:sp>
      <p:pic>
        <p:nvPicPr>
          <p:cNvPr id="3" name="">
            <a:extLst xmlns:a="http://schemas.openxmlformats.org/drawingml/2006/main">
              <a:ext uri="{FF2B5EF4-FFF2-40B4-BE49-F238E27FC236}">
                <a16:creationId xmlns:a16="http://schemas.microsoft.com/office/drawing/2014/main" id="{CAB78E70-D5B5-4ACA-BC50-E27E570C3414}"/>
              </a:ext>
            </a:extLst>
          </p:cNvPr>
          <p:cNvPicPr>
            <a:picLocks xmlns:a="http://schemas.openxmlformats.org/drawingml/2006/main" noChangeAspect="1"/>
          </p:cNvPicPr>
          <p:nvPr/>
        </p:nvPicPr>
        <p:blipFill>
          <a:blip xmlns:r="http://schemas.openxmlformats.org/officeDocument/2006/relationships" xmlns:a="http://schemas.openxmlformats.org/drawingml/2006/main" r:embed="Rddc5384088694a43"/>
          <a:stretch xmlns:a="http://schemas.openxmlformats.org/drawingml/2006/main"/>
        </p:blipFill>
        <p:spPr>
          <a:xfrm xmlns:a="http://schemas.openxmlformats.org/drawingml/2006/main">
            <a:off x="6421236" y="1457325"/>
            <a:ext cx="4816878" cy="4676775"/>
          </a:xfrm>
          <a:prstGeom xmlns:a="http://schemas.openxmlformats.org/drawingml/2006/main" prst="rect">
            <a:avLst/>
          </a:prstGeom>
        </p:spPr>
      </p:pic>
      <p:sp>
        <p:nvSpPr>
          <p:cNvPr id="4" name="₹2,489.27 × 1.10 × 0.98">
            <a:extLst xmlns:a="http://schemas.openxmlformats.org/drawingml/2006/main">
              <a:ext uri="{FF2B5EF4-FFF2-40B4-BE49-F238E27FC236}">
                <a16:creationId xmlns:a16="http://schemas.microsoft.com/office/drawing/2014/main" id="{020C472E-EEB2-4C63-8B23-CD83E618CF33}"/>
              </a:ext>
            </a:extLst>
          </p:cNvPr>
          <p:cNvSpPr>
            <a:spLocks xmlns:a="http://schemas.openxmlformats.org/drawingml/2006/main" noGrp="1"/>
          </p:cNvSpPr>
          <p:nvPr/>
        </p:nvSpPr>
        <p:spPr>
          <a:xfrm xmlns:a="http://schemas.openxmlformats.org/drawingml/2006/main">
            <a:off x="609600" y="1762125"/>
            <a:ext cx="50387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775" b="1">
                <a:solidFill>
                  <a:srgbClr val="173E33"/>
                </a:solidFill>
                <a:latin typeface="Arial"/>
                <a:ea typeface="Arial"/>
                <a:cs typeface="Arial"/>
              </a:defRPr>
            </a:defPPr>
          </a:lstStyle>
          <a:p xmlns:a="http://schemas.openxmlformats.org/drawingml/2006/main">
            <a:pPr algn="l">
              <a:defRPr sz="2775" b="1">
                <a:solidFill>
                  <a:srgbClr val="173E33"/>
                </a:solidFill>
                <a:latin typeface="Arial"/>
                <a:ea typeface="Arial"/>
                <a:cs typeface="Arial"/>
              </a:defRPr>
            </a:pPr>
            <a:r>
              <a:rPr sz="2775" b="1">
                <a:solidFill>
                  <a:srgbClr val="173E33"/>
                </a:solidFill>
                <a:latin typeface="Arial"/>
                <a:ea typeface="Arial"/>
                <a:cs typeface="Arial"/>
              </a:rPr>
              <a:t>₹2,489.27 × 1.10 × 0.98</a:t>
            </a:r>
          </a:p>
        </p:txBody>
      </p:sp>
      <p:sp>
        <p:nvSpPr>
          <p:cNvPr id="5" name="= ₹2,683.43 / quintal">
            <a:extLst xmlns:a="http://schemas.openxmlformats.org/drawingml/2006/main">
              <a:ext uri="{FF2B5EF4-FFF2-40B4-BE49-F238E27FC236}">
                <a16:creationId xmlns:a16="http://schemas.microsoft.com/office/drawing/2014/main" id="{CDF0A483-A51C-4AFF-A245-AA241DD2F93D}"/>
              </a:ext>
            </a:extLst>
          </p:cNvPr>
          <p:cNvSpPr>
            <a:spLocks xmlns:a="http://schemas.openxmlformats.org/drawingml/2006/main" noGrp="1"/>
          </p:cNvSpPr>
          <p:nvPr/>
        </p:nvSpPr>
        <p:spPr>
          <a:xfrm xmlns:a="http://schemas.openxmlformats.org/drawingml/2006/main">
            <a:off x="609600" y="3267075"/>
            <a:ext cx="5038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625" b="1">
                <a:solidFill>
                  <a:srgbClr val="173E33"/>
                </a:solidFill>
                <a:latin typeface="Arial"/>
                <a:ea typeface="Arial"/>
                <a:cs typeface="Arial"/>
              </a:defRPr>
            </a:defPPr>
          </a:lstStyle>
          <a:p xmlns:a="http://schemas.openxmlformats.org/drawingml/2006/main">
            <a:pPr algn="l">
              <a:defRPr sz="2625" b="1">
                <a:solidFill>
                  <a:srgbClr val="173E33"/>
                </a:solidFill>
                <a:latin typeface="Arial"/>
                <a:ea typeface="Arial"/>
                <a:cs typeface="Arial"/>
              </a:defRPr>
            </a:pPr>
            <a:r>
              <a:rPr sz="2625" b="1">
                <a:solidFill>
                  <a:srgbClr val="173E33"/>
                </a:solidFill>
                <a:latin typeface="Arial"/>
                <a:ea typeface="Arial"/>
                <a:cs typeface="Arial"/>
              </a:rPr>
              <a:t>= ₹2,683.43 / quintal</a:t>
            </a:r>
          </a:p>
        </p:txBody>
      </p:sp>
      <p:sp>
        <p:nvSpPr>
          <p:cNvPr id="6" name="100 quintals&#10;= ₹2,68,343">
            <a:extLst xmlns:a="http://schemas.openxmlformats.org/drawingml/2006/main">
              <a:ext uri="{FF2B5EF4-FFF2-40B4-BE49-F238E27FC236}">
                <a16:creationId xmlns:a16="http://schemas.microsoft.com/office/drawing/2014/main" id="{98577562-2769-4497-BCF8-1BFE877D3797}"/>
              </a:ext>
            </a:extLst>
          </p:cNvPr>
          <p:cNvSpPr>
            <a:spLocks xmlns:a="http://schemas.openxmlformats.org/drawingml/2006/main" noGrp="1"/>
          </p:cNvSpPr>
          <p:nvPr/>
        </p:nvSpPr>
        <p:spPr>
          <a:xfrm xmlns:a="http://schemas.openxmlformats.org/drawingml/2006/main">
            <a:off x="609600" y="4438650"/>
            <a:ext cx="50387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550" b="0">
                <a:solidFill>
                  <a:srgbClr val="51615B"/>
                </a:solidFill>
                <a:latin typeface="Arial"/>
                <a:ea typeface="Arial"/>
                <a:cs typeface="Arial"/>
              </a:defRPr>
            </a:defPPr>
          </a:lstStyle>
          <a:p xmlns:a="http://schemas.openxmlformats.org/drawingml/2006/main">
            <a:pPr algn="l">
              <a:defRPr sz="2550" b="0">
                <a:solidFill>
                  <a:srgbClr val="51615B"/>
                </a:solidFill>
                <a:latin typeface="Arial"/>
                <a:ea typeface="Arial"/>
                <a:cs typeface="Arial"/>
              </a:defRPr>
            </a:pPr>
            <a:r>
              <a:rPr sz="2550" b="0">
                <a:solidFill>
                  <a:srgbClr val="51615B"/>
                </a:solidFill>
                <a:latin typeface="Arial"/>
                <a:ea typeface="Arial"/>
                <a:cs typeface="Arial"/>
              </a:rPr>
              <a:t>100 quintals</a:t>
            </a:r>
          </a:p>
          <a:p xmlns:a="http://schemas.openxmlformats.org/drawingml/2006/main">
            <a:pPr algn="l">
              <a:defRPr sz="2550" b="0">
                <a:solidFill>
                  <a:srgbClr val="51615B"/>
                </a:solidFill>
                <a:latin typeface="Arial"/>
                <a:ea typeface="Arial"/>
                <a:cs typeface="Arial"/>
              </a:defRPr>
            </a:pPr>
            <a:r>
              <a:rPr sz="2550" b="0">
                <a:solidFill>
                  <a:srgbClr val="51615B"/>
                </a:solidFill>
                <a:latin typeface="Arial"/>
                <a:ea typeface="Arial"/>
                <a:cs typeface="Arial"/>
              </a:rPr>
              <a:t>= ₹2,68,343</a:t>
            </a:r>
          </a:p>
        </p:txBody>
      </p:sp>
      <p:sp>
        <p:nvSpPr>
          <p:cNvPr id="7" name="Observed website result. Local prepared price history k">
            <a:extLst xmlns:a="http://schemas.openxmlformats.org/drawingml/2006/main">
              <a:ext uri="{FF2B5EF4-FFF2-40B4-BE49-F238E27FC236}">
                <a16:creationId xmlns:a16="http://schemas.microsoft.com/office/drawing/2014/main" id="{A1DB8125-95C4-4DBA-BD71-99E44BAD2EBD}"/>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Observed website result. Local prepared price history keeps the review independent of feed availability.</a:t>
            </a:r>
          </a:p>
        </p:txBody>
      </p:sp>
    </p:spTree>
    <p:extLst>
      <p:ext uri="{BB962C8B-B14F-4D97-AF65-F5344CB8AC3E}">
        <p14:creationId xmlns:p14="http://schemas.microsoft.com/office/powerpoint/2010/main" val="1116594865"/>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Results — marketplace state is inspectable">
            <a:extLst xmlns:a="http://schemas.openxmlformats.org/drawingml/2006/main">
              <a:ext uri="{FF2B5EF4-FFF2-40B4-BE49-F238E27FC236}">
                <a16:creationId xmlns:a16="http://schemas.microsoft.com/office/drawing/2014/main" id="{0915971C-3E16-46BD-BC9E-E149B414E9E9}"/>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Results — marketplace state is inspectable</a:t>
            </a:r>
          </a:p>
        </p:txBody>
      </p:sp>
      <p:sp>
        <p:nvSpPr>
          <p:cNvPr id="2" name="33">
            <a:extLst xmlns:a="http://schemas.openxmlformats.org/drawingml/2006/main">
              <a:ext uri="{FF2B5EF4-FFF2-40B4-BE49-F238E27FC236}">
                <a16:creationId xmlns:a16="http://schemas.microsoft.com/office/drawing/2014/main" id="{83BD1028-18D8-4B50-A693-6EFACB0F06B1}"/>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33</a:t>
            </a:r>
          </a:p>
        </p:txBody>
      </p:sp>
      <p:pic>
        <p:nvPicPr>
          <p:cNvPr id="3" name="">
            <a:extLst xmlns:a="http://schemas.openxmlformats.org/drawingml/2006/main">
              <a:ext uri="{FF2B5EF4-FFF2-40B4-BE49-F238E27FC236}">
                <a16:creationId xmlns:a16="http://schemas.microsoft.com/office/drawing/2014/main" id="{F44CE03F-E697-464D-8A42-454BAB5C6C69}"/>
              </a:ext>
            </a:extLst>
          </p:cNvPr>
          <p:cNvPicPr>
            <a:picLocks xmlns:a="http://schemas.openxmlformats.org/drawingml/2006/main" noChangeAspect="1"/>
          </p:cNvPicPr>
          <p:nvPr/>
        </p:nvPicPr>
        <p:blipFill>
          <a:blip xmlns:r="http://schemas.openxmlformats.org/officeDocument/2006/relationships" xmlns:a="http://schemas.openxmlformats.org/drawingml/2006/main" r:embed="Redf3c5d624e54d01"/>
          <a:stretch xmlns:a="http://schemas.openxmlformats.org/drawingml/2006/main"/>
        </p:blipFill>
        <p:spPr>
          <a:xfrm xmlns:a="http://schemas.openxmlformats.org/drawingml/2006/main">
            <a:off x="6421236" y="1457325"/>
            <a:ext cx="4816878" cy="4676775"/>
          </a:xfrm>
          <a:prstGeom xmlns:a="http://schemas.openxmlformats.org/drawingml/2006/main" prst="rect">
            <a:avLst/>
          </a:prstGeom>
        </p:spPr>
      </p:pic>
      <p:sp>
        <p:nvSpPr>
          <p:cNvPr id="4" name="23 listings">
            <a:extLst xmlns:a="http://schemas.openxmlformats.org/drawingml/2006/main">
              <a:ext uri="{FF2B5EF4-FFF2-40B4-BE49-F238E27FC236}">
                <a16:creationId xmlns:a16="http://schemas.microsoft.com/office/drawing/2014/main" id="{BF314843-1060-41DA-AB14-601E61FB5037}"/>
              </a:ext>
            </a:extLst>
          </p:cNvPr>
          <p:cNvSpPr>
            <a:spLocks xmlns:a="http://schemas.openxmlformats.org/drawingml/2006/main" noGrp="1"/>
          </p:cNvSpPr>
          <p:nvPr/>
        </p:nvSpPr>
        <p:spPr>
          <a:xfrm xmlns:a="http://schemas.openxmlformats.org/drawingml/2006/main">
            <a:off x="609600" y="16668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a:solidFill>
                  <a:srgbClr val="173E33"/>
                </a:solidFill>
                <a:latin typeface="Arial"/>
                <a:ea typeface="Arial"/>
                <a:cs typeface="Arial"/>
              </a:defRPr>
            </a:defPPr>
          </a:lstStyle>
          <a:p xmlns:a="http://schemas.openxmlformats.org/drawingml/2006/main">
            <a:pPr algn="l">
              <a:defRPr sz="2325" b="1">
                <a:solidFill>
                  <a:srgbClr val="173E33"/>
                </a:solidFill>
                <a:latin typeface="Arial"/>
                <a:ea typeface="Arial"/>
                <a:cs typeface="Arial"/>
              </a:defRPr>
            </a:pPr>
            <a:r>
              <a:rPr sz="2325" b="1">
                <a:solidFill>
                  <a:srgbClr val="173E33"/>
                </a:solidFill>
                <a:latin typeface="Arial"/>
                <a:ea typeface="Arial"/>
                <a:cs typeface="Arial"/>
              </a:rPr>
              <a:t>23 listings</a:t>
            </a:r>
          </a:p>
        </p:txBody>
      </p:sp>
      <p:sp>
        <p:nvSpPr>
          <p:cNvPr id="5" name="Across all statuses; includes pending real-photo cases.">
            <a:extLst xmlns:a="http://schemas.openxmlformats.org/drawingml/2006/main">
              <a:ext uri="{FF2B5EF4-FFF2-40B4-BE49-F238E27FC236}">
                <a16:creationId xmlns:a16="http://schemas.microsoft.com/office/drawing/2014/main" id="{B980C67F-E49D-4174-85BD-93991CC957E4}"/>
              </a:ext>
            </a:extLst>
          </p:cNvPr>
          <p:cNvSpPr>
            <a:spLocks xmlns:a="http://schemas.openxmlformats.org/drawingml/2006/main" noGrp="1"/>
          </p:cNvSpPr>
          <p:nvPr/>
        </p:nvSpPr>
        <p:spPr>
          <a:xfrm xmlns:a="http://schemas.openxmlformats.org/drawingml/2006/main">
            <a:off x="609600" y="207645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0">
                <a:solidFill>
                  <a:srgbClr val="51615B"/>
                </a:solidFill>
                <a:latin typeface="Arial"/>
                <a:ea typeface="Arial"/>
                <a:cs typeface="Arial"/>
              </a:defRPr>
            </a:defPPr>
          </a:lstStyle>
          <a:p xmlns:a="http://schemas.openxmlformats.org/drawingml/2006/main">
            <a:pPr algn="l">
              <a:defRPr sz="2175" b="0">
                <a:solidFill>
                  <a:srgbClr val="51615B"/>
                </a:solidFill>
                <a:latin typeface="Arial"/>
                <a:ea typeface="Arial"/>
                <a:cs typeface="Arial"/>
              </a:defRPr>
            </a:pPr>
            <a:r>
              <a:rPr sz="2175" b="0">
                <a:solidFill>
                  <a:srgbClr val="51615B"/>
                </a:solidFill>
                <a:latin typeface="Arial"/>
                <a:ea typeface="Arial"/>
                <a:cs typeface="Arial"/>
              </a:rPr>
              <a:t>Across all statuses; includes pending real-photo cases.</a:t>
            </a:r>
          </a:p>
        </p:txBody>
      </p:sp>
      <p:sp>
        <p:nvSpPr>
          <p:cNvPr id="6" name="6 orders">
            <a:extLst xmlns:a="http://schemas.openxmlformats.org/drawingml/2006/main">
              <a:ext uri="{FF2B5EF4-FFF2-40B4-BE49-F238E27FC236}">
                <a16:creationId xmlns:a16="http://schemas.microsoft.com/office/drawing/2014/main" id="{B67AFD14-39F6-418D-9B01-260B69AF35ED}"/>
              </a:ext>
            </a:extLst>
          </p:cNvPr>
          <p:cNvSpPr>
            <a:spLocks xmlns:a="http://schemas.openxmlformats.org/drawingml/2006/main" noGrp="1"/>
          </p:cNvSpPr>
          <p:nvPr/>
        </p:nvSpPr>
        <p:spPr>
          <a:xfrm xmlns:a="http://schemas.openxmlformats.org/drawingml/2006/main">
            <a:off x="609600" y="30480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a:solidFill>
                  <a:srgbClr val="173E33"/>
                </a:solidFill>
                <a:latin typeface="Arial"/>
                <a:ea typeface="Arial"/>
                <a:cs typeface="Arial"/>
              </a:defRPr>
            </a:defPPr>
          </a:lstStyle>
          <a:p xmlns:a="http://schemas.openxmlformats.org/drawingml/2006/main">
            <a:pPr algn="l">
              <a:defRPr sz="2325" b="1">
                <a:solidFill>
                  <a:srgbClr val="173E33"/>
                </a:solidFill>
                <a:latin typeface="Arial"/>
                <a:ea typeface="Arial"/>
                <a:cs typeface="Arial"/>
              </a:defRPr>
            </a:pPr>
            <a:r>
              <a:rPr sz="2325" b="1">
                <a:solidFill>
                  <a:srgbClr val="173E33"/>
                </a:solidFill>
                <a:latin typeface="Arial"/>
                <a:ea typeface="Arial"/>
                <a:cs typeface="Arial"/>
              </a:rPr>
              <a:t>6 orders</a:t>
            </a:r>
          </a:p>
        </p:txBody>
      </p:sp>
      <p:sp>
        <p:nvSpPr>
          <p:cNvPr id="7" name="Includes the newly confirmed presentation order.">
            <a:extLst xmlns:a="http://schemas.openxmlformats.org/drawingml/2006/main">
              <a:ext uri="{FF2B5EF4-FFF2-40B4-BE49-F238E27FC236}">
                <a16:creationId xmlns:a16="http://schemas.microsoft.com/office/drawing/2014/main" id="{CE63B788-E9BB-4565-BB2C-D337DEB5809E}"/>
              </a:ext>
            </a:extLst>
          </p:cNvPr>
          <p:cNvSpPr>
            <a:spLocks xmlns:a="http://schemas.openxmlformats.org/drawingml/2006/main" noGrp="1"/>
          </p:cNvSpPr>
          <p:nvPr/>
        </p:nvSpPr>
        <p:spPr>
          <a:xfrm xmlns:a="http://schemas.openxmlformats.org/drawingml/2006/main">
            <a:off x="609600" y="345757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0">
                <a:solidFill>
                  <a:srgbClr val="51615B"/>
                </a:solidFill>
                <a:latin typeface="Arial"/>
                <a:ea typeface="Arial"/>
                <a:cs typeface="Arial"/>
              </a:defRPr>
            </a:defPPr>
          </a:lstStyle>
          <a:p xmlns:a="http://schemas.openxmlformats.org/drawingml/2006/main">
            <a:pPr algn="l">
              <a:defRPr sz="2175" b="0">
                <a:solidFill>
                  <a:srgbClr val="51615B"/>
                </a:solidFill>
                <a:latin typeface="Arial"/>
                <a:ea typeface="Arial"/>
                <a:cs typeface="Arial"/>
              </a:defRPr>
            </a:pPr>
            <a:r>
              <a:rPr sz="2175" b="0">
                <a:solidFill>
                  <a:srgbClr val="51615B"/>
                </a:solidFill>
                <a:latin typeface="Arial"/>
                <a:ea typeface="Arial"/>
                <a:cs typeface="Arial"/>
              </a:rPr>
              <a:t>Includes the newly confirmed presentation order.</a:t>
            </a:r>
          </a:p>
        </p:txBody>
      </p:sp>
      <p:sp>
        <p:nvSpPr>
          <p:cNvPr id="8" name="8 people">
            <a:extLst xmlns:a="http://schemas.openxmlformats.org/drawingml/2006/main">
              <a:ext uri="{FF2B5EF4-FFF2-40B4-BE49-F238E27FC236}">
                <a16:creationId xmlns:a16="http://schemas.microsoft.com/office/drawing/2014/main" id="{AD473539-C9FC-4175-BD43-DBC29A5EF02A}"/>
              </a:ext>
            </a:extLst>
          </p:cNvPr>
          <p:cNvSpPr>
            <a:spLocks xmlns:a="http://schemas.openxmlformats.org/drawingml/2006/main" noGrp="1"/>
          </p:cNvSpPr>
          <p:nvPr/>
        </p:nvSpPr>
        <p:spPr>
          <a:xfrm xmlns:a="http://schemas.openxmlformats.org/drawingml/2006/main">
            <a:off x="609600" y="4429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325" b="1">
                <a:solidFill>
                  <a:srgbClr val="173E33"/>
                </a:solidFill>
                <a:latin typeface="Arial"/>
                <a:ea typeface="Arial"/>
                <a:cs typeface="Arial"/>
              </a:defRPr>
            </a:defPPr>
          </a:lstStyle>
          <a:p xmlns:a="http://schemas.openxmlformats.org/drawingml/2006/main">
            <a:pPr algn="l">
              <a:defRPr sz="2325" b="1">
                <a:solidFill>
                  <a:srgbClr val="173E33"/>
                </a:solidFill>
                <a:latin typeface="Arial"/>
                <a:ea typeface="Arial"/>
                <a:cs typeface="Arial"/>
              </a:defRPr>
            </a:pPr>
            <a:r>
              <a:rPr sz="2325" b="1">
                <a:solidFill>
                  <a:srgbClr val="173E33"/>
                </a:solidFill>
                <a:latin typeface="Arial"/>
                <a:ea typeface="Arial"/>
                <a:cs typeface="Arial"/>
              </a:rPr>
              <a:t>8 people</a:t>
            </a:r>
          </a:p>
        </p:txBody>
      </p:sp>
      <p:sp>
        <p:nvSpPr>
          <p:cNvPr id="9" name="Prepared buyer, seller and staff accounts.">
            <a:extLst xmlns:a="http://schemas.openxmlformats.org/drawingml/2006/main">
              <a:ext uri="{FF2B5EF4-FFF2-40B4-BE49-F238E27FC236}">
                <a16:creationId xmlns:a16="http://schemas.microsoft.com/office/drawing/2014/main" id="{95CBB4F2-3267-4B28-8837-E90CC921A786}"/>
              </a:ext>
            </a:extLst>
          </p:cNvPr>
          <p:cNvSpPr>
            <a:spLocks xmlns:a="http://schemas.openxmlformats.org/drawingml/2006/main" noGrp="1"/>
          </p:cNvSpPr>
          <p:nvPr/>
        </p:nvSpPr>
        <p:spPr>
          <a:xfrm xmlns:a="http://schemas.openxmlformats.org/drawingml/2006/main">
            <a:off x="609600" y="4838700"/>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0">
                <a:solidFill>
                  <a:srgbClr val="51615B"/>
                </a:solidFill>
                <a:latin typeface="Arial"/>
                <a:ea typeface="Arial"/>
                <a:cs typeface="Arial"/>
              </a:defRPr>
            </a:defPPr>
          </a:lstStyle>
          <a:p xmlns:a="http://schemas.openxmlformats.org/drawingml/2006/main">
            <a:pPr algn="l">
              <a:defRPr sz="2175" b="0">
                <a:solidFill>
                  <a:srgbClr val="51615B"/>
                </a:solidFill>
                <a:latin typeface="Arial"/>
                <a:ea typeface="Arial"/>
                <a:cs typeface="Arial"/>
              </a:defRPr>
            </a:pPr>
            <a:r>
              <a:rPr sz="2175" b="0">
                <a:solidFill>
                  <a:srgbClr val="51615B"/>
                </a:solidFill>
                <a:latin typeface="Arial"/>
                <a:ea typeface="Arial"/>
                <a:cs typeface="Arial"/>
              </a:rPr>
              <a:t>Prepared buyer, seller and staff accounts.</a:t>
            </a:r>
          </a:p>
        </p:txBody>
      </p:sp>
      <p:sp>
        <p:nvSpPr>
          <p:cNvPr id="10" name="Snapshot of the local academic demonstration database, ">
            <a:extLst xmlns:a="http://schemas.openxmlformats.org/drawingml/2006/main">
              <a:ext uri="{FF2B5EF4-FFF2-40B4-BE49-F238E27FC236}">
                <a16:creationId xmlns:a16="http://schemas.microsoft.com/office/drawing/2014/main" id="{A8662A21-AB73-443B-AA19-9458837327E5}"/>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Snapshot of the local academic demonstration database, not production usage statistics.</a:t>
            </a:r>
          </a:p>
        </p:txBody>
      </p:sp>
    </p:spTree>
    <p:extLst>
      <p:ext uri="{BB962C8B-B14F-4D97-AF65-F5344CB8AC3E}">
        <p14:creationId xmlns:p14="http://schemas.microsoft.com/office/powerpoint/2010/main" val="1414394758"/>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imitations">
            <a:extLst xmlns:a="http://schemas.openxmlformats.org/drawingml/2006/main">
              <a:ext uri="{FF2B5EF4-FFF2-40B4-BE49-F238E27FC236}">
                <a16:creationId xmlns:a16="http://schemas.microsoft.com/office/drawing/2014/main" id="{FD7840E6-D630-4474-B9A6-ED82F8E49F26}"/>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Limitations</a:t>
            </a:r>
          </a:p>
        </p:txBody>
      </p:sp>
      <p:sp>
        <p:nvSpPr>
          <p:cNvPr id="2" name="34">
            <a:extLst xmlns:a="http://schemas.openxmlformats.org/drawingml/2006/main">
              <a:ext uri="{FF2B5EF4-FFF2-40B4-BE49-F238E27FC236}">
                <a16:creationId xmlns:a16="http://schemas.microsoft.com/office/drawing/2014/main" id="{B386FD47-290E-4BC8-AE19-26A537C3222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34</a:t>
            </a:r>
          </a:p>
        </p:txBody>
      </p:sp>
      <p:sp>
        <p:nvSpPr>
          <p:cNvPr id="3" name="Model reliability">
            <a:extLst xmlns:a="http://schemas.openxmlformats.org/drawingml/2006/main">
              <a:ext uri="{FF2B5EF4-FFF2-40B4-BE49-F238E27FC236}">
                <a16:creationId xmlns:a16="http://schemas.microsoft.com/office/drawing/2014/main" id="{4F9C768D-2F3F-4DDF-A114-440DAAC89065}"/>
              </a:ext>
            </a:extLst>
          </p:cNvPr>
          <p:cNvSpPr>
            <a:spLocks xmlns:a="http://schemas.openxmlformats.org/drawingml/2006/main" noGrp="1"/>
          </p:cNvSpPr>
          <p:nvPr/>
        </p:nvSpPr>
        <p:spPr>
          <a:xfrm xmlns:a="http://schemas.openxmlformats.org/drawingml/2006/main">
            <a:off x="609600" y="1514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Model reliability</a:t>
            </a:r>
          </a:p>
        </p:txBody>
      </p:sp>
      <p:sp>
        <p:nvSpPr>
          <p:cNvPr id="4" name="Low confidence, weak recalls and external-source mismat">
            <a:extLst xmlns:a="http://schemas.openxmlformats.org/drawingml/2006/main">
              <a:ext uri="{FF2B5EF4-FFF2-40B4-BE49-F238E27FC236}">
                <a16:creationId xmlns:a16="http://schemas.microsoft.com/office/drawing/2014/main" id="{3B983F1B-3F34-4A2F-B58D-13E49514B5F4}"/>
              </a:ext>
            </a:extLst>
          </p:cNvPr>
          <p:cNvSpPr>
            <a:spLocks xmlns:a="http://schemas.openxmlformats.org/drawingml/2006/main" noGrp="1"/>
          </p:cNvSpPr>
          <p:nvPr/>
        </p:nvSpPr>
        <p:spPr>
          <a:xfrm xmlns:a="http://schemas.openxmlformats.org/drawingml/2006/main">
            <a:off x="609600" y="19240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Low confidence, weak recalls and external-source mismatches require human review.</a:t>
            </a:r>
          </a:p>
        </p:txBody>
      </p:sp>
      <p:sp>
        <p:nvSpPr>
          <p:cNvPr id="5" name="Measurement scope">
            <a:extLst xmlns:a="http://schemas.openxmlformats.org/drawingml/2006/main">
              <a:ext uri="{FF2B5EF4-FFF2-40B4-BE49-F238E27FC236}">
                <a16:creationId xmlns:a16="http://schemas.microsoft.com/office/drawing/2014/main" id="{61E5379F-2C64-4349-9FA5-67C2A5F4CCD3}"/>
              </a:ext>
            </a:extLst>
          </p:cNvPr>
          <p:cNvSpPr>
            <a:spLocks xmlns:a="http://schemas.openxmlformats.org/drawingml/2006/main" noGrp="1"/>
          </p:cNvSpPr>
          <p:nvPr/>
        </p:nvSpPr>
        <p:spPr>
          <a:xfrm xmlns:a="http://schemas.openxmlformats.org/drawingml/2006/main">
            <a:off x="609600" y="26289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Measurement scope</a:t>
            </a:r>
          </a:p>
        </p:txBody>
      </p:sp>
      <p:sp>
        <p:nvSpPr>
          <p:cNvPr id="6" name="Photos support visible quality; moisture and GSM are no">
            <a:extLst xmlns:a="http://schemas.openxmlformats.org/drawingml/2006/main">
              <a:ext uri="{FF2B5EF4-FFF2-40B4-BE49-F238E27FC236}">
                <a16:creationId xmlns:a16="http://schemas.microsoft.com/office/drawing/2014/main" id="{B9DDC3F2-5600-476F-B19E-ABC29398D020}"/>
              </a:ext>
            </a:extLst>
          </p:cNvPr>
          <p:cNvSpPr>
            <a:spLocks xmlns:a="http://schemas.openxmlformats.org/drawingml/2006/main" noGrp="1"/>
          </p:cNvSpPr>
          <p:nvPr/>
        </p:nvSpPr>
        <p:spPr>
          <a:xfrm xmlns:a="http://schemas.openxmlformats.org/drawingml/2006/main">
            <a:off x="609600" y="30384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Photos support visible quality; moisture and GSM are not inferred.</a:t>
            </a:r>
          </a:p>
        </p:txBody>
      </p:sp>
      <p:sp>
        <p:nvSpPr>
          <p:cNvPr id="7" name="Demonstration scope">
            <a:extLst xmlns:a="http://schemas.openxmlformats.org/drawingml/2006/main">
              <a:ext uri="{FF2B5EF4-FFF2-40B4-BE49-F238E27FC236}">
                <a16:creationId xmlns:a16="http://schemas.microsoft.com/office/drawing/2014/main" id="{76AAE531-7848-4E46-BE02-F7419C957B08}"/>
              </a:ext>
            </a:extLst>
          </p:cNvPr>
          <p:cNvSpPr>
            <a:spLocks xmlns:a="http://schemas.openxmlformats.org/drawingml/2006/main" noGrp="1"/>
          </p:cNvSpPr>
          <p:nvPr/>
        </p:nvSpPr>
        <p:spPr>
          <a:xfrm xmlns:a="http://schemas.openxmlformats.org/drawingml/2006/main">
            <a:off x="609600" y="3743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Demonstration scope</a:t>
            </a:r>
          </a:p>
        </p:txBody>
      </p:sp>
      <p:sp>
        <p:nvSpPr>
          <p:cNvPr id="8" name="Small input rehearsal, local data and prepared price hi">
            <a:extLst xmlns:a="http://schemas.openxmlformats.org/drawingml/2006/main">
              <a:ext uri="{FF2B5EF4-FFF2-40B4-BE49-F238E27FC236}">
                <a16:creationId xmlns:a16="http://schemas.microsoft.com/office/drawing/2014/main" id="{890F8FA8-A3C0-4267-A78D-14D1719F3DDE}"/>
              </a:ext>
            </a:extLst>
          </p:cNvPr>
          <p:cNvSpPr>
            <a:spLocks xmlns:a="http://schemas.openxmlformats.org/drawingml/2006/main" noGrp="1"/>
          </p:cNvSpPr>
          <p:nvPr/>
        </p:nvSpPr>
        <p:spPr>
          <a:xfrm xmlns:a="http://schemas.openxmlformats.org/drawingml/2006/main">
            <a:off x="609600" y="41529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Small input rehearsal, local data and prepared price history.</a:t>
            </a:r>
          </a:p>
        </p:txBody>
      </p:sp>
      <p:sp>
        <p:nvSpPr>
          <p:cNvPr id="9" name="Transaction scope">
            <a:extLst xmlns:a="http://schemas.openxmlformats.org/drawingml/2006/main">
              <a:ext uri="{FF2B5EF4-FFF2-40B4-BE49-F238E27FC236}">
                <a16:creationId xmlns:a16="http://schemas.microsoft.com/office/drawing/2014/main" id="{2C0B7D2E-7B66-4E32-B254-DAD8EC6AB2A2}"/>
              </a:ext>
            </a:extLst>
          </p:cNvPr>
          <p:cNvSpPr>
            <a:spLocks xmlns:a="http://schemas.openxmlformats.org/drawingml/2006/main" noGrp="1"/>
          </p:cNvSpPr>
          <p:nvPr/>
        </p:nvSpPr>
        <p:spPr>
          <a:xfrm xmlns:a="http://schemas.openxmlformats.org/drawingml/2006/main">
            <a:off x="609600" y="4857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Transaction scope</a:t>
            </a:r>
          </a:p>
        </p:txBody>
      </p:sp>
      <p:sp>
        <p:nvSpPr>
          <p:cNvPr id="10" name="Orders and complaints are recorded; payments and physic">
            <a:extLst xmlns:a="http://schemas.openxmlformats.org/drawingml/2006/main">
              <a:ext uri="{FF2B5EF4-FFF2-40B4-BE49-F238E27FC236}">
                <a16:creationId xmlns:a16="http://schemas.microsoft.com/office/drawing/2014/main" id="{BD54001C-AC5E-4656-BC69-A53D504E340B}"/>
              </a:ext>
            </a:extLst>
          </p:cNvPr>
          <p:cNvSpPr>
            <a:spLocks xmlns:a="http://schemas.openxmlformats.org/drawingml/2006/main" noGrp="1"/>
          </p:cNvSpPr>
          <p:nvPr/>
        </p:nvSpPr>
        <p:spPr>
          <a:xfrm xmlns:a="http://schemas.openxmlformats.org/drawingml/2006/main">
            <a:off x="609600" y="5267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51615B"/>
                </a:solidFill>
                <a:latin typeface="Arial"/>
                <a:ea typeface="Arial"/>
                <a:cs typeface="Arial"/>
              </a:defRPr>
            </a:defPPr>
          </a:lstStyle>
          <a:p xmlns:a="http://schemas.openxmlformats.org/drawingml/2006/main">
            <a:pPr algn="l">
              <a:defRPr sz="1950" b="0">
                <a:solidFill>
                  <a:srgbClr val="51615B"/>
                </a:solidFill>
                <a:latin typeface="Arial"/>
                <a:ea typeface="Arial"/>
                <a:cs typeface="Arial"/>
              </a:defRPr>
            </a:pPr>
            <a:r>
              <a:rPr sz="1950" b="0">
                <a:solidFill>
                  <a:srgbClr val="51615B"/>
                </a:solidFill>
                <a:latin typeface="Arial"/>
                <a:ea typeface="Arial"/>
                <a:cs typeface="Arial"/>
              </a:rPr>
              <a:t>Orders and complaints are recorded; payments and physical delivery are not demonstrated.</a:t>
            </a:r>
          </a:p>
        </p:txBody>
      </p:sp>
    </p:spTree>
    <p:extLst>
      <p:ext uri="{BB962C8B-B14F-4D97-AF65-F5344CB8AC3E}">
        <p14:creationId xmlns:p14="http://schemas.microsoft.com/office/powerpoint/2010/main" val="1526913946"/>
      </p:ext>
    </p:extLst>
  </p:cSld>
</p:sld>
</file>

<file path=ppt/slides/slide35.xml><?xml version="1.0" encoding="utf-8"?>
<p:sld xmlns:p="http://schemas.openxmlformats.org/presentationml/2006/main">
  <p:cSld>
    <p:bg>
      <p:bgPr>
        <a:solidFill xmlns:a="http://schemas.openxmlformats.org/drawingml/2006/main">
          <a:srgbClr val="173E33"/>
        </a:solidFill>
      </p:bgPr>
    </p:bg>
    <p:spTree>
      <p:nvGrpSpPr>
        <p:cNvPr id="1" name=""/>
        <p:cNvGrpSpPr/>
        <p:nvPr/>
      </p:nvGrpSpPr>
      <p:grpSpPr>
        <a:xfrm xmlns:a="http://schemas.openxmlformats.org/drawingml/2006/main"/>
      </p:grpSpPr>
      <p:sp>
        <p:nvSpPr>
          <p:cNvPr id="8" name="Conclusions">
            <a:extLst xmlns:a="http://schemas.openxmlformats.org/drawingml/2006/main">
              <a:ext uri="{FF2B5EF4-FFF2-40B4-BE49-F238E27FC236}">
                <a16:creationId xmlns:a16="http://schemas.microsoft.com/office/drawing/2014/main" id="{FA029B99-9F76-49DB-B3BE-6C51D24E6A75}"/>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F7F5EF"/>
                </a:solidFill>
                <a:latin typeface="Arial"/>
                <a:ea typeface="Arial"/>
                <a:cs typeface="Arial"/>
              </a:defRPr>
            </a:defPPr>
          </a:lstStyle>
          <a:p xmlns:a="http://schemas.openxmlformats.org/drawingml/2006/main">
            <a:pPr algn="l">
              <a:defRPr sz="3300" b="1">
                <a:solidFill>
                  <a:srgbClr val="F7F5EF"/>
                </a:solidFill>
                <a:latin typeface="Arial"/>
                <a:ea typeface="Arial"/>
                <a:cs typeface="Arial"/>
              </a:defRPr>
            </a:pPr>
            <a:r>
              <a:rPr sz="3300" b="1">
                <a:solidFill>
                  <a:srgbClr val="F7F5EF"/>
                </a:solidFill>
                <a:latin typeface="Arial"/>
                <a:ea typeface="Arial"/>
                <a:cs typeface="Arial"/>
              </a:rPr>
              <a:t>Conclusions</a:t>
            </a:r>
          </a:p>
        </p:txBody>
      </p:sp>
      <p:sp>
        <p:nvSpPr>
          <p:cNvPr id="2" name="35">
            <a:extLst xmlns:a="http://schemas.openxmlformats.org/drawingml/2006/main">
              <a:ext uri="{FF2B5EF4-FFF2-40B4-BE49-F238E27FC236}">
                <a16:creationId xmlns:a16="http://schemas.microsoft.com/office/drawing/2014/main" id="{A30D89A8-6CD6-4A9F-A175-C47F363088B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B9C7BE"/>
                </a:solidFill>
                <a:latin typeface="Arial"/>
                <a:ea typeface="Arial"/>
                <a:cs typeface="Arial"/>
              </a:defRPr>
            </a:defPPr>
          </a:lstStyle>
          <a:p xmlns:a="http://schemas.openxmlformats.org/drawingml/2006/main">
            <a:pPr algn="r">
              <a:defRPr sz="1125" b="0">
                <a:solidFill>
                  <a:srgbClr val="B9C7BE"/>
                </a:solidFill>
                <a:latin typeface="Arial"/>
                <a:ea typeface="Arial"/>
                <a:cs typeface="Arial"/>
              </a:defRPr>
            </a:pPr>
            <a:r>
              <a:rPr sz="1125" b="0">
                <a:solidFill>
                  <a:srgbClr val="B9C7BE"/>
                </a:solidFill>
                <a:latin typeface="Arial"/>
                <a:ea typeface="Arial"/>
                <a:cs typeface="Arial"/>
              </a:rPr>
              <a:t>35</a:t>
            </a:r>
          </a:p>
        </p:txBody>
      </p:sp>
      <p:sp>
        <p:nvSpPr>
          <p:cNvPr id="3" name="An implemented workflow,&#10;with quality decisions open to">
            <a:extLst xmlns:a="http://schemas.openxmlformats.org/drawingml/2006/main">
              <a:ext uri="{FF2B5EF4-FFF2-40B4-BE49-F238E27FC236}">
                <a16:creationId xmlns:a16="http://schemas.microsoft.com/office/drawing/2014/main" id="{5BFBD5D3-6C9A-4C0A-9DD4-77BB3367742B}"/>
              </a:ext>
            </a:extLst>
          </p:cNvPr>
          <p:cNvSpPr>
            <a:spLocks xmlns:a="http://schemas.openxmlformats.org/drawingml/2006/main" noGrp="1"/>
          </p:cNvSpPr>
          <p:nvPr/>
        </p:nvSpPr>
        <p:spPr>
          <a:xfrm xmlns:a="http://schemas.openxmlformats.org/drawingml/2006/main">
            <a:off x="609600" y="1638300"/>
            <a:ext cx="106870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675" b="1">
                <a:solidFill>
                  <a:srgbClr val="F7F5EF"/>
                </a:solidFill>
                <a:latin typeface="Arial"/>
                <a:ea typeface="Arial"/>
                <a:cs typeface="Arial"/>
              </a:defRPr>
            </a:defPPr>
          </a:lstStyle>
          <a:p xmlns:a="http://schemas.openxmlformats.org/drawingml/2006/main">
            <a:pPr algn="l">
              <a:defRPr sz="3675" b="1">
                <a:solidFill>
                  <a:srgbClr val="F7F5EF"/>
                </a:solidFill>
                <a:latin typeface="Arial"/>
                <a:ea typeface="Arial"/>
                <a:cs typeface="Arial"/>
              </a:defRPr>
            </a:pPr>
            <a:r>
              <a:rPr sz="3675" b="1">
                <a:solidFill>
                  <a:srgbClr val="F7F5EF"/>
                </a:solidFill>
                <a:latin typeface="Arial"/>
                <a:ea typeface="Arial"/>
                <a:cs typeface="Arial"/>
              </a:rPr>
              <a:t>An implemented workflow,</a:t>
            </a:r>
          </a:p>
          <a:p xmlns:a="http://schemas.openxmlformats.org/drawingml/2006/main">
            <a:pPr algn="l">
              <a:defRPr sz="3675" b="1">
                <a:solidFill>
                  <a:srgbClr val="F7F5EF"/>
                </a:solidFill>
                <a:latin typeface="Arial"/>
                <a:ea typeface="Arial"/>
                <a:cs typeface="Arial"/>
              </a:defRPr>
            </a:pPr>
            <a:r>
              <a:rPr sz="3675" b="1">
                <a:solidFill>
                  <a:srgbClr val="F7F5EF"/>
                </a:solidFill>
                <a:latin typeface="Arial"/>
                <a:ea typeface="Arial"/>
                <a:cs typeface="Arial"/>
              </a:rPr>
              <a:t>with quality decisions open to review.</a:t>
            </a:r>
          </a:p>
        </p:txBody>
      </p:sp>
      <p:sp>
        <p:nvSpPr>
          <p:cNvPr id="4" name="Demonstrated">
            <a:extLst xmlns:a="http://schemas.openxmlformats.org/drawingml/2006/main">
              <a:ext uri="{FF2B5EF4-FFF2-40B4-BE49-F238E27FC236}">
                <a16:creationId xmlns:a16="http://schemas.microsoft.com/office/drawing/2014/main" id="{665FAA71-314D-4279-825E-33A0246027B5}"/>
              </a:ext>
            </a:extLst>
          </p:cNvPr>
          <p:cNvSpPr>
            <a:spLocks xmlns:a="http://schemas.openxmlformats.org/drawingml/2006/main" noGrp="1"/>
          </p:cNvSpPr>
          <p:nvPr/>
        </p:nvSpPr>
        <p:spPr>
          <a:xfrm xmlns:a="http://schemas.openxmlformats.org/drawingml/2006/main">
            <a:off x="609600" y="36385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a:solidFill>
                  <a:srgbClr val="F7F5EF"/>
                </a:solidFill>
                <a:latin typeface="Arial"/>
                <a:ea typeface="Arial"/>
                <a:cs typeface="Arial"/>
              </a:defRPr>
            </a:defPPr>
          </a:lstStyle>
          <a:p xmlns:a="http://schemas.openxmlformats.org/drawingml/2006/main">
            <a:pPr algn="l">
              <a:defRPr sz="2250" b="1">
                <a:solidFill>
                  <a:srgbClr val="F7F5EF"/>
                </a:solidFill>
                <a:latin typeface="Arial"/>
                <a:ea typeface="Arial"/>
                <a:cs typeface="Arial"/>
              </a:defRPr>
            </a:pPr>
            <a:r>
              <a:rPr sz="2250" b="1">
                <a:solidFill>
                  <a:srgbClr val="F7F5EF"/>
                </a:solidFill>
                <a:latin typeface="Arial"/>
                <a:ea typeface="Arial"/>
                <a:cs typeface="Arial"/>
              </a:rPr>
              <a:t>Demonstrated</a:t>
            </a:r>
          </a:p>
        </p:txBody>
      </p:sp>
      <p:sp>
        <p:nvSpPr>
          <p:cNvPr id="5" name="Original photos → grade → human decision → price → orde">
            <a:extLst xmlns:a="http://schemas.openxmlformats.org/drawingml/2006/main">
              <a:ext uri="{FF2B5EF4-FFF2-40B4-BE49-F238E27FC236}">
                <a16:creationId xmlns:a16="http://schemas.microsoft.com/office/drawing/2014/main" id="{F205335E-02BD-440C-BE66-5ACDEDC8FF43}"/>
              </a:ext>
            </a:extLst>
          </p:cNvPr>
          <p:cNvSpPr>
            <a:spLocks xmlns:a="http://schemas.openxmlformats.org/drawingml/2006/main" noGrp="1"/>
          </p:cNvSpPr>
          <p:nvPr/>
        </p:nvSpPr>
        <p:spPr>
          <a:xfrm xmlns:a="http://schemas.openxmlformats.org/drawingml/2006/main">
            <a:off x="609600" y="40481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0">
                <a:solidFill>
                  <a:srgbClr val="D7E0D9"/>
                </a:solidFill>
                <a:latin typeface="Arial"/>
                <a:ea typeface="Arial"/>
                <a:cs typeface="Arial"/>
              </a:defRPr>
            </a:defPPr>
          </a:lstStyle>
          <a:p xmlns:a="http://schemas.openxmlformats.org/drawingml/2006/main">
            <a:pPr algn="l">
              <a:defRPr sz="2100" b="0">
                <a:solidFill>
                  <a:srgbClr val="D7E0D9"/>
                </a:solidFill>
                <a:latin typeface="Arial"/>
                <a:ea typeface="Arial"/>
                <a:cs typeface="Arial"/>
              </a:defRPr>
            </a:pPr>
            <a:r>
              <a:rPr sz="2100" b="0">
                <a:solidFill>
                  <a:srgbClr val="D7E0D9"/>
                </a:solidFill>
                <a:latin typeface="Arial"/>
                <a:ea typeface="Arial"/>
                <a:cs typeface="Arial"/>
              </a:rPr>
              <a:t>Original photos → grade → human decision → price → order → stock update.</a:t>
            </a:r>
          </a:p>
        </p:txBody>
      </p:sp>
      <p:sp>
        <p:nvSpPr>
          <p:cNvPr id="6" name="Learned">
            <a:extLst xmlns:a="http://schemas.openxmlformats.org/drawingml/2006/main">
              <a:ext uri="{FF2B5EF4-FFF2-40B4-BE49-F238E27FC236}">
                <a16:creationId xmlns:a16="http://schemas.microsoft.com/office/drawing/2014/main" id="{F1C315A3-A452-4CF5-9357-08DB0249E8F8}"/>
              </a:ext>
            </a:extLst>
          </p:cNvPr>
          <p:cNvSpPr>
            <a:spLocks xmlns:a="http://schemas.openxmlformats.org/drawingml/2006/main" noGrp="1"/>
          </p:cNvSpPr>
          <p:nvPr/>
        </p:nvSpPr>
        <p:spPr>
          <a:xfrm xmlns:a="http://schemas.openxmlformats.org/drawingml/2006/main">
            <a:off x="609600" y="48958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a:solidFill>
                  <a:srgbClr val="F7F5EF"/>
                </a:solidFill>
                <a:latin typeface="Arial"/>
                <a:ea typeface="Arial"/>
                <a:cs typeface="Arial"/>
              </a:defRPr>
            </a:defPPr>
          </a:lstStyle>
          <a:p xmlns:a="http://schemas.openxmlformats.org/drawingml/2006/main">
            <a:pPr algn="l">
              <a:defRPr sz="2250" b="1">
                <a:solidFill>
                  <a:srgbClr val="F7F5EF"/>
                </a:solidFill>
                <a:latin typeface="Arial"/>
                <a:ea typeface="Arial"/>
                <a:cs typeface="Arial"/>
              </a:defRPr>
            </a:pPr>
            <a:r>
              <a:rPr sz="2250" b="1">
                <a:solidFill>
                  <a:srgbClr val="F7F5EF"/>
                </a:solidFill>
                <a:latin typeface="Arial"/>
                <a:ea typeface="Arial"/>
                <a:cs typeface="Arial"/>
              </a:rPr>
              <a:t>Learned</a:t>
            </a:r>
          </a:p>
        </p:txBody>
      </p:sp>
      <p:sp>
        <p:nvSpPr>
          <p:cNvPr id="7" name="Integration passed; model predictions still need carefu">
            <a:extLst xmlns:a="http://schemas.openxmlformats.org/drawingml/2006/main">
              <a:ext uri="{FF2B5EF4-FFF2-40B4-BE49-F238E27FC236}">
                <a16:creationId xmlns:a16="http://schemas.microsoft.com/office/drawing/2014/main" id="{1256CCC6-8331-42D8-8524-AB5B05B2970B}"/>
              </a:ext>
            </a:extLst>
          </p:cNvPr>
          <p:cNvSpPr>
            <a:spLocks xmlns:a="http://schemas.openxmlformats.org/drawingml/2006/main" noGrp="1"/>
          </p:cNvSpPr>
          <p:nvPr/>
        </p:nvSpPr>
        <p:spPr>
          <a:xfrm xmlns:a="http://schemas.openxmlformats.org/drawingml/2006/main">
            <a:off x="609600" y="5305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0">
                <a:solidFill>
                  <a:srgbClr val="D7E0D9"/>
                </a:solidFill>
                <a:latin typeface="Arial"/>
                <a:ea typeface="Arial"/>
                <a:cs typeface="Arial"/>
              </a:defRPr>
            </a:defPPr>
          </a:lstStyle>
          <a:p xmlns:a="http://schemas.openxmlformats.org/drawingml/2006/main">
            <a:pPr algn="l">
              <a:defRPr sz="2100" b="0">
                <a:solidFill>
                  <a:srgbClr val="D7E0D9"/>
                </a:solidFill>
                <a:latin typeface="Arial"/>
                <a:ea typeface="Arial"/>
                <a:cs typeface="Arial"/>
              </a:defRPr>
            </a:pPr>
            <a:r>
              <a:rPr sz="2100" b="0">
                <a:solidFill>
                  <a:srgbClr val="D7E0D9"/>
                </a:solidFill>
                <a:latin typeface="Arial"/>
                <a:ea typeface="Arial"/>
                <a:cs typeface="Arial"/>
              </a:rPr>
              <a:t>Integration passed; model predictions still need careful human judgment.</a:t>
            </a:r>
          </a:p>
        </p:txBody>
      </p:sp>
    </p:spTree>
    <p:extLst>
      <p:ext uri="{BB962C8B-B14F-4D97-AF65-F5344CB8AC3E}">
        <p14:creationId xmlns:p14="http://schemas.microsoft.com/office/powerpoint/2010/main" val="482784038"/>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Faculty demonstration — exact route sequence">
            <a:extLst xmlns:a="http://schemas.openxmlformats.org/drawingml/2006/main">
              <a:ext uri="{FF2B5EF4-FFF2-40B4-BE49-F238E27FC236}">
                <a16:creationId xmlns:a16="http://schemas.microsoft.com/office/drawing/2014/main" id="{493793E5-F31C-4FF2-95A0-C39E0BB4ED05}"/>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Faculty demonstration — exact route sequence</a:t>
            </a:r>
          </a:p>
        </p:txBody>
      </p:sp>
      <p:sp>
        <p:nvSpPr>
          <p:cNvPr id="2" name="36">
            <a:extLst xmlns:a="http://schemas.openxmlformats.org/drawingml/2006/main">
              <a:ext uri="{FF2B5EF4-FFF2-40B4-BE49-F238E27FC236}">
                <a16:creationId xmlns:a16="http://schemas.microsoft.com/office/drawing/2014/main" id="{7B0BE4D5-C141-4506-B653-E81970A36742}"/>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36</a:t>
            </a:r>
          </a:p>
        </p:txBody>
      </p:sp>
      <p:graphicFrame>
        <p:nvGraphicFramePr>
          <p:cNvPr id="3" name="">
            <a:extLst xmlns:a="http://schemas.openxmlformats.org/drawingml/2006/main">
              <a:ext uri="{FF2B5EF4-FFF2-40B4-BE49-F238E27FC236}">
                <a16:creationId xmlns:a16="http://schemas.microsoft.com/office/drawing/2014/main" id="{16E994FF-E1FA-4795-B049-44F17608F18B}"/>
              </a:ext>
            </a:extLst>
          </p:cNvPr>
          <p:cNvGraphicFramePr/>
          <p:nvPr/>
        </p:nvGraphicFramePr>
        <p:xfrm>
          <a:off xmlns:a="http://schemas.openxmlformats.org/drawingml/2006/main" x="609600" y="1495425"/>
          <a:ext xmlns:a="http://schemas.openxmlformats.org/drawingml/2006/main" cx="10972800" cy="4133850"/>
        </p:xfrm>
        <a:graphic xmlns:a="http://schemas.openxmlformats.org/drawingml/2006/main">
          <a:graphicData uri="http://schemas.openxmlformats.org/drawingml/2006/table">
            <a:tbl>
              <a:tblPr/>
              <a:tblGrid>
                <a:gridCol w="2238375"/>
                <a:gridCol w="4572000"/>
                <a:gridCol w="4162425"/>
              </a:tblGrid>
              <a:tr h="688975">
                <a:tc>
                  <a:txBody>
                    <a:bodyPr/>
                    <a:lstStyle/>
                    <a:p>
                      <a:r>
                        <a:rPr sz="1725" b="1">
                          <a:solidFill>
                            <a:srgbClr val="F7F5EF"/>
                          </a:solidFill>
                          <a:latin typeface="Arial"/>
                          <a:ea typeface="Arial"/>
                          <a:cs typeface="Arial"/>
                        </a:rPr>
                        <a:t>Step</a:t>
                      </a:r>
                    </a:p>
                  </a:txBody>
                  <a:tcPr marL="133350" marR="133350" marT="76200" marB="66675" anchor="ctr">
                    <a:solidFill>
                      <a:srgbClr val="173E33"/>
                    </a:solidFill>
                  </a:tcPr>
                </a:tc>
                <a:tc>
                  <a:txBody>
                    <a:bodyPr/>
                    <a:lstStyle/>
                    <a:p>
                      <a:r>
                        <a:rPr sz="1725" b="1">
                          <a:solidFill>
                            <a:srgbClr val="F7F5EF"/>
                          </a:solidFill>
                          <a:latin typeface="Arial"/>
                          <a:ea typeface="Arial"/>
                          <a:cs typeface="Arial"/>
                        </a:rPr>
                        <a:t>Go to / action</a:t>
                      </a:r>
                    </a:p>
                  </a:txBody>
                  <a:tcPr marL="133350" marR="133350" marT="76200" marB="66675" anchor="ctr">
                    <a:solidFill>
                      <a:srgbClr val="173E33"/>
                    </a:solidFill>
                  </a:tcPr>
                </a:tc>
                <a:tc>
                  <a:txBody>
                    <a:bodyPr/>
                    <a:lstStyle/>
                    <a:p>
                      <a:r>
                        <a:rPr sz="1725" b="1">
                          <a:solidFill>
                            <a:srgbClr val="F7F5EF"/>
                          </a:solidFill>
                          <a:latin typeface="Arial"/>
                          <a:ea typeface="Arial"/>
                          <a:cs typeface="Arial"/>
                        </a:rPr>
                        <a:t>Explain</a:t>
                      </a:r>
                    </a:p>
                  </a:txBody>
                  <a:tcPr marL="133350" marR="133350" marT="76200" marB="66675" anchor="ctr">
                    <a:solidFill>
                      <a:srgbClr val="173E33"/>
                    </a:solidFill>
                  </a:tcPr>
                </a:tc>
              </a:tr>
              <a:tr h="688975">
                <a:tc>
                  <a:txBody>
                    <a:bodyPr/>
                    <a:lstStyle/>
                    <a:p>
                      <a:r>
                        <a:rPr sz="1725">
                          <a:solidFill>
                            <a:srgbClr val="173E33"/>
                          </a:solidFill>
                          <a:latin typeface="Arial"/>
                          <a:ea typeface="Arial"/>
                          <a:cs typeface="Arial"/>
                        </a:rPr>
                        <a:t>1 · Seller</a:t>
                      </a:r>
                    </a:p>
                  </a:txBody>
                  <a:tcPr marL="133350" marR="133350" marT="76200" marB="66675" anchor="ctr">
                    <a:solidFill>
                      <a:srgbClr val="F7F5EF"/>
                    </a:solidFill>
                  </a:tcPr>
                </a:tc>
                <a:tc>
                  <a:txBody>
                    <a:bodyPr/>
                    <a:lstStyle/>
                    <a:p>
                      <a:r>
                        <a:rPr sz="1725">
                          <a:solidFill>
                            <a:srgbClr val="173E33"/>
                          </a:solidFill>
                          <a:latin typeface="Arial"/>
                          <a:ea typeface="Arial"/>
                          <a:cs typeface="Arial"/>
                        </a:rPr>
                        <a:t>Phone → Home → Sell Something</a:t>
                      </a:r>
                    </a:p>
                  </a:txBody>
                  <a:tcPr marL="133350" marR="133350" marT="76200" marB="66675" anchor="ctr">
                    <a:solidFill>
                      <a:srgbClr val="F7F5EF"/>
                    </a:solidFill>
                  </a:tcPr>
                </a:tc>
                <a:tc>
                  <a:txBody>
                    <a:bodyPr/>
                    <a:lstStyle/>
                    <a:p>
                      <a:r>
                        <a:rPr sz="1725">
                          <a:solidFill>
                            <a:srgbClr val="173E33"/>
                          </a:solidFill>
                          <a:latin typeface="Arial"/>
                          <a:ea typeface="Arial"/>
                          <a:cs typeface="Arial"/>
                        </a:rPr>
                        <a:t>Photo capture, local retention, checking status</a:t>
                      </a:r>
                    </a:p>
                  </a:txBody>
                  <a:tcPr marL="133350" marR="133350" marT="76200" marB="66675" anchor="ctr">
                    <a:solidFill>
                      <a:srgbClr val="F7F5EF"/>
                    </a:solidFill>
                  </a:tcPr>
                </a:tc>
              </a:tr>
              <a:tr h="688975">
                <a:tc>
                  <a:txBody>
                    <a:bodyPr/>
                    <a:lstStyle/>
                    <a:p>
                      <a:r>
                        <a:rPr sz="1725">
                          <a:solidFill>
                            <a:srgbClr val="173E33"/>
                          </a:solidFill>
                          <a:latin typeface="Arial"/>
                          <a:ea typeface="Arial"/>
                          <a:cs typeface="Arial"/>
                        </a:rPr>
                        <a:t>2 · Verifier</a:t>
                      </a:r>
                    </a:p>
                  </a:txBody>
                  <a:tcPr marL="133350" marR="133350" marT="76200" marB="66675" anchor="ctr">
                    <a:solidFill>
                      <a:srgbClr val="F7F5EF"/>
                    </a:solidFill>
                  </a:tcPr>
                </a:tc>
                <a:tc>
                  <a:txBody>
                    <a:bodyPr/>
                    <a:lstStyle/>
                    <a:p>
                      <a:r>
                        <a:rPr sz="1725">
                          <a:solidFill>
                            <a:srgbClr val="173E33"/>
                          </a:solidFill>
                          <a:latin typeface="Arial"/>
                          <a:ea typeface="Arial"/>
                          <a:cs typeface="Arial"/>
                        </a:rPr>
                        <a:t>/verifier/queue/77</a:t>
                      </a:r>
                    </a:p>
                  </a:txBody>
                  <a:tcPr marL="133350" marR="133350" marT="76200" marB="66675" anchor="ctr">
                    <a:solidFill>
                      <a:srgbClr val="F7F5EF"/>
                    </a:solidFill>
                  </a:tcPr>
                </a:tc>
                <a:tc>
                  <a:txBody>
                    <a:bodyPr/>
                    <a:lstStyle/>
                    <a:p>
                      <a:r>
                        <a:rPr sz="1725">
                          <a:solidFill>
                            <a:srgbClr val="173E33"/>
                          </a:solidFill>
                          <a:latin typeface="Arial"/>
                          <a:ea typeface="Arial"/>
                          <a:cs typeface="Arial"/>
                        </a:rPr>
                        <a:t>Original photo, low confidence, correction controls</a:t>
                      </a:r>
                    </a:p>
                  </a:txBody>
                  <a:tcPr marL="133350" marR="133350" marT="76200" marB="66675" anchor="ctr">
                    <a:solidFill>
                      <a:srgbClr val="F7F5EF"/>
                    </a:solidFill>
                  </a:tcPr>
                </a:tc>
              </a:tr>
              <a:tr h="688975">
                <a:tc>
                  <a:txBody>
                    <a:bodyPr/>
                    <a:lstStyle/>
                    <a:p>
                      <a:r>
                        <a:rPr sz="1725">
                          <a:solidFill>
                            <a:srgbClr val="173E33"/>
                          </a:solidFill>
                          <a:latin typeface="Arial"/>
                          <a:ea typeface="Arial"/>
                          <a:cs typeface="Arial"/>
                        </a:rPr>
                        <a:t>3 · Buyer</a:t>
                      </a:r>
                    </a:p>
                  </a:txBody>
                  <a:tcPr marL="133350" marR="133350" marT="76200" marB="66675" anchor="ctr">
                    <a:solidFill>
                      <a:srgbClr val="F7F5EF"/>
                    </a:solidFill>
                  </a:tcPr>
                </a:tc>
                <a:tc>
                  <a:txBody>
                    <a:bodyPr/>
                    <a:lstStyle/>
                    <a:p>
                      <a:r>
                        <a:rPr sz="1725">
                          <a:solidFill>
                            <a:srgbClr val="173E33"/>
                          </a:solidFill>
                          <a:latin typeface="Arial"/>
                          <a:ea typeface="Arial"/>
                          <a:cs typeface="Arial"/>
                        </a:rPr>
                        <a:t>/buyer/catalog/85 → /buyer/orders</a:t>
                      </a:r>
                    </a:p>
                  </a:txBody>
                  <a:tcPr marL="133350" marR="133350" marT="76200" marB="66675" anchor="ctr">
                    <a:solidFill>
                      <a:srgbClr val="F7F5EF"/>
                    </a:solidFill>
                  </a:tcPr>
                </a:tc>
                <a:tc>
                  <a:txBody>
                    <a:bodyPr/>
                    <a:lstStyle/>
                    <a:p>
                      <a:r>
                        <a:rPr sz="1725">
                          <a:solidFill>
                            <a:srgbClr val="173E33"/>
                          </a:solidFill>
                          <a:latin typeface="Arial"/>
                          <a:ea typeface="Arial"/>
                          <a:cs typeface="Arial"/>
                        </a:rPr>
                        <a:t>Approved quality; order #20 and ₹2,400</a:t>
                      </a:r>
                    </a:p>
                  </a:txBody>
                  <a:tcPr marL="133350" marR="133350" marT="76200" marB="66675" anchor="ctr">
                    <a:solidFill>
                      <a:srgbClr val="F7F5EF"/>
                    </a:solidFill>
                  </a:tcPr>
                </a:tc>
              </a:tr>
              <a:tr h="688975">
                <a:tc>
                  <a:txBody>
                    <a:bodyPr/>
                    <a:lstStyle/>
                    <a:p>
                      <a:r>
                        <a:rPr sz="1725">
                          <a:solidFill>
                            <a:srgbClr val="173E33"/>
                          </a:solidFill>
                          <a:latin typeface="Arial"/>
                          <a:ea typeface="Arial"/>
                          <a:cs typeface="Arial"/>
                        </a:rPr>
                        <a:t>4 · Buyer</a:t>
                      </a:r>
                    </a:p>
                  </a:txBody>
                  <a:tcPr marL="133350" marR="133350" marT="76200" marB="66675" anchor="ctr">
                    <a:solidFill>
                      <a:srgbClr val="F7F5EF"/>
                    </a:solidFill>
                  </a:tcPr>
                </a:tc>
                <a:tc>
                  <a:txBody>
                    <a:bodyPr/>
                    <a:lstStyle/>
                    <a:p>
                      <a:r>
                        <a:rPr sz="1725">
                          <a:solidFill>
                            <a:srgbClr val="173E33"/>
                          </a:solidFill>
                          <a:latin typeface="Arial"/>
                          <a:ea typeface="Arial"/>
                          <a:cs typeface="Arial"/>
                        </a:rPr>
                        <a:t>/buyer/estimate → /buyer/requirements</a:t>
                      </a:r>
                    </a:p>
                  </a:txBody>
                  <a:tcPr marL="133350" marR="133350" marT="76200" marB="66675" anchor="ctr">
                    <a:solidFill>
                      <a:srgbClr val="F7F5EF"/>
                    </a:solidFill>
                  </a:tcPr>
                </a:tc>
                <a:tc>
                  <a:txBody>
                    <a:bodyPr/>
                    <a:lstStyle/>
                    <a:p>
                      <a:r>
                        <a:rPr sz="1725">
                          <a:solidFill>
                            <a:srgbClr val="173E33"/>
                          </a:solidFill>
                          <a:latin typeface="Arial"/>
                          <a:ea typeface="Arial"/>
                          <a:cs typeface="Arial"/>
                        </a:rPr>
                        <a:t>Transparent calculation and bulk demand</a:t>
                      </a:r>
                    </a:p>
                  </a:txBody>
                  <a:tcPr marL="133350" marR="133350" marT="76200" marB="66675" anchor="ctr">
                    <a:solidFill>
                      <a:srgbClr val="F7F5EF"/>
                    </a:solidFill>
                  </a:tcPr>
                </a:tc>
              </a:tr>
              <a:tr h="688975">
                <a:tc>
                  <a:txBody>
                    <a:bodyPr/>
                    <a:lstStyle/>
                    <a:p>
                      <a:r>
                        <a:rPr sz="1725">
                          <a:solidFill>
                            <a:srgbClr val="173E33"/>
                          </a:solidFill>
                          <a:latin typeface="Arial"/>
                          <a:ea typeface="Arial"/>
                          <a:cs typeface="Arial"/>
                        </a:rPr>
                        <a:t>5 · Admin</a:t>
                      </a:r>
                    </a:p>
                  </a:txBody>
                  <a:tcPr marL="133350" marR="133350" marT="76200" marB="66675" anchor="ctr">
                    <a:solidFill>
                      <a:srgbClr val="F7F5EF"/>
                    </a:solidFill>
                  </a:tcPr>
                </a:tc>
                <a:tc>
                  <a:txBody>
                    <a:bodyPr/>
                    <a:lstStyle/>
                    <a:p>
                      <a:r>
                        <a:rPr sz="1725">
                          <a:solidFill>
                            <a:srgbClr val="173E33"/>
                          </a:solidFill>
                          <a:latin typeface="Arial"/>
                          <a:ea typeface="Arial"/>
                          <a:cs typeface="Arial"/>
                        </a:rPr>
                        <a:t>/admin/verticals/1 → /admin/disputes</a:t>
                      </a:r>
                    </a:p>
                  </a:txBody>
                  <a:tcPr marL="133350" marR="133350" marT="76200" marB="66675" anchor="ctr">
                    <a:solidFill>
                      <a:srgbClr val="F7F5EF"/>
                    </a:solidFill>
                  </a:tcPr>
                </a:tc>
                <a:tc>
                  <a:txBody>
                    <a:bodyPr/>
                    <a:lstStyle/>
                    <a:p>
                      <a:r>
                        <a:rPr sz="1725">
                          <a:solidFill>
                            <a:srgbClr val="173E33"/>
                          </a:solidFill>
                          <a:latin typeface="Arial"/>
                          <a:ea typeface="Arial"/>
                          <a:cs typeface="Arial"/>
                        </a:rPr>
                        <a:t>Configuration and prepared complaint states</a:t>
                      </a:r>
                    </a:p>
                  </a:txBody>
                  <a:tcPr marL="133350" marR="133350" marT="76200" marB="66675" anchor="ctr">
                    <a:solidFill>
                      <a:srgbClr val="F7F5EF"/>
                    </a:solidFill>
                  </a:tcPr>
                </a:tc>
              </a:tr>
            </a:tbl>
          </a:graphicData>
        </a:graphic>
      </p:graphicFrame>
      <p:sp>
        <p:nvSpPr>
          <p:cNvPr id="4" name="Use localhost:3000 on the laptop. Detailed exact field ">
            <a:extLst xmlns:a="http://schemas.openxmlformats.org/drawingml/2006/main">
              <a:ext uri="{FF2B5EF4-FFF2-40B4-BE49-F238E27FC236}">
                <a16:creationId xmlns:a16="http://schemas.microsoft.com/office/drawing/2014/main" id="{BFF2A47F-E0BB-4C3E-A6AB-0370A750DB8F}"/>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Use localhost:3000 on the laptop. Detailed exact field entries and role credentials are in WEBSITE_DEMO.md.</a:t>
            </a:r>
          </a:p>
        </p:txBody>
      </p:sp>
    </p:spTree>
    <p:extLst>
      <p:ext uri="{BB962C8B-B14F-4D97-AF65-F5344CB8AC3E}">
        <p14:creationId xmlns:p14="http://schemas.microsoft.com/office/powerpoint/2010/main" val="1101084172"/>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References — literature">
            <a:extLst xmlns:a="http://schemas.openxmlformats.org/drawingml/2006/main">
              <a:ext uri="{FF2B5EF4-FFF2-40B4-BE49-F238E27FC236}">
                <a16:creationId xmlns:a16="http://schemas.microsoft.com/office/drawing/2014/main" id="{1F9BA7A2-4E51-4B91-9E92-87D5C1AB80B4}"/>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References — literature</a:t>
            </a:r>
          </a:p>
        </p:txBody>
      </p:sp>
      <p:sp>
        <p:nvSpPr>
          <p:cNvPr id="2" name="37">
            <a:extLst xmlns:a="http://schemas.openxmlformats.org/drawingml/2006/main">
              <a:ext uri="{FF2B5EF4-FFF2-40B4-BE49-F238E27FC236}">
                <a16:creationId xmlns:a16="http://schemas.microsoft.com/office/drawing/2014/main" id="{64C45CC3-7F5A-4420-84C9-7B72ADDAC3B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37</a:t>
            </a:r>
          </a:p>
        </p:txBody>
      </p:sp>
      <p:sp>
        <p:nvSpPr>
          <p:cNvPr id="3" name="eNAM. Official trader information: online trading and q">
            <a:extLst xmlns:a="http://schemas.openxmlformats.org/drawingml/2006/main">
              <a:ext uri="{FF2B5EF4-FFF2-40B4-BE49-F238E27FC236}">
                <a16:creationId xmlns:a16="http://schemas.microsoft.com/office/drawing/2014/main" id="{D04BD89E-D3FE-4C5B-B1BE-4C3DD720C415}"/>
              </a:ext>
            </a:extLst>
          </p:cNvPr>
          <p:cNvSpPr>
            <a:spLocks xmlns:a="http://schemas.openxmlformats.org/drawingml/2006/main" noGrp="1"/>
          </p:cNvSpPr>
          <p:nvPr/>
        </p:nvSpPr>
        <p:spPr>
          <a:xfrm xmlns:a="http://schemas.openxmlformats.org/drawingml/2006/main">
            <a:off x="609600" y="1581150"/>
            <a:ext cx="10763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0">
                <a:solidFill>
                  <a:srgbClr val="173E33"/>
                </a:solidFill>
                <a:latin typeface="Arial"/>
                <a:ea typeface="Arial"/>
                <a:cs typeface="Arial"/>
              </a:defRPr>
            </a:defPPr>
          </a:lstStyle>
          <a:p xmlns:a="http://schemas.openxmlformats.org/drawingml/2006/main">
            <a:pPr algn="l">
              <a:defRPr sz="2175" b="0">
                <a:solidFill>
                  <a:srgbClr val="173E33"/>
                </a:solidFill>
                <a:latin typeface="Arial"/>
                <a:ea typeface="Arial"/>
                <a:cs typeface="Arial"/>
              </a:defRPr>
            </a:pPr>
            <a:r>
              <a:rPr sz="2175" b="0">
                <a:solidFill>
                  <a:srgbClr val="173E33"/>
                </a:solidFill>
                <a:latin typeface="Arial"/>
                <a:ea typeface="Arial"/>
                <a:cs typeface="Arial"/>
              </a:rPr>
              <a:t>eNAM. Official trader information: online trading and quality assaying.</a:t>
            </a:r>
          </a:p>
          <a:p xmlns:a="http://schemas.openxmlformats.org/drawingml/2006/main">
            <a:pPr algn="l">
              <a:defRPr sz="2175" b="0">
                <a:solidFill>
                  <a:srgbClr val="173E33"/>
                </a:solidFill>
                <a:latin typeface="Arial"/>
                <a:ea typeface="Arial"/>
                <a:cs typeface="Arial"/>
              </a:defRPr>
            </a:pPr>
            <a:r>
              <a:rPr sz="2175" b="0">
                <a:solidFill>
                  <a:srgbClr val="173E33"/>
                </a:solidFill>
                <a:latin typeface="Arial"/>
                <a:ea typeface="Arial"/>
                <a:cs typeface="Arial"/>
              </a:rPr>
              <a:t>Howard et al. Searching for MobileNetV3. ICCV, 2019.</a:t>
            </a:r>
          </a:p>
          <a:p xmlns:a="http://schemas.openxmlformats.org/drawingml/2006/main">
            <a:pPr algn="l">
              <a:defRPr sz="2175" b="0">
                <a:solidFill>
                  <a:srgbClr val="173E33"/>
                </a:solidFill>
                <a:latin typeface="Arial"/>
                <a:ea typeface="Arial"/>
                <a:cs typeface="Arial"/>
              </a:defRPr>
            </a:pPr>
            <a:r>
              <a:rPr sz="2175" b="0">
                <a:solidFill>
                  <a:srgbClr val="173E33"/>
                </a:solidFill>
                <a:latin typeface="Arial"/>
                <a:ea typeface="Arial"/>
                <a:cs typeface="Arial"/>
              </a:rPr>
              <a:t>Fan et al. GrainSpace. CVPR, 2022.</a:t>
            </a:r>
          </a:p>
          <a:p xmlns:a="http://schemas.openxmlformats.org/drawingml/2006/main">
            <a:pPr algn="l">
              <a:defRPr sz="2175" b="0">
                <a:solidFill>
                  <a:srgbClr val="173E33"/>
                </a:solidFill>
                <a:latin typeface="Arial"/>
                <a:ea typeface="Arial"/>
                <a:cs typeface="Arial"/>
              </a:defRPr>
            </a:pPr>
            <a:r>
              <a:rPr sz="2175" b="0">
                <a:solidFill>
                  <a:srgbClr val="173E33"/>
                </a:solidFill>
                <a:latin typeface="Arial"/>
                <a:ea typeface="Arial"/>
                <a:cs typeface="Arial"/>
              </a:rPr>
              <a:t>Bergmann et al. MVTec AD. CVPR, 2019.</a:t>
            </a:r>
          </a:p>
          <a:p xmlns:a="http://schemas.openxmlformats.org/drawingml/2006/main">
            <a:pPr algn="l">
              <a:defRPr sz="2175" b="0">
                <a:solidFill>
                  <a:srgbClr val="173E33"/>
                </a:solidFill>
                <a:latin typeface="Arial"/>
                <a:ea typeface="Arial"/>
                <a:cs typeface="Arial"/>
              </a:defRPr>
            </a:pPr>
            <a:r>
              <a:rPr sz="2175" b="0">
                <a:solidFill>
                  <a:srgbClr val="173E33"/>
                </a:solidFill>
                <a:latin typeface="Arial"/>
                <a:ea typeface="Arial"/>
                <a:cs typeface="Arial"/>
              </a:rPr>
              <a:t>Yang et al. Defect Spectrum. ECCV, 2024.</a:t>
            </a:r>
          </a:p>
        </p:txBody>
      </p:sp>
      <p:sp>
        <p:nvSpPr>
          <p:cNvPr id="4" name="Primary-source URLs and source-specific explanations ar">
            <a:extLst xmlns:a="http://schemas.openxmlformats.org/drawingml/2006/main">
              <a:ext uri="{FF2B5EF4-FFF2-40B4-BE49-F238E27FC236}">
                <a16:creationId xmlns:a16="http://schemas.microsoft.com/office/drawing/2014/main" id="{3FDE758B-B360-46D4-A977-66EA39F171A5}"/>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Primary-source URLs and source-specific explanations are included in the speaker notes.</a:t>
            </a:r>
          </a:p>
        </p:txBody>
      </p:sp>
    </p:spTree>
    <p:extLst>
      <p:ext uri="{BB962C8B-B14F-4D97-AF65-F5344CB8AC3E}">
        <p14:creationId xmlns:p14="http://schemas.microsoft.com/office/powerpoint/2010/main" val="450358927"/>
      </p:ext>
    </p:extLst>
  </p:cSld>
</p:sld>
</file>

<file path=ppt/slides/slide3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References — data and local proof">
            <a:extLst xmlns:a="http://schemas.openxmlformats.org/drawingml/2006/main">
              <a:ext uri="{FF2B5EF4-FFF2-40B4-BE49-F238E27FC236}">
                <a16:creationId xmlns:a16="http://schemas.microsoft.com/office/drawing/2014/main" id="{CEB99357-A9D0-4ECE-B7E8-7EF6671754EC}"/>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References — data and local proof</a:t>
            </a:r>
          </a:p>
        </p:txBody>
      </p:sp>
      <p:sp>
        <p:nvSpPr>
          <p:cNvPr id="2" name="38">
            <a:extLst xmlns:a="http://schemas.openxmlformats.org/drawingml/2006/main">
              <a:ext uri="{FF2B5EF4-FFF2-40B4-BE49-F238E27FC236}">
                <a16:creationId xmlns:a16="http://schemas.microsoft.com/office/drawing/2014/main" id="{7676178F-8A39-4557-8ADA-37D368108D0B}"/>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38</a:t>
            </a:r>
          </a:p>
        </p:txBody>
      </p:sp>
      <p:graphicFrame>
        <p:nvGraphicFramePr>
          <p:cNvPr id="3" name="">
            <a:extLst xmlns:a="http://schemas.openxmlformats.org/drawingml/2006/main">
              <a:ext uri="{FF2B5EF4-FFF2-40B4-BE49-F238E27FC236}">
                <a16:creationId xmlns:a16="http://schemas.microsoft.com/office/drawing/2014/main" id="{E9ACEB8B-6F42-4EED-AA57-CBE3DDA3C7E9}"/>
              </a:ext>
            </a:extLst>
          </p:cNvPr>
          <p:cNvGraphicFramePr/>
          <p:nvPr/>
        </p:nvGraphicFramePr>
        <p:xfrm>
          <a:off xmlns:a="http://schemas.openxmlformats.org/drawingml/2006/main" x="609600" y="1619250"/>
          <a:ext xmlns:a="http://schemas.openxmlformats.org/drawingml/2006/main" cx="10972800" cy="3705225"/>
        </p:xfrm>
        <a:graphic xmlns:a="http://schemas.openxmlformats.org/drawingml/2006/main">
          <a:graphicData uri="http://schemas.openxmlformats.org/drawingml/2006/table">
            <a:tbl>
              <a:tblPr/>
              <a:tblGrid>
                <a:gridCol w="3476625"/>
                <a:gridCol w="7496175"/>
              </a:tblGrid>
              <a:tr h="617538">
                <a:tc>
                  <a:txBody>
                    <a:bodyPr/>
                    <a:lstStyle/>
                    <a:p>
                      <a:r>
                        <a:rPr sz="1875" b="1">
                          <a:solidFill>
                            <a:srgbClr val="F7F5EF"/>
                          </a:solidFill>
                          <a:latin typeface="Arial"/>
                          <a:ea typeface="Arial"/>
                          <a:cs typeface="Arial"/>
                        </a:rPr>
                        <a:t>Source category</a:t>
                      </a:r>
                    </a:p>
                  </a:txBody>
                  <a:tcPr marL="133350" marR="133350" marT="76200" marB="66675" anchor="ctr">
                    <a:solidFill>
                      <a:srgbClr val="173E33"/>
                    </a:solidFill>
                  </a:tcPr>
                </a:tc>
                <a:tc>
                  <a:txBody>
                    <a:bodyPr/>
                    <a:lstStyle/>
                    <a:p>
                      <a:r>
                        <a:rPr sz="1875" b="1">
                          <a:solidFill>
                            <a:srgbClr val="F7F5EF"/>
                          </a:solidFill>
                          <a:latin typeface="Arial"/>
                          <a:ea typeface="Arial"/>
                          <a:cs typeface="Arial"/>
                        </a:rPr>
                        <a:t>Traceable evidence</a:t>
                      </a:r>
                    </a:p>
                  </a:txBody>
                  <a:tcPr marL="133350" marR="133350" marT="76200" marB="66675" anchor="ctr">
                    <a:solidFill>
                      <a:srgbClr val="173E33"/>
                    </a:solidFill>
                  </a:tcPr>
                </a:tc>
              </a:tr>
              <a:tr h="617538">
                <a:tc>
                  <a:txBody>
                    <a:bodyPr/>
                    <a:lstStyle/>
                    <a:p>
                      <a:r>
                        <a:rPr sz="1875">
                          <a:solidFill>
                            <a:srgbClr val="173E33"/>
                          </a:solidFill>
                          <a:latin typeface="Arial"/>
                          <a:ea typeface="Arial"/>
                          <a:cs typeface="Arial"/>
                        </a:rPr>
                        <a:t>Training sources</a:t>
                      </a:r>
                    </a:p>
                  </a:txBody>
                  <a:tcPr marL="133350" marR="133350" marT="76200" marB="66675" anchor="ctr">
                    <a:solidFill>
                      <a:srgbClr val="F7F5EF"/>
                    </a:solidFill>
                  </a:tcPr>
                </a:tc>
                <a:tc>
                  <a:txBody>
                    <a:bodyPr/>
                    <a:lstStyle/>
                    <a:p>
                      <a:r>
                        <a:rPr sz="1875">
                          <a:solidFill>
                            <a:srgbClr val="173E33"/>
                          </a:solidFill>
                          <a:latin typeface="Arial"/>
                          <a:ea typeface="Arial"/>
                          <a:cs typeface="Arial"/>
                        </a:rPr>
                        <a:t>AgroAI grain images; TILDA-format fabric images / boxes</a:t>
                      </a:r>
                    </a:p>
                  </a:txBody>
                  <a:tcPr marL="133350" marR="133350" marT="76200" marB="66675" anchor="ctr">
                    <a:solidFill>
                      <a:srgbClr val="F7F5EF"/>
                    </a:solidFill>
                  </a:tcPr>
                </a:tc>
              </a:tr>
              <a:tr h="617538">
                <a:tc>
                  <a:txBody>
                    <a:bodyPr/>
                    <a:lstStyle/>
                    <a:p>
                      <a:r>
                        <a:rPr sz="1875">
                          <a:solidFill>
                            <a:srgbClr val="173E33"/>
                          </a:solidFill>
                          <a:latin typeface="Arial"/>
                          <a:ea typeface="Arial"/>
                          <a:cs typeface="Arial"/>
                        </a:rPr>
                        <a:t>Independent rehearsal</a:t>
                      </a:r>
                    </a:p>
                  </a:txBody>
                  <a:tcPr marL="133350" marR="133350" marT="76200" marB="66675" anchor="ctr">
                    <a:solidFill>
                      <a:srgbClr val="F7F5EF"/>
                    </a:solidFill>
                  </a:tcPr>
                </a:tc>
                <a:tc>
                  <a:txBody>
                    <a:bodyPr/>
                    <a:lstStyle/>
                    <a:p>
                      <a:r>
                        <a:rPr sz="1875">
                          <a:solidFill>
                            <a:srgbClr val="173E33"/>
                          </a:solidFill>
                          <a:latin typeface="Arial"/>
                          <a:ea typeface="Arial"/>
                          <a:cs typeface="Arial"/>
                        </a:rPr>
                        <a:t>Wheat_Grading_Dataset; original DS-Cotton-Fabric images</a:t>
                      </a:r>
                    </a:p>
                  </a:txBody>
                  <a:tcPr marL="133350" marR="133350" marT="76200" marB="66675" anchor="ctr">
                    <a:solidFill>
                      <a:srgbClr val="F7F5EF"/>
                    </a:solidFill>
                  </a:tcPr>
                </a:tc>
              </a:tr>
              <a:tr h="617538">
                <a:tc>
                  <a:txBody>
                    <a:bodyPr/>
                    <a:lstStyle/>
                    <a:p>
                      <a:r>
                        <a:rPr sz="1875">
                          <a:solidFill>
                            <a:srgbClr val="173E33"/>
                          </a:solidFill>
                          <a:latin typeface="Arial"/>
                          <a:ea typeface="Arial"/>
                          <a:cs typeface="Arial"/>
                        </a:rPr>
                        <a:t>Measured ML reports</a:t>
                      </a:r>
                    </a:p>
                  </a:txBody>
                  <a:tcPr marL="133350" marR="133350" marT="76200" marB="66675" anchor="ctr">
                    <a:solidFill>
                      <a:srgbClr val="F7F5EF"/>
                    </a:solidFill>
                  </a:tcPr>
                </a:tc>
                <a:tc>
                  <a:txBody>
                    <a:bodyPr/>
                    <a:lstStyle/>
                    <a:p>
                      <a:r>
                        <a:rPr sz="1875">
                          <a:solidFill>
                            <a:srgbClr val="173E33"/>
                          </a:solidFill>
                          <a:latin typeface="Arial"/>
                          <a:ea typeface="Arial"/>
                          <a:cs typeface="Arial"/>
                        </a:rPr>
                        <a:t>ml-training/reports/*_grader_eval.json</a:t>
                      </a:r>
                    </a:p>
                  </a:txBody>
                  <a:tcPr marL="133350" marR="133350" marT="76200" marB="66675" anchor="ctr">
                    <a:solidFill>
                      <a:srgbClr val="F7F5EF"/>
                    </a:solidFill>
                  </a:tcPr>
                </a:tc>
              </a:tr>
              <a:tr h="617538">
                <a:tc>
                  <a:txBody>
                    <a:bodyPr/>
                    <a:lstStyle/>
                    <a:p>
                      <a:r>
                        <a:rPr sz="1875">
                          <a:solidFill>
                            <a:srgbClr val="173E33"/>
                          </a:solidFill>
                          <a:latin typeface="Arial"/>
                          <a:ea typeface="Arial"/>
                          <a:cs typeface="Arial"/>
                        </a:rPr>
                        <a:t>Application proof</a:t>
                      </a:r>
                    </a:p>
                  </a:txBody>
                  <a:tcPr marL="133350" marR="133350" marT="76200" marB="66675" anchor="ctr">
                    <a:solidFill>
                      <a:srgbClr val="F7F5EF"/>
                    </a:solidFill>
                  </a:tcPr>
                </a:tc>
                <a:tc>
                  <a:txBody>
                    <a:bodyPr/>
                    <a:lstStyle/>
                    <a:p>
                      <a:r>
                        <a:rPr sz="1875">
                          <a:solidFill>
                            <a:srgbClr val="173E33"/>
                          </a:solidFill>
                          <a:latin typeface="Arial"/>
                          <a:ea typeface="Arial"/>
                          <a:cs typeface="Arial"/>
                        </a:rPr>
                        <a:t>workflow-proof.json; photo-and-matching.json; readiness.json</a:t>
                      </a:r>
                    </a:p>
                  </a:txBody>
                  <a:tcPr marL="133350" marR="133350" marT="76200" marB="66675" anchor="ctr">
                    <a:solidFill>
                      <a:srgbClr val="F7F5EF"/>
                    </a:solidFill>
                  </a:tcPr>
                </a:tc>
              </a:tr>
              <a:tr h="617538">
                <a:tc>
                  <a:txBody>
                    <a:bodyPr/>
                    <a:lstStyle/>
                    <a:p>
                      <a:r>
                        <a:rPr sz="1875">
                          <a:solidFill>
                            <a:srgbClr val="173E33"/>
                          </a:solidFill>
                          <a:latin typeface="Arial"/>
                          <a:ea typeface="Arial"/>
                          <a:cs typeface="Arial"/>
                        </a:rPr>
                        <a:t>Companion demonstration guide</a:t>
                      </a:r>
                    </a:p>
                  </a:txBody>
                  <a:tcPr marL="133350" marR="133350" marT="76200" marB="66675" anchor="ctr">
                    <a:solidFill>
                      <a:srgbClr val="F7F5EF"/>
                    </a:solidFill>
                  </a:tcPr>
                </a:tc>
                <a:tc>
                  <a:txBody>
                    <a:bodyPr/>
                    <a:lstStyle/>
                    <a:p>
                      <a:r>
                        <a:rPr sz="1875">
                          <a:solidFill>
                            <a:srgbClr val="173E33"/>
                          </a:solidFill>
                          <a:latin typeface="Arial"/>
                          <a:ea typeface="Arial"/>
                          <a:cs typeface="Arial"/>
                        </a:rPr>
                        <a:t>WEBSITE_DEMO.md; FACULTY_DEMO.md; REAL_IMAGE_RESULTS.md</a:t>
                      </a:r>
                    </a:p>
                  </a:txBody>
                  <a:tcPr marL="133350" marR="133350" marT="76200" marB="66675" anchor="ctr">
                    <a:solidFill>
                      <a:srgbClr val="F7F5EF"/>
                    </a:solidFill>
                  </a:tcPr>
                </a:tc>
              </a:tr>
            </a:tbl>
          </a:graphicData>
        </a:graphic>
      </p:graphicFrame>
      <p:sp>
        <p:nvSpPr>
          <p:cNvPr id="4" name="Full public URLs and local evidence paths are in notes ">
            <a:extLst xmlns:a="http://schemas.openxmlformats.org/drawingml/2006/main">
              <a:ext uri="{FF2B5EF4-FFF2-40B4-BE49-F238E27FC236}">
                <a16:creationId xmlns:a16="http://schemas.microsoft.com/office/drawing/2014/main" id="{21B1045C-4562-4373-AC72-98EFCC3D2C19}"/>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Full public URLs and local evidence paths are in notes on the relevant slides.</a:t>
            </a:r>
          </a:p>
        </p:txBody>
      </p:sp>
    </p:spTree>
    <p:extLst>
      <p:ext uri="{BB962C8B-B14F-4D97-AF65-F5344CB8AC3E}">
        <p14:creationId xmlns:p14="http://schemas.microsoft.com/office/powerpoint/2010/main" val="1228324643"/>
      </p:ext>
    </p:extLst>
  </p:cSld>
</p:sld>
</file>

<file path=ppt/slides/slide3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2DF1507-FD07-4EF8-9EF7-4AAEF1129009}"/>
              </a:ext>
            </a:extLst>
          </p:cNvPr>
          <p:cNvCxnSpPr>
            <a:stCxn xmlns:a="http://schemas.openxmlformats.org/drawingml/2006/main" id="4" idx="2"/>
            <a:endCxn xmlns:a="http://schemas.openxmlformats.org/drawingml/2006/main" id="7" idx="0"/>
          </p:cNvCxnSpPr>
          <p:nvPr/>
        </p:nvCxnSpPr>
        <p:spPr>
          <a:xfrm xmlns:a="http://schemas.openxmlformats.org/drawingml/2006/main">
            <a:off x="6096000" y="2714625"/>
            <a:ext cx="0" cy="140970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2" name="">
            <a:extLst xmlns:a="http://schemas.openxmlformats.org/drawingml/2006/main">
              <a:ext uri="{FF2B5EF4-FFF2-40B4-BE49-F238E27FC236}">
                <a16:creationId xmlns:a16="http://schemas.microsoft.com/office/drawing/2014/main" id="{B3E2E423-0C86-471D-8249-9AB71F9BAE92}"/>
              </a:ext>
            </a:extLst>
          </p:cNvPr>
          <p:cNvCxnSpPr>
            <a:stCxn xmlns:a="http://schemas.openxmlformats.org/drawingml/2006/main" id="7" idx="3"/>
            <a:endCxn xmlns:a="http://schemas.openxmlformats.org/drawingml/2006/main" id="8" idx="1"/>
          </p:cNvCxnSpPr>
          <p:nvPr/>
        </p:nvCxnSpPr>
        <p:spPr>
          <a:xfrm xmlns:a="http://schemas.openxmlformats.org/drawingml/2006/main">
            <a:off x="7524750" y="4676775"/>
            <a:ext cx="1200150"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1" name="">
            <a:extLst xmlns:a="http://schemas.openxmlformats.org/drawingml/2006/main">
              <a:ext uri="{FF2B5EF4-FFF2-40B4-BE49-F238E27FC236}">
                <a16:creationId xmlns:a16="http://schemas.microsoft.com/office/drawing/2014/main" id="{0A1FC696-B9E6-46E8-B010-721A45548EA5}"/>
              </a:ext>
            </a:extLst>
          </p:cNvPr>
          <p:cNvCxnSpPr>
            <a:stCxn xmlns:a="http://schemas.openxmlformats.org/drawingml/2006/main" id="6" idx="3"/>
            <a:endCxn xmlns:a="http://schemas.openxmlformats.org/drawingml/2006/main" id="7" idx="1"/>
          </p:cNvCxnSpPr>
          <p:nvPr/>
        </p:nvCxnSpPr>
        <p:spPr>
          <a:xfrm xmlns:a="http://schemas.openxmlformats.org/drawingml/2006/main">
            <a:off x="3467100" y="4676775"/>
            <a:ext cx="1200150"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0" name="">
            <a:extLst xmlns:a="http://schemas.openxmlformats.org/drawingml/2006/main">
              <a:ext uri="{FF2B5EF4-FFF2-40B4-BE49-F238E27FC236}">
                <a16:creationId xmlns:a16="http://schemas.microsoft.com/office/drawing/2014/main" id="{72AD468E-477B-4553-ACB6-581C07C86FF2}"/>
              </a:ext>
            </a:extLst>
          </p:cNvPr>
          <p:cNvCxnSpPr>
            <a:stCxn xmlns:a="http://schemas.openxmlformats.org/drawingml/2006/main" id="4" idx="3"/>
            <a:endCxn xmlns:a="http://schemas.openxmlformats.org/drawingml/2006/main" id="5" idx="1"/>
          </p:cNvCxnSpPr>
          <p:nvPr/>
        </p:nvCxnSpPr>
        <p:spPr>
          <a:xfrm xmlns:a="http://schemas.openxmlformats.org/drawingml/2006/main">
            <a:off x="7524750" y="2162175"/>
            <a:ext cx="1200150"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9" name="">
            <a:extLst xmlns:a="http://schemas.openxmlformats.org/drawingml/2006/main">
              <a:ext uri="{FF2B5EF4-FFF2-40B4-BE49-F238E27FC236}">
                <a16:creationId xmlns:a16="http://schemas.microsoft.com/office/drawing/2014/main" id="{7D7C692B-731F-4DE0-B314-56C40CD85558}"/>
              </a:ext>
            </a:extLst>
          </p:cNvPr>
          <p:cNvCxnSpPr>
            <a:stCxn xmlns:a="http://schemas.openxmlformats.org/drawingml/2006/main" id="3" idx="3"/>
            <a:endCxn xmlns:a="http://schemas.openxmlformats.org/drawingml/2006/main" id="4" idx="1"/>
          </p:cNvCxnSpPr>
          <p:nvPr/>
        </p:nvCxnSpPr>
        <p:spPr>
          <a:xfrm xmlns:a="http://schemas.openxmlformats.org/drawingml/2006/main">
            <a:off x="3467100" y="2162175"/>
            <a:ext cx="1200150" cy="0"/>
          </a:xfrm>
          <a:prstGeom xmlns:a="http://schemas.openxmlformats.org/drawingml/2006/main" prst="straightConnector1">
            <a:avLst/>
          </a:prstGeom>
          <a:ln xmlns:a="http://schemas.openxmlformats.org/drawingml/2006/main" w="19050">
            <a:solidFill>
              <a:srgbClr val="173E33"/>
            </a:solidFill>
            <a:tailEnd type="triangle" w="med" len="med"/>
          </a:ln>
        </p:spPr>
      </p:cxnSp>
      <p:sp>
        <p:nvSpPr>
          <p:cNvPr id="15" name="Appendix — persistent data relationships">
            <a:extLst xmlns:a="http://schemas.openxmlformats.org/drawingml/2006/main">
              <a:ext uri="{FF2B5EF4-FFF2-40B4-BE49-F238E27FC236}">
                <a16:creationId xmlns:a16="http://schemas.microsoft.com/office/drawing/2014/main" id="{592FCE64-7B31-4589-9839-2C3F53B53443}"/>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Appendix — persistent data relationships</a:t>
            </a:r>
          </a:p>
        </p:txBody>
      </p:sp>
      <p:sp>
        <p:nvSpPr>
          <p:cNvPr id="2" name="39">
            <a:extLst xmlns:a="http://schemas.openxmlformats.org/drawingml/2006/main">
              <a:ext uri="{FF2B5EF4-FFF2-40B4-BE49-F238E27FC236}">
                <a16:creationId xmlns:a16="http://schemas.microsoft.com/office/drawing/2014/main" id="{B4270D24-4073-4CE3-9FE2-A0DAC7CAEEC7}"/>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39</a:t>
            </a:r>
          </a:p>
        </p:txBody>
      </p:sp>
      <p:sp>
        <p:nvSpPr>
          <p:cNvPr id="3" name="User">
            <a:extLst xmlns:a="http://schemas.openxmlformats.org/drawingml/2006/main">
              <a:ext uri="{FF2B5EF4-FFF2-40B4-BE49-F238E27FC236}">
                <a16:creationId xmlns:a16="http://schemas.microsoft.com/office/drawing/2014/main" id="{38B10B4D-5A47-4373-B6F7-7916E4E9E4AA}"/>
              </a:ext>
            </a:extLst>
          </p:cNvPr>
          <p:cNvSpPr>
            <a:spLocks xmlns:a="http://schemas.openxmlformats.org/drawingml/2006/main" noGrp="1"/>
          </p:cNvSpPr>
          <p:nvPr/>
        </p:nvSpPr>
        <p:spPr>
          <a:xfrm xmlns:a="http://schemas.openxmlformats.org/drawingml/2006/main">
            <a:off x="609600" y="1609725"/>
            <a:ext cx="285750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User</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Seller / buyer / staff</a:t>
            </a:r>
          </a:p>
        </p:txBody>
      </p:sp>
      <p:sp>
        <p:nvSpPr>
          <p:cNvPr id="4" name="Listing">
            <a:extLst xmlns:a="http://schemas.openxmlformats.org/drawingml/2006/main">
              <a:ext uri="{FF2B5EF4-FFF2-40B4-BE49-F238E27FC236}">
                <a16:creationId xmlns:a16="http://schemas.microsoft.com/office/drawing/2014/main" id="{23A8BC39-BF24-438A-A675-1D76E51271BA}"/>
              </a:ext>
            </a:extLst>
          </p:cNvPr>
          <p:cNvSpPr>
            <a:spLocks xmlns:a="http://schemas.openxmlformats.org/drawingml/2006/main" noGrp="1"/>
          </p:cNvSpPr>
          <p:nvPr/>
        </p:nvSpPr>
        <p:spPr>
          <a:xfrm xmlns:a="http://schemas.openxmlformats.org/drawingml/2006/main">
            <a:off x="4667250" y="1609725"/>
            <a:ext cx="285750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Listing</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Stock + price + status</a:t>
            </a:r>
          </a:p>
        </p:txBody>
      </p:sp>
      <p:sp>
        <p:nvSpPr>
          <p:cNvPr id="5" name="Photo + grading">
            <a:extLst xmlns:a="http://schemas.openxmlformats.org/drawingml/2006/main">
              <a:ext uri="{FF2B5EF4-FFF2-40B4-BE49-F238E27FC236}">
                <a16:creationId xmlns:a16="http://schemas.microsoft.com/office/drawing/2014/main" id="{3A6B6126-73C2-4D83-B4F9-24A24B76990E}"/>
              </a:ext>
            </a:extLst>
          </p:cNvPr>
          <p:cNvSpPr>
            <a:spLocks xmlns:a="http://schemas.openxmlformats.org/drawingml/2006/main" noGrp="1"/>
          </p:cNvSpPr>
          <p:nvPr/>
        </p:nvSpPr>
        <p:spPr>
          <a:xfrm xmlns:a="http://schemas.openxmlformats.org/drawingml/2006/main">
            <a:off x="8724900" y="1609725"/>
            <a:ext cx="285750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Photo + grading</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Evidence + review decision</a:t>
            </a:r>
          </a:p>
        </p:txBody>
      </p:sp>
      <p:sp>
        <p:nvSpPr>
          <p:cNvPr id="6" name="Requirement / bid">
            <a:extLst xmlns:a="http://schemas.openxmlformats.org/drawingml/2006/main">
              <a:ext uri="{FF2B5EF4-FFF2-40B4-BE49-F238E27FC236}">
                <a16:creationId xmlns:a16="http://schemas.microsoft.com/office/drawing/2014/main" id="{AB7F7F62-3986-40A2-A0C4-F6E0B64EE645}"/>
              </a:ext>
            </a:extLst>
          </p:cNvPr>
          <p:cNvSpPr>
            <a:spLocks xmlns:a="http://schemas.openxmlformats.org/drawingml/2006/main" noGrp="1"/>
          </p:cNvSpPr>
          <p:nvPr/>
        </p:nvSpPr>
        <p:spPr>
          <a:xfrm xmlns:a="http://schemas.openxmlformats.org/drawingml/2006/main">
            <a:off x="609600" y="4124325"/>
            <a:ext cx="285750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Requirement / bid</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Demand or negotiation</a:t>
            </a:r>
          </a:p>
        </p:txBody>
      </p:sp>
      <p:sp>
        <p:nvSpPr>
          <p:cNvPr id="7" name="Order + allocations">
            <a:extLst xmlns:a="http://schemas.openxmlformats.org/drawingml/2006/main">
              <a:ext uri="{FF2B5EF4-FFF2-40B4-BE49-F238E27FC236}">
                <a16:creationId xmlns:a16="http://schemas.microsoft.com/office/drawing/2014/main" id="{D1E1509E-C461-4080-804E-8EC55595BC52}"/>
              </a:ext>
            </a:extLst>
          </p:cNvPr>
          <p:cNvSpPr>
            <a:spLocks xmlns:a="http://schemas.openxmlformats.org/drawingml/2006/main" noGrp="1"/>
          </p:cNvSpPr>
          <p:nvPr/>
        </p:nvSpPr>
        <p:spPr>
          <a:xfrm xmlns:a="http://schemas.openxmlformats.org/drawingml/2006/main">
            <a:off x="4667250" y="4124325"/>
            <a:ext cx="285750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Order + allocations</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Quantity per source listing</a:t>
            </a:r>
          </a:p>
        </p:txBody>
      </p:sp>
      <p:sp>
        <p:nvSpPr>
          <p:cNvPr id="8" name="Dispute">
            <a:extLst xmlns:a="http://schemas.openxmlformats.org/drawingml/2006/main">
              <a:ext uri="{FF2B5EF4-FFF2-40B4-BE49-F238E27FC236}">
                <a16:creationId xmlns:a16="http://schemas.microsoft.com/office/drawing/2014/main" id="{0A157190-9C1D-4AF1-B76F-83866BAD8E84}"/>
              </a:ext>
            </a:extLst>
          </p:cNvPr>
          <p:cNvSpPr>
            <a:spLocks xmlns:a="http://schemas.openxmlformats.org/drawingml/2006/main" noGrp="1"/>
          </p:cNvSpPr>
          <p:nvPr/>
        </p:nvSpPr>
        <p:spPr>
          <a:xfrm xmlns:a="http://schemas.openxmlformats.org/drawingml/2006/main">
            <a:off x="8724900" y="4124325"/>
            <a:ext cx="285750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52400" tIns="152400" rIns="152400" bIns="152400" anchor="ctr"/>
          <a:lstStyle xmlns:a="http://schemas.openxmlformats.org/drawingml/2006/main">
            <a:defPPr algn="ctr">
              <a:defRPr sz="1800">
                <a:solidFill>
                  <a:srgbClr val="173E33"/>
                </a:solidFill>
                <a:latin typeface="Arial"/>
                <a:ea typeface="Arial"/>
                <a:cs typeface="Arial"/>
              </a:defRPr>
            </a:defPPr>
          </a:lstStyle>
          <a:p xmlns:a="http://schemas.openxmlformats.org/drawingml/2006/main">
            <a:pPr algn="ctr">
              <a:defRPr sz="1800">
                <a:solidFill>
                  <a:srgbClr val="173E33"/>
                </a:solidFill>
                <a:latin typeface="Arial"/>
                <a:ea typeface="Arial"/>
                <a:cs typeface="Arial"/>
              </a:defRPr>
            </a:pPr>
            <a:r>
              <a:rPr sz="1800" b="1">
                <a:solidFill>
                  <a:srgbClr val="173E33"/>
                </a:solidFill>
                <a:latin typeface="Arial"/>
                <a:ea typeface="Arial"/>
                <a:cs typeface="Arial"/>
              </a:rPr>
              <a:t>Dispute</a:t>
            </a:r>
          </a:p>
          <a:p xmlns:a="http://schemas.openxmlformats.org/drawingml/2006/main">
            <a:pPr algn="ctr">
              <a:defRPr sz="1800">
                <a:solidFill>
                  <a:srgbClr val="173E33"/>
                </a:solidFill>
                <a:latin typeface="Arial"/>
                <a:ea typeface="Arial"/>
                <a:cs typeface="Arial"/>
              </a:defRPr>
            </a:pPr>
            <a:r>
              <a:rPr sz="1800">
                <a:solidFill>
                  <a:srgbClr val="173E33"/>
                </a:solidFill>
                <a:latin typeface="Arial"/>
                <a:ea typeface="Arial"/>
                <a:cs typeface="Arial"/>
              </a:rPr>
              <a:t>Issue + staff resolution</a:t>
            </a:r>
          </a:p>
        </p:txBody>
      </p:sp>
      <p:sp>
        <p:nvSpPr>
          <p:cNvPr id="14" name="Conceptual relationships, not a complete ER schema. All">
            <a:extLst xmlns:a="http://schemas.openxmlformats.org/drawingml/2006/main">
              <a:ext uri="{FF2B5EF4-FFF2-40B4-BE49-F238E27FC236}">
                <a16:creationId xmlns:a16="http://schemas.microsoft.com/office/drawing/2014/main" id="{FE40FBE6-8AB1-4440-8770-CC3816C9FF62}"/>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Conceptual relationships, not a complete ER schema. All diagram elements remain editable.</a:t>
            </a:r>
          </a:p>
        </p:txBody>
      </p:sp>
    </p:spTree>
    <p:extLst>
      <p:ext uri="{BB962C8B-B14F-4D97-AF65-F5344CB8AC3E}">
        <p14:creationId xmlns:p14="http://schemas.microsoft.com/office/powerpoint/2010/main" val="702788339"/>
      </p:ext>
    </p:extLst>
  </p:cSld>
</p:sld>
</file>

<file path=ppt/slides/slide4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Appendix — show configuration affecting price">
            <a:extLst xmlns:a="http://schemas.openxmlformats.org/drawingml/2006/main">
              <a:ext uri="{FF2B5EF4-FFF2-40B4-BE49-F238E27FC236}">
                <a16:creationId xmlns:a16="http://schemas.microsoft.com/office/drawing/2014/main" id="{711BB4C2-F5D6-4A52-8FB6-51CCCB2051A3}"/>
              </a:ext>
            </a:extLst>
          </p:cNvPr>
          <p:cNvSpPr>
            <a:spLocks xmlns:a="http://schemas.openxmlformats.org/drawingml/2006/main" noGrp="1"/>
          </p:cNvSpPr>
          <p:nvPr/>
        </p:nvSpPr>
        <p:spPr>
          <a:xfrm xmlns:a="http://schemas.openxmlformats.org/drawingml/2006/main">
            <a:off x="609600" y="40957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300" b="1">
                <a:solidFill>
                  <a:srgbClr val="173E33"/>
                </a:solidFill>
                <a:latin typeface="Arial"/>
                <a:ea typeface="Arial"/>
                <a:cs typeface="Arial"/>
              </a:defRPr>
            </a:defPPr>
          </a:lstStyle>
          <a:p xmlns:a="http://schemas.openxmlformats.org/drawingml/2006/main">
            <a:pPr algn="l">
              <a:defRPr sz="3300" b="1">
                <a:solidFill>
                  <a:srgbClr val="173E33"/>
                </a:solidFill>
                <a:latin typeface="Arial"/>
                <a:ea typeface="Arial"/>
                <a:cs typeface="Arial"/>
              </a:defRPr>
            </a:pPr>
            <a:r>
              <a:rPr sz="3300" b="1">
                <a:solidFill>
                  <a:srgbClr val="173E33"/>
                </a:solidFill>
                <a:latin typeface="Arial"/>
                <a:ea typeface="Arial"/>
                <a:cs typeface="Arial"/>
              </a:rPr>
              <a:t>Appendix — show configuration affecting price</a:t>
            </a:r>
          </a:p>
        </p:txBody>
      </p:sp>
      <p:sp>
        <p:nvSpPr>
          <p:cNvPr id="2" name="40">
            <a:extLst xmlns:a="http://schemas.openxmlformats.org/drawingml/2006/main">
              <a:ext uri="{FF2B5EF4-FFF2-40B4-BE49-F238E27FC236}">
                <a16:creationId xmlns:a16="http://schemas.microsoft.com/office/drawing/2014/main" id="{09B7B66F-B05E-4746-97A3-CFF8143A908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40</a:t>
            </a:r>
          </a:p>
        </p:txBody>
      </p:sp>
      <p:graphicFrame>
        <p:nvGraphicFramePr>
          <p:cNvPr id="3" name="">
            <a:extLst xmlns:a="http://schemas.openxmlformats.org/drawingml/2006/main">
              <a:ext uri="{FF2B5EF4-FFF2-40B4-BE49-F238E27FC236}">
                <a16:creationId xmlns:a16="http://schemas.microsoft.com/office/drawing/2014/main" id="{7546555D-C2D6-4A87-A845-6E0B56821E2F}"/>
              </a:ext>
            </a:extLst>
          </p:cNvPr>
          <p:cNvGraphicFramePr/>
          <p:nvPr/>
        </p:nvGraphicFramePr>
        <p:xfrm>
          <a:off xmlns:a="http://schemas.openxmlformats.org/drawingml/2006/main" x="609600" y="1733550"/>
          <a:ext xmlns:a="http://schemas.openxmlformats.org/drawingml/2006/main" cx="10972800" cy="3400425"/>
        </p:xfrm>
        <a:graphic xmlns:a="http://schemas.openxmlformats.org/drawingml/2006/main">
          <a:graphicData uri="http://schemas.openxmlformats.org/drawingml/2006/table">
            <a:tbl>
              <a:tblPr/>
              <a:tblGrid>
                <a:gridCol w="2333625"/>
                <a:gridCol w="5381625"/>
                <a:gridCol w="3257550"/>
              </a:tblGrid>
              <a:tr h="850106">
                <a:tc>
                  <a:txBody>
                    <a:bodyPr/>
                    <a:lstStyle/>
                    <a:p>
                      <a:r>
                        <a:rPr sz="1950" b="1">
                          <a:solidFill>
                            <a:srgbClr val="F7F5EF"/>
                          </a:solidFill>
                          <a:latin typeface="Arial"/>
                          <a:ea typeface="Arial"/>
                          <a:cs typeface="Arial"/>
                        </a:rPr>
                        <a:t>Action</a:t>
                      </a:r>
                    </a:p>
                  </a:txBody>
                  <a:tcPr marL="133350" marR="133350" marT="76200" marB="66675" anchor="ctr">
                    <a:solidFill>
                      <a:srgbClr val="173E33"/>
                    </a:solidFill>
                  </a:tcPr>
                </a:tc>
                <a:tc>
                  <a:txBody>
                    <a:bodyPr/>
                    <a:lstStyle/>
                    <a:p>
                      <a:r>
                        <a:rPr sz="1950" b="1">
                          <a:solidFill>
                            <a:srgbClr val="F7F5EF"/>
                          </a:solidFill>
                          <a:latin typeface="Arial"/>
                          <a:ea typeface="Arial"/>
                          <a:cs typeface="Arial"/>
                        </a:rPr>
                        <a:t>Exact input / page</a:t>
                      </a:r>
                    </a:p>
                  </a:txBody>
                  <a:tcPr marL="133350" marR="133350" marT="76200" marB="66675" anchor="ctr">
                    <a:solidFill>
                      <a:srgbClr val="173E33"/>
                    </a:solidFill>
                  </a:tcPr>
                </a:tc>
                <a:tc>
                  <a:txBody>
                    <a:bodyPr/>
                    <a:lstStyle/>
                    <a:p>
                      <a:r>
                        <a:rPr sz="1950" b="1">
                          <a:solidFill>
                            <a:srgbClr val="F7F5EF"/>
                          </a:solidFill>
                          <a:latin typeface="Arial"/>
                          <a:ea typeface="Arial"/>
                          <a:cs typeface="Arial"/>
                        </a:rPr>
                        <a:t>Expected estimate</a:t>
                      </a:r>
                    </a:p>
                  </a:txBody>
                  <a:tcPr marL="133350" marR="133350" marT="76200" marB="66675" anchor="ctr">
                    <a:solidFill>
                      <a:srgbClr val="173E33"/>
                    </a:solidFill>
                  </a:tcPr>
                </a:tc>
              </a:tr>
              <a:tr h="850106">
                <a:tc>
                  <a:txBody>
                    <a:bodyPr/>
                    <a:lstStyle/>
                    <a:p>
                      <a:r>
                        <a:rPr sz="1950">
                          <a:solidFill>
                            <a:srgbClr val="173E33"/>
                          </a:solidFill>
                          <a:latin typeface="Arial"/>
                          <a:ea typeface="Arial"/>
                          <a:cs typeface="Arial"/>
                        </a:rPr>
                        <a:t>Baseline</a:t>
                      </a:r>
                    </a:p>
                  </a:txBody>
                  <a:tcPr marL="133350" marR="133350" marT="76200" marB="66675" anchor="ctr">
                    <a:solidFill>
                      <a:srgbClr val="F7F5EF"/>
                    </a:solidFill>
                  </a:tcPr>
                </a:tc>
                <a:tc>
                  <a:txBody>
                    <a:bodyPr/>
                    <a:lstStyle/>
                    <a:p>
                      <a:r>
                        <a:rPr sz="1950">
                          <a:solidFill>
                            <a:srgbClr val="173E33"/>
                          </a:solidFill>
                          <a:latin typeface="Arial"/>
                          <a:ea typeface="Arial"/>
                          <a:cs typeface="Arial"/>
                        </a:rPr>
                        <a:t>Buyer estimate: Faculty Demo Wheat</a:t>
                      </a:r>
                    </a:p>
                    <a:p>
                      <a:r>
                        <a:rPr sz="1950">
                          <a:solidFill>
                            <a:srgbClr val="173E33"/>
                          </a:solidFill>
                          <a:latin typeface="Arial"/>
                          <a:ea typeface="Arial"/>
                          <a:cs typeface="Arial"/>
                        </a:rPr>
                        <a:t>100 q · Grade B · base ₹2,500</a:t>
                      </a:r>
                    </a:p>
                  </a:txBody>
                  <a:tcPr marL="133350" marR="133350" marT="76200" marB="66675" anchor="ctr">
                    <a:solidFill>
                      <a:srgbClr val="F7F5EF"/>
                    </a:solidFill>
                  </a:tcPr>
                </a:tc>
                <a:tc>
                  <a:txBody>
                    <a:bodyPr/>
                    <a:lstStyle/>
                    <a:p>
                      <a:r>
                        <a:rPr sz="1950">
                          <a:solidFill>
                            <a:srgbClr val="173E33"/>
                          </a:solidFill>
                          <a:latin typeface="Arial"/>
                          <a:ea typeface="Arial"/>
                          <a:cs typeface="Arial"/>
                        </a:rPr>
                        <a:t>₹2,450 / q</a:t>
                      </a:r>
                    </a:p>
                    <a:p>
                      <a:r>
                        <a:rPr sz="1950">
                          <a:solidFill>
                            <a:srgbClr val="173E33"/>
                          </a:solidFill>
                          <a:latin typeface="Arial"/>
                          <a:ea typeface="Arial"/>
                          <a:cs typeface="Arial"/>
                        </a:rPr>
                        <a:t>₹2,45,000 total</a:t>
                      </a:r>
                    </a:p>
                  </a:txBody>
                  <a:tcPr marL="133350" marR="133350" marT="76200" marB="66675" anchor="ctr">
                    <a:solidFill>
                      <a:srgbClr val="F7F5EF"/>
                    </a:solidFill>
                  </a:tcPr>
                </a:tc>
              </a:tr>
              <a:tr h="850106">
                <a:tc>
                  <a:txBody>
                    <a:bodyPr/>
                    <a:lstStyle/>
                    <a:p>
                      <a:r>
                        <a:rPr sz="1950">
                          <a:solidFill>
                            <a:srgbClr val="173E33"/>
                          </a:solidFill>
                          <a:latin typeface="Arial"/>
                          <a:ea typeface="Arial"/>
                          <a:cs typeface="Arial"/>
                        </a:rPr>
                        <a:t>Change one rule</a:t>
                      </a:r>
                    </a:p>
                  </a:txBody>
                  <a:tcPr marL="133350" marR="133350" marT="76200" marB="66675" anchor="ctr">
                    <a:solidFill>
                      <a:srgbClr val="F7F5EF"/>
                    </a:solidFill>
                  </a:tcPr>
                </a:tc>
                <a:tc>
                  <a:txBody>
                    <a:bodyPr/>
                    <a:lstStyle/>
                    <a:p>
                      <a:r>
                        <a:rPr sz="1950">
                          <a:solidFill>
                            <a:srgbClr val="173E33"/>
                          </a:solidFill>
                          <a:latin typeface="Arial"/>
                          <a:ea typeface="Arial"/>
                          <a:cs typeface="Arial"/>
                        </a:rPr>
                        <a:t>Admin → Agriculture → Price rules</a:t>
                      </a:r>
                    </a:p>
                    <a:p>
                      <a:r>
                        <a:rPr sz="1950">
                          <a:solidFill>
                            <a:srgbClr val="173E33"/>
                          </a:solidFill>
                          <a:latin typeface="Arial"/>
                          <a:ea typeface="Arial"/>
                          <a:cs typeface="Arial"/>
                        </a:rPr>
                        <a:t>Grade B: 0% → 5% → Save changes</a:t>
                      </a:r>
                    </a:p>
                  </a:txBody>
                  <a:tcPr marL="133350" marR="133350" marT="76200" marB="66675" anchor="ctr">
                    <a:solidFill>
                      <a:srgbClr val="F7F5EF"/>
                    </a:solidFill>
                  </a:tcPr>
                </a:tc>
                <a:tc>
                  <a:txBody>
                    <a:bodyPr/>
                    <a:lstStyle/>
                    <a:p>
                      <a:r>
                        <a:rPr sz="1950">
                          <a:solidFill>
                            <a:srgbClr val="173E33"/>
                          </a:solidFill>
                          <a:latin typeface="Arial"/>
                          <a:ea typeface="Arial"/>
                          <a:cs typeface="Arial"/>
                        </a:rPr>
                        <a:t>₹2,572.50 / q</a:t>
                      </a:r>
                    </a:p>
                    <a:p>
                      <a:r>
                        <a:rPr sz="1950">
                          <a:solidFill>
                            <a:srgbClr val="173E33"/>
                          </a:solidFill>
                          <a:latin typeface="Arial"/>
                          <a:ea typeface="Arial"/>
                          <a:cs typeface="Arial"/>
                        </a:rPr>
                        <a:t>₹2,57,250 total</a:t>
                      </a:r>
                    </a:p>
                  </a:txBody>
                  <a:tcPr marL="133350" marR="133350" marT="76200" marB="66675" anchor="ctr">
                    <a:solidFill>
                      <a:srgbClr val="F7F5EF"/>
                    </a:solidFill>
                  </a:tcPr>
                </a:tc>
              </a:tr>
              <a:tr h="850106">
                <a:tc>
                  <a:txBody>
                    <a:bodyPr/>
                    <a:lstStyle/>
                    <a:p>
                      <a:r>
                        <a:rPr sz="1950">
                          <a:solidFill>
                            <a:srgbClr val="173E33"/>
                          </a:solidFill>
                          <a:latin typeface="Arial"/>
                          <a:ea typeface="Arial"/>
                          <a:cs typeface="Arial"/>
                        </a:rPr>
                        <a:t>Restore</a:t>
                      </a:r>
                    </a:p>
                  </a:txBody>
                  <a:tcPr marL="133350" marR="133350" marT="76200" marB="66675" anchor="ctr">
                    <a:solidFill>
                      <a:srgbClr val="F7F5EF"/>
                    </a:solidFill>
                  </a:tcPr>
                </a:tc>
                <a:tc>
                  <a:txBody>
                    <a:bodyPr/>
                    <a:lstStyle/>
                    <a:p>
                      <a:r>
                        <a:rPr sz="1950">
                          <a:solidFill>
                            <a:srgbClr val="173E33"/>
                          </a:solidFill>
                          <a:latin typeface="Arial"/>
                          <a:ea typeface="Arial"/>
                          <a:cs typeface="Arial"/>
                        </a:rPr>
                        <a:t>Grade B: 5% → 0% → Save changes</a:t>
                      </a:r>
                    </a:p>
                    <a:p>
                      <a:r>
                        <a:rPr sz="1950">
                          <a:solidFill>
                            <a:srgbClr val="173E33"/>
                          </a:solidFill>
                          <a:latin typeface="Arial"/>
                          <a:ea typeface="Arial"/>
                          <a:cs typeface="Arial"/>
                        </a:rPr>
                        <a:t>Recalculate the same buyer input</a:t>
                      </a:r>
                    </a:p>
                  </a:txBody>
                  <a:tcPr marL="133350" marR="133350" marT="76200" marB="66675" anchor="ctr">
                    <a:solidFill>
                      <a:srgbClr val="F7F5EF"/>
                    </a:solidFill>
                  </a:tcPr>
                </a:tc>
                <a:tc>
                  <a:txBody>
                    <a:bodyPr/>
                    <a:lstStyle/>
                    <a:p>
                      <a:r>
                        <a:rPr sz="1950">
                          <a:solidFill>
                            <a:srgbClr val="173E33"/>
                          </a:solidFill>
                          <a:latin typeface="Arial"/>
                          <a:ea typeface="Arial"/>
                          <a:cs typeface="Arial"/>
                        </a:rPr>
                        <a:t>₹2,450 / q</a:t>
                      </a:r>
                    </a:p>
                    <a:p>
                      <a:r>
                        <a:rPr sz="1950">
                          <a:solidFill>
                            <a:srgbClr val="173E33"/>
                          </a:solidFill>
                          <a:latin typeface="Arial"/>
                          <a:ea typeface="Arial"/>
                          <a:cs typeface="Arial"/>
                        </a:rPr>
                        <a:t>₹2,45,000 total</a:t>
                      </a:r>
                    </a:p>
                  </a:txBody>
                  <a:tcPr marL="133350" marR="133350" marT="76200" marB="66675" anchor="ctr">
                    <a:solidFill>
                      <a:srgbClr val="F7F5EF"/>
                    </a:solidFill>
                  </a:tcPr>
                </a:tc>
              </a:tr>
            </a:tbl>
          </a:graphicData>
        </a:graphic>
      </p:graphicFrame>
      <p:sp>
        <p:nvSpPr>
          <p:cNvPr id="4" name="Planned live demonstration with expected arithmetic. Re">
            <a:extLst xmlns:a="http://schemas.openxmlformats.org/drawingml/2006/main">
              <a:ext uri="{FF2B5EF4-FFF2-40B4-BE49-F238E27FC236}">
                <a16:creationId xmlns:a16="http://schemas.microsoft.com/office/drawing/2014/main" id="{E45158A2-6289-438D-98CD-A794F9F9234D}"/>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Planned live demonstration with expected arithmetic. Restore the baseline rule after showing the change.</a:t>
            </a:r>
          </a:p>
        </p:txBody>
      </p:sp>
    </p:spTree>
    <p:extLst>
      <p:ext uri="{BB962C8B-B14F-4D97-AF65-F5344CB8AC3E}">
        <p14:creationId xmlns:p14="http://schemas.microsoft.com/office/powerpoint/2010/main" val="12117952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2026-10-08T20:05:07.2630000Z</dcterms:created>
  <dcterms:modified xsi:type="dcterms:W3CDTF">2026-10-08T20:05:07.2630000Z</dcterms:modified>
</coreProperties>
</file>